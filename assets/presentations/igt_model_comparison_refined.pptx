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presentation proposes a model-comparison project using public Iowa Gambling Task data. The models are not presented as black-box predictors. They are cognitive hypotheses about how people learn from rewards and losses across repeated choices.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frames the project as a cognitive question. It is not primarily about maximizing money. It is about explaining the sequence of human choices. The two models are competing explanations of how humans transform experienced gains and losses into future choices.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important point for students is that IGT is not only about choosing the “best” deck. The task creates a conflict between immediate feedback and long-term value. This is why reinforcement-learning models are appropriate.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the dataset is manageable. It is not a large neuroimaging dataset. It is behavioral: choices, gains, losses, and study identifiers. This is why model fitting is feasible for a final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introduces maximum likelihood without math overload. The models produce a probability distribution over decks before each trial. The probability assigned to the human’s actual deck choice is the basic unit of model 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connect the project to course material. The class probably learned value updates and prediction errors. Here, Q-learning is the closest to the course. PVL-Delta retains the delta update but replaces raw reward with subjective utility.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Q-values are internal estimates. The model starts without knowing which decks are good. Trial outcomes push the chosen deck value up or down. Softmax translates values into probabilistic choices.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included because students may ask what the symbols mean and how the values are selected. Stress that parameters are inferred from behavior, not assigned by intuition.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PVL-Delta as a two-part extension: subjective utility first, then the same delta-learning principle. This is the key similarity and difference relative to TD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deliberately explanatory. Students may confuse alpha in PVL-Delta with alpha in Q-learning. Mention that the symbol alpha here controls utility curvature, while A is the updating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answer the likely question: “Why use a model we did not learn?” The answer is that PVL-Delta preserves the TD-like prediction-error update but adds a psychological outcome-transformation step motivated by decision-making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may ask why not just compare accuracy. The answer: the models output probabilities, not only hard choices, so likelihood is the natural fitting objective. AIC/BIC help avoid rewarding the more complex model unfairly.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replaces the previous “why this is a good class project” slide. It is more useful because it tells the audience what results and discussion points will come out of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for references. The dataset paper explicitly says the data are suitable for model-comparison efforts. The hBayesDM page gives the PVL-Delta parameters and data columns.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4EC"/>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C"/>
        </a:solidFill>
      </p:bgPr>
    </p:bg>
    <p:spTree>
      <p:nvGrpSpPr>
        <p:cNvPr id="1" name=""/>
        <p:cNvGrpSpPr/>
        <p:nvPr/>
      </p:nvGrpSpPr>
      <p:grpSpPr>
        <a:xfrm>
          <a:off x="0" y="0"/>
          <a:ext cx="0" cy="0"/>
          <a:chOff x="0" y="0"/>
          <a:chExt cx="0" cy="0"/>
        </a:xfrm>
      </p:grpSpPr>
      <p:sp>
        <p:nvSpPr>
          <p:cNvPr id="2" name="Text 0"/>
          <p:cNvSpPr/>
          <p:nvPr/>
        </p:nvSpPr>
        <p:spPr>
          <a:xfrm>
            <a:off x="658368" y="566928"/>
            <a:ext cx="4389120" cy="292608"/>
          </a:xfrm>
          <a:prstGeom prst="rect">
            <a:avLst/>
          </a:prstGeom>
          <a:noFill/>
          <a:ln/>
        </p:spPr>
        <p:txBody>
          <a:bodyPr wrap="square" lIns="0" tIns="0" rIns="0" bIns="0" rtlCol="0" anchor="t">
            <a:normAutofit/>
          </a:bodyPr>
          <a:lstStyle/>
          <a:p>
            <a:pPr algn="l" indent="0" marL="0">
              <a:buNone/>
            </a:pPr>
            <a:r>
              <a:rPr lang="en-US" sz="1400" b="1" dirty="0">
                <a:solidFill>
                  <a:srgbClr val="24476B"/>
                </a:solidFill>
                <a:latin typeface="Aptos" pitchFamily="34" charset="0"/>
                <a:ea typeface="Aptos" pitchFamily="34" charset="-122"/>
                <a:cs typeface="Aptos" pitchFamily="34" charset="-120"/>
              </a:rPr>
              <a:t>Final project proposal</a:t>
            </a:r>
            <a:endParaRPr lang="en-US" sz="1400" dirty="0"/>
          </a:p>
        </p:txBody>
      </p:sp>
      <p:sp>
        <p:nvSpPr>
          <p:cNvPr id="3" name="Text 1"/>
          <p:cNvSpPr/>
          <p:nvPr/>
        </p:nvSpPr>
        <p:spPr>
          <a:xfrm>
            <a:off x="658368" y="1143000"/>
            <a:ext cx="9052560" cy="585216"/>
          </a:xfrm>
          <a:prstGeom prst="rect">
            <a:avLst/>
          </a:prstGeom>
          <a:noFill/>
          <a:ln/>
        </p:spPr>
        <p:txBody>
          <a:bodyPr wrap="square" lIns="0" tIns="0" rIns="0" bIns="0" rtlCol="0" anchor="t">
            <a:normAutofit/>
          </a:bodyPr>
          <a:lstStyle/>
          <a:p>
            <a:pPr algn="l" indent="0" marL="0">
              <a:buNone/>
            </a:pPr>
            <a:r>
              <a:rPr lang="en-US" sz="3600" b="1" dirty="0">
                <a:solidFill>
                  <a:srgbClr val="17212B"/>
                </a:solidFill>
                <a:latin typeface="Aptos Display" pitchFamily="34" charset="0"/>
                <a:ea typeface="Aptos Display" pitchFamily="34" charset="-122"/>
                <a:cs typeface="Aptos Display" pitchFamily="34" charset="-120"/>
              </a:rPr>
              <a:t>Modeling Iowa Gambling Task behavior</a:t>
            </a:r>
            <a:endParaRPr lang="en-US" sz="3600" dirty="0"/>
          </a:p>
        </p:txBody>
      </p:sp>
      <p:sp>
        <p:nvSpPr>
          <p:cNvPr id="4" name="Text 2"/>
          <p:cNvSpPr/>
          <p:nvPr/>
        </p:nvSpPr>
        <p:spPr>
          <a:xfrm>
            <a:off x="685800" y="1865376"/>
            <a:ext cx="8595360" cy="457200"/>
          </a:xfrm>
          <a:prstGeom prst="rect">
            <a:avLst/>
          </a:prstGeom>
          <a:noFill/>
          <a:ln/>
        </p:spPr>
        <p:txBody>
          <a:bodyPr wrap="square" lIns="0" tIns="0" rIns="0" bIns="0" rtlCol="0" anchor="t">
            <a:normAutofit/>
          </a:bodyPr>
          <a:lstStyle/>
          <a:p>
            <a:pPr algn="l" indent="0" marL="0">
              <a:buNone/>
            </a:pPr>
            <a:r>
              <a:rPr lang="en-US" sz="1800" dirty="0">
                <a:solidFill>
                  <a:srgbClr val="59636E"/>
                </a:solidFill>
                <a:latin typeface="Aptos" pitchFamily="34" charset="0"/>
                <a:ea typeface="Aptos" pitchFamily="34" charset="-122"/>
                <a:cs typeface="Aptos" pitchFamily="34" charset="-120"/>
              </a:rPr>
              <a:t>Comparing a course-level Q-learning baseline with a psychologically enriched PVL-Delta model</a:t>
            </a:r>
            <a:endParaRPr lang="en-US" sz="1800" dirty="0"/>
          </a:p>
        </p:txBody>
      </p:sp>
      <p:sp>
        <p:nvSpPr>
          <p:cNvPr id="5" name="Text 3"/>
          <p:cNvSpPr/>
          <p:nvPr/>
        </p:nvSpPr>
        <p:spPr>
          <a:xfrm>
            <a:off x="713232" y="2743200"/>
            <a:ext cx="2057400" cy="292608"/>
          </a:xfrm>
          <a:prstGeom prst="roundRect">
            <a:avLst>
              <a:gd name="adj" fmla="val 18750"/>
            </a:avLst>
          </a:prstGeom>
          <a:solidFill>
            <a:srgbClr val="DCE8F4"/>
          </a:solidFill>
          <a:ln>
            <a:solidFill>
              <a:srgbClr val="DCE8F4"/>
            </a:solidFill>
          </a:ln>
        </p:spPr>
        <p:txBody>
          <a:bodyPr wrap="square" lIns="508" tIns="508" rIns="508" bIns="508" rtlCol="0" anchor="ctr">
            <a:normAutofit/>
          </a:bodyPr>
          <a:lstStyle/>
          <a:p>
            <a:pPr algn="ctr" indent="0" marL="0">
              <a:buNone/>
            </a:pPr>
            <a:r>
              <a:rPr lang="en-US" sz="1100" b="1" dirty="0">
                <a:solidFill>
                  <a:srgbClr val="24476B"/>
                </a:solidFill>
              </a:rPr>
              <a:t>public behavioral data</a:t>
            </a:r>
            <a:endParaRPr lang="en-US" sz="1100" dirty="0"/>
          </a:p>
        </p:txBody>
      </p:sp>
      <p:sp>
        <p:nvSpPr>
          <p:cNvPr id="6" name="Text 4"/>
          <p:cNvSpPr/>
          <p:nvPr/>
        </p:nvSpPr>
        <p:spPr>
          <a:xfrm>
            <a:off x="2971800" y="2743200"/>
            <a:ext cx="2011680" cy="292608"/>
          </a:xfrm>
          <a:prstGeom prst="roundRect">
            <a:avLst>
              <a:gd name="adj" fmla="val 18750"/>
            </a:avLst>
          </a:prstGeom>
          <a:solidFill>
            <a:srgbClr val="F6E7C8"/>
          </a:solidFill>
          <a:ln>
            <a:solidFill>
              <a:srgbClr val="F6E7C8"/>
            </a:solidFill>
          </a:ln>
        </p:spPr>
        <p:txBody>
          <a:bodyPr wrap="square" lIns="508" tIns="508" rIns="508" bIns="508" rtlCol="0" anchor="ctr">
            <a:normAutofit/>
          </a:bodyPr>
          <a:lstStyle/>
          <a:p>
            <a:pPr algn="ctr" indent="0" marL="0">
              <a:buNone/>
            </a:pPr>
            <a:r>
              <a:rPr lang="en-US" sz="1100" b="1" dirty="0">
                <a:solidFill>
                  <a:srgbClr val="A86B13"/>
                </a:solidFill>
              </a:rPr>
              <a:t>trial-by-trial choices</a:t>
            </a:r>
            <a:endParaRPr lang="en-US" sz="1100" dirty="0"/>
          </a:p>
        </p:txBody>
      </p:sp>
      <p:sp>
        <p:nvSpPr>
          <p:cNvPr id="7" name="Text 5"/>
          <p:cNvSpPr/>
          <p:nvPr/>
        </p:nvSpPr>
        <p:spPr>
          <a:xfrm>
            <a:off x="5230368" y="2743200"/>
            <a:ext cx="2057400" cy="292608"/>
          </a:xfrm>
          <a:prstGeom prst="roundRect">
            <a:avLst>
              <a:gd name="adj" fmla="val 18750"/>
            </a:avLst>
          </a:prstGeom>
          <a:solidFill>
            <a:srgbClr val="E0EFE8"/>
          </a:solidFill>
          <a:ln>
            <a:solidFill>
              <a:srgbClr val="E0EFE8"/>
            </a:solidFill>
          </a:ln>
        </p:spPr>
        <p:txBody>
          <a:bodyPr wrap="square" lIns="508" tIns="508" rIns="508" bIns="508" rtlCol="0" anchor="ctr">
            <a:normAutofit/>
          </a:bodyPr>
          <a:lstStyle/>
          <a:p>
            <a:pPr algn="ctr" indent="0" marL="0">
              <a:buNone/>
            </a:pPr>
            <a:r>
              <a:rPr lang="en-US" sz="1100" b="1" dirty="0">
                <a:solidFill>
                  <a:srgbClr val="2F6F5E"/>
                </a:solidFill>
              </a:rPr>
              <a:t>TD-like update rules</a:t>
            </a:r>
            <a:endParaRPr lang="en-US" sz="1100" dirty="0"/>
          </a:p>
        </p:txBody>
      </p:sp>
      <p:sp>
        <p:nvSpPr>
          <p:cNvPr id="8" name="Text 6"/>
          <p:cNvSpPr/>
          <p:nvPr/>
        </p:nvSpPr>
        <p:spPr>
          <a:xfrm>
            <a:off x="7498080" y="2743200"/>
            <a:ext cx="1920240" cy="292608"/>
          </a:xfrm>
          <a:prstGeom prst="roundRect">
            <a:avLst>
              <a:gd name="adj" fmla="val 18750"/>
            </a:avLst>
          </a:prstGeom>
          <a:solidFill>
            <a:srgbClr val="F2D9D2"/>
          </a:solidFill>
          <a:ln>
            <a:solidFill>
              <a:srgbClr val="F2D9D2"/>
            </a:solidFill>
          </a:ln>
        </p:spPr>
        <p:txBody>
          <a:bodyPr wrap="square" lIns="508" tIns="508" rIns="508" bIns="508" rtlCol="0" anchor="ctr">
            <a:normAutofit/>
          </a:bodyPr>
          <a:lstStyle/>
          <a:p>
            <a:pPr algn="ctr" indent="0" marL="0">
              <a:buNone/>
            </a:pPr>
            <a:r>
              <a:rPr lang="en-US" sz="1100" b="1" dirty="0">
                <a:solidFill>
                  <a:srgbClr val="9C3D2E"/>
                </a:solidFill>
              </a:rPr>
              <a:t>model comparison</a:t>
            </a:r>
            <a:endParaRPr lang="en-US" sz="1100" dirty="0"/>
          </a:p>
        </p:txBody>
      </p:sp>
      <p:sp>
        <p:nvSpPr>
          <p:cNvPr id="9" name="Shape 7"/>
          <p:cNvSpPr/>
          <p:nvPr/>
        </p:nvSpPr>
        <p:spPr>
          <a:xfrm>
            <a:off x="658368" y="3767328"/>
            <a:ext cx="10835640" cy="1417320"/>
          </a:xfrm>
          <a:prstGeom prst="roundRect">
            <a:avLst>
              <a:gd name="adj" fmla="val 5161"/>
            </a:avLst>
          </a:prstGeom>
          <a:solidFill>
            <a:srgbClr val="FFFFFF"/>
          </a:solidFill>
          <a:ln w="10160">
            <a:solidFill>
              <a:srgbClr val="C8BFAE"/>
            </a:solidFill>
            <a:prstDash val="solid"/>
          </a:ln>
        </p:spPr>
      </p:sp>
      <p:sp>
        <p:nvSpPr>
          <p:cNvPr id="10" name="Text 8"/>
          <p:cNvSpPr/>
          <p:nvPr/>
        </p:nvSpPr>
        <p:spPr>
          <a:xfrm>
            <a:off x="859536" y="3977640"/>
            <a:ext cx="1280160" cy="219456"/>
          </a:xfrm>
          <a:prstGeom prst="rect">
            <a:avLst/>
          </a:prstGeom>
          <a:noFill/>
          <a:ln/>
        </p:spPr>
        <p:txBody>
          <a:bodyPr wrap="square" lIns="0" tIns="0" rIns="0" bIns="0" rtlCol="0" anchor="t">
            <a:normAutofit/>
          </a:bodyPr>
          <a:lstStyle/>
          <a:p>
            <a:pPr algn="l" indent="0" marL="0">
              <a:buNone/>
            </a:pPr>
            <a:r>
              <a:rPr lang="en-US" sz="1200" b="1" dirty="0">
                <a:solidFill>
                  <a:srgbClr val="24476B"/>
                </a:solidFill>
                <a:latin typeface="Aptos" pitchFamily="34" charset="0"/>
                <a:ea typeface="Aptos" pitchFamily="34" charset="-122"/>
                <a:cs typeface="Aptos" pitchFamily="34" charset="-120"/>
              </a:rPr>
              <a:t>Core idea</a:t>
            </a:r>
            <a:endParaRPr lang="en-US" sz="1200" dirty="0"/>
          </a:p>
        </p:txBody>
      </p:sp>
      <p:sp>
        <p:nvSpPr>
          <p:cNvPr id="11" name="Text 9"/>
          <p:cNvSpPr/>
          <p:nvPr/>
        </p:nvSpPr>
        <p:spPr>
          <a:xfrm>
            <a:off x="859536" y="4315968"/>
            <a:ext cx="10012680" cy="566928"/>
          </a:xfrm>
          <a:prstGeom prst="rect">
            <a:avLst/>
          </a:prstGeom>
          <a:noFill/>
          <a:ln/>
        </p:spPr>
        <p:txBody>
          <a:bodyPr wrap="square" lIns="254" tIns="254" rIns="254" bIns="254" rtlCol="0" anchor="t">
            <a:normAutofit/>
          </a:bodyPr>
          <a:lstStyle/>
          <a:p>
            <a:pPr algn="l" indent="0" marL="0">
              <a:buNone/>
            </a:pPr>
            <a:r>
              <a:rPr lang="en-US" sz="1700" dirty="0">
                <a:solidFill>
                  <a:srgbClr val="17212B"/>
                </a:solidFill>
                <a:latin typeface="Aptos" pitchFamily="34" charset="0"/>
                <a:ea typeface="Aptos" pitchFamily="34" charset="-122"/>
                <a:cs typeface="Aptos" pitchFamily="34" charset="-120"/>
              </a:rPr>
              <a:t>Use computational models to ask whether healthy participants learn from objective net reward alone, or whether their choices require subjective weighting of gains and losses.</a:t>
            </a:r>
            <a:endParaRPr lang="en-US" sz="1700" dirty="0"/>
          </a:p>
        </p:txBody>
      </p:sp>
      <p:sp>
        <p:nvSpPr>
          <p:cNvPr id="12" name="Text 10"/>
          <p:cNvSpPr/>
          <p:nvPr/>
        </p:nvSpPr>
        <p:spPr>
          <a:xfrm>
            <a:off x="11045952" y="502920"/>
            <a:ext cx="603504" cy="274320"/>
          </a:xfrm>
          <a:prstGeom prst="rect">
            <a:avLst/>
          </a:prstGeom>
          <a:noFill/>
          <a:ln/>
        </p:spPr>
        <p:txBody>
          <a:bodyPr wrap="square" lIns="762" tIns="762" rIns="762" bIns="762" rtlCol="0" anchor="t">
            <a:normAutofit/>
          </a:bodyPr>
          <a:lstStyle/>
          <a:p>
            <a:pPr algn="r" indent="0" marL="0">
              <a:buNone/>
            </a:pPr>
            <a:r>
              <a:rPr lang="en-US" sz="1400" b="1" dirty="0">
                <a:solidFill>
                  <a:srgbClr val="24476B"/>
                </a:solidFill>
                <a:latin typeface="Aptos" pitchFamily="34" charset="0"/>
                <a:ea typeface="Aptos" pitchFamily="34" charset="-122"/>
                <a:cs typeface="Aptos" pitchFamily="34" charset="-120"/>
              </a:rPr>
              <a:t>01</a:t>
            </a:r>
            <a:endParaRPr lang="en-US" sz="1400" dirty="0"/>
          </a:p>
        </p:txBody>
      </p:sp>
      <p:sp>
        <p:nvSpPr>
          <p:cNvPr id="13" name="Text 11"/>
          <p:cNvSpPr/>
          <p:nvPr/>
        </p:nvSpPr>
        <p:spPr>
          <a:xfrm>
            <a:off x="530352" y="6565392"/>
            <a:ext cx="11109960" cy="164592"/>
          </a:xfrm>
          <a:prstGeom prst="rect">
            <a:avLst/>
          </a:prstGeom>
          <a:noFill/>
          <a:ln/>
        </p:spPr>
        <p:txBody>
          <a:bodyPr wrap="square" lIns="0" tIns="0" rIns="0" bIns="0" rtlCol="0" anchor="t">
            <a:normAutofit/>
          </a:bodyPr>
          <a:lstStyle/>
          <a:p>
            <a:pPr algn="l" indent="0" marL="0">
              <a:buNone/>
            </a:pPr>
            <a:r>
              <a:rPr lang="en-US" sz="650" dirty="0">
                <a:solidFill>
                  <a:srgbClr val="59636E"/>
                </a:solidFill>
                <a:latin typeface="Aptos" pitchFamily="34" charset="0"/>
                <a:ea typeface="Aptos" pitchFamily="34" charset="-122"/>
                <a:cs typeface="Aptos" pitchFamily="34" charset="-120"/>
              </a:rPr>
              <a:t>Dataset and method details in following slides.</a:t>
            </a:r>
            <a:endParaRPr lang="en-US" sz="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C"/>
        </a:solidFill>
      </p:bgPr>
    </p:bg>
    <p:spTree>
      <p:nvGrpSpPr>
        <p:cNvPr id="1" name=""/>
        <p:cNvGrpSpPr/>
        <p:nvPr/>
      </p:nvGrpSpPr>
      <p:grpSpPr>
        <a:xfrm>
          <a:off x="0" y="0"/>
          <a:ext cx="0" cy="0"/>
          <a:chOff x="0" y="0"/>
          <a:chExt cx="0" cy="0"/>
        </a:xfrm>
      </p:grpSpPr>
      <p:sp>
        <p:nvSpPr>
          <p:cNvPr id="2" name="Text 0"/>
          <p:cNvSpPr/>
          <p:nvPr/>
        </p:nvSpPr>
        <p:spPr>
          <a:xfrm>
            <a:off x="502920" y="256032"/>
            <a:ext cx="9692640" cy="438912"/>
          </a:xfrm>
          <a:prstGeom prst="rect">
            <a:avLst/>
          </a:prstGeom>
          <a:noFill/>
          <a:ln/>
        </p:spPr>
        <p:txBody>
          <a:bodyPr wrap="square" lIns="0" tIns="0" rIns="0" bIns="0" rtlCol="0" anchor="ctr">
            <a:normAutofit/>
          </a:bodyPr>
          <a:lstStyle/>
          <a:p>
            <a:pPr indent="0" marL="0">
              <a:buNone/>
            </a:pPr>
            <a:r>
              <a:rPr lang="en-US" sz="2600" b="1" dirty="0">
                <a:solidFill>
                  <a:srgbClr val="17212B"/>
                </a:solidFill>
                <a:latin typeface="Aptos Display" pitchFamily="34" charset="0"/>
                <a:ea typeface="Aptos Display" pitchFamily="34" charset="-122"/>
                <a:cs typeface="Aptos Display" pitchFamily="34" charset="-120"/>
              </a:rPr>
              <a:t>The cognitive question</a:t>
            </a:r>
            <a:endParaRPr lang="en-US" sz="2600" dirty="0"/>
          </a:p>
        </p:txBody>
      </p:sp>
      <p:sp>
        <p:nvSpPr>
          <p:cNvPr id="3" name="Text 1"/>
          <p:cNvSpPr/>
          <p:nvPr/>
        </p:nvSpPr>
        <p:spPr>
          <a:xfrm>
            <a:off x="530352" y="758952"/>
            <a:ext cx="9875520" cy="256032"/>
          </a:xfrm>
          <a:prstGeom prst="rect">
            <a:avLst/>
          </a:prstGeom>
          <a:noFill/>
          <a:ln/>
        </p:spPr>
        <p:txBody>
          <a:bodyPr wrap="square" lIns="0" tIns="0" rIns="0" bIns="0" rtlCol="0" anchor="ctr">
            <a:normAutofit/>
          </a:bodyPr>
          <a:lstStyle/>
          <a:p>
            <a:pPr indent="0" marL="0">
              <a:buNone/>
            </a:pPr>
            <a:r>
              <a:rPr lang="en-US" sz="1150" dirty="0">
                <a:solidFill>
                  <a:srgbClr val="59636E"/>
                </a:solidFill>
                <a:latin typeface="Aptos" pitchFamily="34" charset="0"/>
                <a:ea typeface="Aptos" pitchFamily="34" charset="-122"/>
                <a:cs typeface="Aptos" pitchFamily="34" charset="-120"/>
              </a:rPr>
              <a:t>Decision-making under uncertainty: what kind of learning process generates the choices?</a:t>
            </a:r>
            <a:endParaRPr lang="en-US" sz="1150" dirty="0"/>
          </a:p>
        </p:txBody>
      </p:sp>
      <p:sp>
        <p:nvSpPr>
          <p:cNvPr id="4" name="Text 2"/>
          <p:cNvSpPr/>
          <p:nvPr/>
        </p:nvSpPr>
        <p:spPr>
          <a:xfrm>
            <a:off x="11109960" y="256032"/>
            <a:ext cx="566928" cy="292608"/>
          </a:xfrm>
          <a:prstGeom prst="rect">
            <a:avLst/>
          </a:prstGeom>
          <a:noFill/>
          <a:ln/>
        </p:spPr>
        <p:txBody>
          <a:bodyPr wrap="square" lIns="0" tIns="0" rIns="0" bIns="0" rtlCol="0" anchor="ctr"/>
          <a:lstStyle/>
          <a:p>
            <a:pPr algn="r" indent="0" marL="0">
              <a:buNone/>
            </a:pPr>
            <a:r>
              <a:rPr lang="en-US" sz="1300" b="1" dirty="0">
                <a:solidFill>
                  <a:srgbClr val="24476B"/>
                </a:solidFill>
              </a:rPr>
              <a:t>02</a:t>
            </a:r>
            <a:endParaRPr lang="en-US" sz="1300" dirty="0"/>
          </a:p>
        </p:txBody>
      </p:sp>
      <p:sp>
        <p:nvSpPr>
          <p:cNvPr id="5" name="Shape 3"/>
          <p:cNvSpPr/>
          <p:nvPr/>
        </p:nvSpPr>
        <p:spPr>
          <a:xfrm>
            <a:off x="502920" y="987552"/>
            <a:ext cx="11155680" cy="0"/>
          </a:xfrm>
          <a:prstGeom prst="line">
            <a:avLst/>
          </a:prstGeom>
          <a:noFill/>
          <a:ln w="7620">
            <a:solidFill>
              <a:srgbClr val="C8BFAE"/>
            </a:solidFill>
            <a:prstDash val="solid"/>
          </a:ln>
        </p:spPr>
      </p:sp>
      <p:sp>
        <p:nvSpPr>
          <p:cNvPr id="6" name="Shape 4"/>
          <p:cNvSpPr/>
          <p:nvPr/>
        </p:nvSpPr>
        <p:spPr>
          <a:xfrm>
            <a:off x="713232" y="1298448"/>
            <a:ext cx="5303520" cy="4526280"/>
          </a:xfrm>
          <a:prstGeom prst="roundRect">
            <a:avLst>
              <a:gd name="adj" fmla="val 1616"/>
            </a:avLst>
          </a:prstGeom>
          <a:solidFill>
            <a:srgbClr val="FFFFFF"/>
          </a:solidFill>
          <a:ln w="10160">
            <a:solidFill>
              <a:srgbClr val="C8BFAE"/>
            </a:solidFill>
            <a:prstDash val="solid"/>
          </a:ln>
        </p:spPr>
      </p:sp>
      <p:sp>
        <p:nvSpPr>
          <p:cNvPr id="7" name="Text 5"/>
          <p:cNvSpPr/>
          <p:nvPr/>
        </p:nvSpPr>
        <p:spPr>
          <a:xfrm>
            <a:off x="960120" y="1572768"/>
            <a:ext cx="2468880" cy="256032"/>
          </a:xfrm>
          <a:prstGeom prst="rect">
            <a:avLst/>
          </a:prstGeom>
          <a:noFill/>
          <a:ln/>
        </p:spPr>
        <p:txBody>
          <a:bodyPr wrap="square" lIns="0" tIns="0" rIns="0" bIns="0" rtlCol="0" anchor="t">
            <a:normAutofit/>
          </a:bodyPr>
          <a:lstStyle/>
          <a:p>
            <a:pPr algn="l" indent="0" marL="0">
              <a:buNone/>
            </a:pPr>
            <a:r>
              <a:rPr lang="en-US" sz="1300" b="1" dirty="0">
                <a:solidFill>
                  <a:srgbClr val="24476B"/>
                </a:solidFill>
                <a:latin typeface="Aptos" pitchFamily="34" charset="0"/>
                <a:ea typeface="Aptos" pitchFamily="34" charset="-122"/>
                <a:cs typeface="Aptos" pitchFamily="34" charset="-120"/>
              </a:rPr>
              <a:t>Behavior to explain</a:t>
            </a:r>
            <a:endParaRPr lang="en-US" sz="1300" dirty="0"/>
          </a:p>
        </p:txBody>
      </p:sp>
      <p:sp>
        <p:nvSpPr>
          <p:cNvPr id="8" name="Text 6"/>
          <p:cNvSpPr/>
          <p:nvPr/>
        </p:nvSpPr>
        <p:spPr>
          <a:xfrm>
            <a:off x="960120" y="1938528"/>
            <a:ext cx="4526280" cy="1051560"/>
          </a:xfrm>
          <a:prstGeom prst="rect">
            <a:avLst/>
          </a:prstGeom>
          <a:noFill/>
          <a:ln/>
        </p:spPr>
        <p:txBody>
          <a:bodyPr wrap="square" lIns="762" tIns="762" rIns="762" bIns="762" rtlCol="0" anchor="t">
            <a:normAutofit/>
          </a:bodyPr>
          <a:lstStyle/>
          <a:p>
            <a:pPr algn="l" indent="0" marL="0">
              <a:buNone/>
            </a:pPr>
            <a:r>
              <a:rPr lang="en-US" sz="1400" dirty="0">
                <a:solidFill>
                  <a:srgbClr val="17212B"/>
                </a:solidFill>
                <a:latin typeface="Aptos" pitchFamily="34" charset="0"/>
                <a:ea typeface="Aptos" pitchFamily="34" charset="-122"/>
                <a:cs typeface="Aptos" pitchFamily="34" charset="-120"/>
              </a:rPr>
              <a:t>Participants repeatedly choose from four decks. They receive gains and losses, but they do not know the payoff structure in advance. Over time, they can learn which decks are better.</a:t>
            </a:r>
            <a:endParaRPr lang="en-US" sz="1400" dirty="0"/>
          </a:p>
        </p:txBody>
      </p:sp>
      <p:sp>
        <p:nvSpPr>
          <p:cNvPr id="9" name="Text 7"/>
          <p:cNvSpPr/>
          <p:nvPr/>
        </p:nvSpPr>
        <p:spPr>
          <a:xfrm>
            <a:off x="960120" y="3273552"/>
            <a:ext cx="4526280" cy="868680"/>
          </a:xfrm>
          <a:prstGeom prst="rect">
            <a:avLst/>
          </a:prstGeom>
          <a:noFill/>
          <a:ln/>
        </p:spPr>
        <p:txBody>
          <a:bodyPr wrap="square" lIns="762" tIns="762" rIns="762" bIns="762" rtlCol="0" anchor="t">
            <a:normAutofit/>
          </a:bodyPr>
          <a:lstStyle/>
          <a:p>
            <a:pPr algn="l" indent="0" marL="0">
              <a:buNone/>
            </a:pPr>
            <a:r>
              <a:rPr lang="en-US" sz="1400" dirty="0">
                <a:solidFill>
                  <a:srgbClr val="17212B"/>
                </a:solidFill>
                <a:latin typeface="Aptos" pitchFamily="34" charset="0"/>
                <a:ea typeface="Aptos" pitchFamily="34" charset="-122"/>
                <a:cs typeface="Aptos" pitchFamily="34" charset="-120"/>
              </a:rPr>
              <a:t>The observed data are not just final scores. They are sequences of choices and outcomes, so they can be modeled trial by trial.</a:t>
            </a:r>
            <a:endParaRPr lang="en-US" sz="1400" dirty="0"/>
          </a:p>
        </p:txBody>
      </p:sp>
      <p:sp>
        <p:nvSpPr>
          <p:cNvPr id="10" name="Shape 8"/>
          <p:cNvSpPr/>
          <p:nvPr/>
        </p:nvSpPr>
        <p:spPr>
          <a:xfrm>
            <a:off x="6263640" y="1298448"/>
            <a:ext cx="5230368" cy="4526280"/>
          </a:xfrm>
          <a:prstGeom prst="roundRect">
            <a:avLst>
              <a:gd name="adj" fmla="val 1616"/>
            </a:avLst>
          </a:prstGeom>
          <a:solidFill>
            <a:srgbClr val="FFFFFF"/>
          </a:solidFill>
          <a:ln w="10160">
            <a:solidFill>
              <a:srgbClr val="C8BFAE"/>
            </a:solidFill>
            <a:prstDash val="solid"/>
          </a:ln>
        </p:spPr>
      </p:sp>
      <p:sp>
        <p:nvSpPr>
          <p:cNvPr id="11" name="Text 9"/>
          <p:cNvSpPr/>
          <p:nvPr/>
        </p:nvSpPr>
        <p:spPr>
          <a:xfrm>
            <a:off x="6510528" y="1572768"/>
            <a:ext cx="3017520" cy="256032"/>
          </a:xfrm>
          <a:prstGeom prst="rect">
            <a:avLst/>
          </a:prstGeom>
          <a:noFill/>
          <a:ln/>
        </p:spPr>
        <p:txBody>
          <a:bodyPr wrap="square" lIns="0" tIns="0" rIns="0" bIns="0" rtlCol="0" anchor="t">
            <a:normAutofit/>
          </a:bodyPr>
          <a:lstStyle/>
          <a:p>
            <a:pPr algn="l" indent="0" marL="0">
              <a:buNone/>
            </a:pPr>
            <a:r>
              <a:rPr lang="en-US" sz="1300" b="1" dirty="0">
                <a:solidFill>
                  <a:srgbClr val="9C3D2E"/>
                </a:solidFill>
                <a:latin typeface="Aptos" pitchFamily="34" charset="0"/>
                <a:ea typeface="Aptos" pitchFamily="34" charset="-122"/>
                <a:cs typeface="Aptos" pitchFamily="34" charset="-120"/>
              </a:rPr>
              <a:t>Competing explanation</a:t>
            </a:r>
            <a:endParaRPr lang="en-US" sz="1300" dirty="0"/>
          </a:p>
        </p:txBody>
      </p:sp>
      <p:sp>
        <p:nvSpPr>
          <p:cNvPr id="12" name="Text 10"/>
          <p:cNvSpPr/>
          <p:nvPr/>
        </p:nvSpPr>
        <p:spPr>
          <a:xfrm>
            <a:off x="6510528" y="1938528"/>
            <a:ext cx="4480560" cy="914400"/>
          </a:xfrm>
          <a:prstGeom prst="rect">
            <a:avLst/>
          </a:prstGeom>
          <a:noFill/>
          <a:ln/>
        </p:spPr>
        <p:txBody>
          <a:bodyPr wrap="square" lIns="762" tIns="762" rIns="762" bIns="762" rtlCol="0" anchor="t">
            <a:normAutofit/>
          </a:bodyPr>
          <a:lstStyle/>
          <a:p>
            <a:pPr algn="l" indent="0" marL="0">
              <a:buNone/>
            </a:pPr>
            <a:r>
              <a:rPr lang="en-US" sz="1400" dirty="0">
                <a:solidFill>
                  <a:srgbClr val="17212B"/>
                </a:solidFill>
                <a:latin typeface="Aptos" pitchFamily="34" charset="0"/>
                <a:ea typeface="Aptos" pitchFamily="34" charset="-122"/>
                <a:cs typeface="Aptos" pitchFamily="34" charset="-120"/>
              </a:rPr>
              <a:t>Model A: choices reflect objective reinforcement learning. A deck becomes better or worse according to net monetary outcome.</a:t>
            </a:r>
            <a:endParaRPr lang="en-US" sz="1400" dirty="0"/>
          </a:p>
        </p:txBody>
      </p:sp>
      <p:sp>
        <p:nvSpPr>
          <p:cNvPr id="13" name="Text 11"/>
          <p:cNvSpPr/>
          <p:nvPr/>
        </p:nvSpPr>
        <p:spPr>
          <a:xfrm>
            <a:off x="6510528" y="3154680"/>
            <a:ext cx="4480560" cy="960120"/>
          </a:xfrm>
          <a:prstGeom prst="rect">
            <a:avLst/>
          </a:prstGeom>
          <a:noFill/>
          <a:ln/>
        </p:spPr>
        <p:txBody>
          <a:bodyPr wrap="square" lIns="762" tIns="762" rIns="762" bIns="762" rtlCol="0" anchor="t">
            <a:normAutofit/>
          </a:bodyPr>
          <a:lstStyle/>
          <a:p>
            <a:pPr algn="l" indent="0" marL="0">
              <a:buNone/>
            </a:pPr>
            <a:r>
              <a:rPr lang="en-US" sz="1400" dirty="0">
                <a:solidFill>
                  <a:srgbClr val="17212B"/>
                </a:solidFill>
                <a:latin typeface="Aptos" pitchFamily="34" charset="0"/>
                <a:ea typeface="Aptos" pitchFamily="34" charset="-122"/>
                <a:cs typeface="Aptos" pitchFamily="34" charset="-120"/>
              </a:rPr>
              <a:t>Model B: choices reflect subjective valuation. Losses and gains may not have equal psychological impact, even if their objective amounts are equal.</a:t>
            </a:r>
            <a:endParaRPr lang="en-US" sz="1400" dirty="0"/>
          </a:p>
        </p:txBody>
      </p:sp>
      <p:sp>
        <p:nvSpPr>
          <p:cNvPr id="14" name="Text 12"/>
          <p:cNvSpPr/>
          <p:nvPr/>
        </p:nvSpPr>
        <p:spPr>
          <a:xfrm>
            <a:off x="6547104" y="4709160"/>
            <a:ext cx="3931920" cy="292608"/>
          </a:xfrm>
          <a:prstGeom prst="roundRect">
            <a:avLst>
              <a:gd name="adj" fmla="val 18750"/>
            </a:avLst>
          </a:prstGeom>
          <a:solidFill>
            <a:srgbClr val="F2D9D2"/>
          </a:solidFill>
          <a:ln>
            <a:solidFill>
              <a:srgbClr val="F2D9D2"/>
            </a:solidFill>
          </a:ln>
        </p:spPr>
        <p:txBody>
          <a:bodyPr wrap="square" lIns="508" tIns="508" rIns="508" bIns="508" rtlCol="0" anchor="ctr">
            <a:normAutofit/>
          </a:bodyPr>
          <a:lstStyle/>
          <a:p>
            <a:pPr algn="ctr" indent="0" marL="0">
              <a:buNone/>
            </a:pPr>
            <a:r>
              <a:rPr lang="en-US" sz="1100" b="1" dirty="0">
                <a:solidFill>
                  <a:srgbClr val="9C3D2E"/>
                </a:solidFill>
              </a:rPr>
              <a:t>Question: is raw TD-like learning enough?</a:t>
            </a:r>
            <a:endParaRPr lang="en-US" sz="1100" dirty="0"/>
          </a:p>
        </p:txBody>
      </p:sp>
      <p:sp>
        <p:nvSpPr>
          <p:cNvPr id="15" name="Text 13"/>
          <p:cNvSpPr/>
          <p:nvPr/>
        </p:nvSpPr>
        <p:spPr>
          <a:xfrm>
            <a:off x="530352" y="6565392"/>
            <a:ext cx="11109960" cy="164592"/>
          </a:xfrm>
          <a:prstGeom prst="rect">
            <a:avLst/>
          </a:prstGeom>
          <a:noFill/>
          <a:ln/>
        </p:spPr>
        <p:txBody>
          <a:bodyPr wrap="square" lIns="0" tIns="0" rIns="0" bIns="0" rtlCol="0" anchor="t">
            <a:normAutofit/>
          </a:bodyPr>
          <a:lstStyle/>
          <a:p>
            <a:pPr algn="l" indent="0" marL="0">
              <a:buNone/>
            </a:pPr>
            <a:r>
              <a:rPr lang="en-US" sz="650" dirty="0">
                <a:solidFill>
                  <a:srgbClr val="59636E"/>
                </a:solidFill>
                <a:latin typeface="Aptos" pitchFamily="34" charset="0"/>
                <a:ea typeface="Aptos" pitchFamily="34" charset="-122"/>
                <a:cs typeface="Aptos" pitchFamily="34" charset="-120"/>
              </a:rPr>
              <a:t>IGT = Iowa Gambling Task. A/B are typically disadvantageous long-term; C/D are typically advantageous long-term.</a:t>
            </a:r>
            <a:endParaRPr lang="en-US" sz="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C"/>
        </a:solidFill>
      </p:bgPr>
    </p:bg>
    <p:spTree>
      <p:nvGrpSpPr>
        <p:cNvPr id="1" name=""/>
        <p:cNvGrpSpPr/>
        <p:nvPr/>
      </p:nvGrpSpPr>
      <p:grpSpPr>
        <a:xfrm>
          <a:off x="0" y="0"/>
          <a:ext cx="0" cy="0"/>
          <a:chOff x="0" y="0"/>
          <a:chExt cx="0" cy="0"/>
        </a:xfrm>
      </p:grpSpPr>
      <p:sp>
        <p:nvSpPr>
          <p:cNvPr id="2" name="Text 0"/>
          <p:cNvSpPr/>
          <p:nvPr/>
        </p:nvSpPr>
        <p:spPr>
          <a:xfrm>
            <a:off x="502920" y="256032"/>
            <a:ext cx="9692640" cy="438912"/>
          </a:xfrm>
          <a:prstGeom prst="rect">
            <a:avLst/>
          </a:prstGeom>
          <a:noFill/>
          <a:ln/>
        </p:spPr>
        <p:txBody>
          <a:bodyPr wrap="square" lIns="0" tIns="0" rIns="0" bIns="0" rtlCol="0" anchor="ctr">
            <a:normAutofit/>
          </a:bodyPr>
          <a:lstStyle/>
          <a:p>
            <a:pPr indent="0" marL="0">
              <a:buNone/>
            </a:pPr>
            <a:r>
              <a:rPr lang="en-US" sz="2600" b="1" dirty="0">
                <a:solidFill>
                  <a:srgbClr val="17212B"/>
                </a:solidFill>
                <a:latin typeface="Aptos Display" pitchFamily="34" charset="0"/>
                <a:ea typeface="Aptos Display" pitchFamily="34" charset="-122"/>
                <a:cs typeface="Aptos Display" pitchFamily="34" charset="-120"/>
              </a:rPr>
              <a:t>The task: Iowa Gambling Task</a:t>
            </a:r>
            <a:endParaRPr lang="en-US" sz="2600" dirty="0"/>
          </a:p>
        </p:txBody>
      </p:sp>
      <p:sp>
        <p:nvSpPr>
          <p:cNvPr id="3" name="Text 1"/>
          <p:cNvSpPr/>
          <p:nvPr/>
        </p:nvSpPr>
        <p:spPr>
          <a:xfrm>
            <a:off x="530352" y="758952"/>
            <a:ext cx="9875520" cy="256032"/>
          </a:xfrm>
          <a:prstGeom prst="rect">
            <a:avLst/>
          </a:prstGeom>
          <a:noFill/>
          <a:ln/>
        </p:spPr>
        <p:txBody>
          <a:bodyPr wrap="square" lIns="0" tIns="0" rIns="0" bIns="0" rtlCol="0" anchor="ctr">
            <a:normAutofit/>
          </a:bodyPr>
          <a:lstStyle/>
          <a:p>
            <a:pPr indent="0" marL="0">
              <a:buNone/>
            </a:pPr>
            <a:r>
              <a:rPr lang="en-US" sz="1150" dirty="0">
                <a:solidFill>
                  <a:srgbClr val="59636E"/>
                </a:solidFill>
                <a:latin typeface="Aptos" pitchFamily="34" charset="0"/>
                <a:ea typeface="Aptos" pitchFamily="34" charset="-122"/>
                <a:cs typeface="Aptos" pitchFamily="34" charset="-120"/>
              </a:rPr>
              <a:t>A repeated four-option decision task with hidden long-term payoff structure</a:t>
            </a:r>
            <a:endParaRPr lang="en-US" sz="1150" dirty="0"/>
          </a:p>
        </p:txBody>
      </p:sp>
      <p:sp>
        <p:nvSpPr>
          <p:cNvPr id="4" name="Text 2"/>
          <p:cNvSpPr/>
          <p:nvPr/>
        </p:nvSpPr>
        <p:spPr>
          <a:xfrm>
            <a:off x="11109960" y="256032"/>
            <a:ext cx="566928" cy="292608"/>
          </a:xfrm>
          <a:prstGeom prst="rect">
            <a:avLst/>
          </a:prstGeom>
          <a:noFill/>
          <a:ln/>
        </p:spPr>
        <p:txBody>
          <a:bodyPr wrap="square" lIns="0" tIns="0" rIns="0" bIns="0" rtlCol="0" anchor="ctr"/>
          <a:lstStyle/>
          <a:p>
            <a:pPr algn="r" indent="0" marL="0">
              <a:buNone/>
            </a:pPr>
            <a:r>
              <a:rPr lang="en-US" sz="1300" b="1" dirty="0">
                <a:solidFill>
                  <a:srgbClr val="24476B"/>
                </a:solidFill>
              </a:rPr>
              <a:t>03</a:t>
            </a:r>
            <a:endParaRPr lang="en-US" sz="1300" dirty="0"/>
          </a:p>
        </p:txBody>
      </p:sp>
      <p:sp>
        <p:nvSpPr>
          <p:cNvPr id="5" name="Shape 3"/>
          <p:cNvSpPr/>
          <p:nvPr/>
        </p:nvSpPr>
        <p:spPr>
          <a:xfrm>
            <a:off x="502920" y="987552"/>
            <a:ext cx="11155680" cy="0"/>
          </a:xfrm>
          <a:prstGeom prst="line">
            <a:avLst/>
          </a:prstGeom>
          <a:noFill/>
          <a:ln w="7620">
            <a:solidFill>
              <a:srgbClr val="C8BFAE"/>
            </a:solidFill>
            <a:prstDash val="solid"/>
          </a:ln>
        </p:spPr>
      </p:sp>
      <p:sp>
        <p:nvSpPr>
          <p:cNvPr id="6" name="Text 4"/>
          <p:cNvSpPr/>
          <p:nvPr/>
        </p:nvSpPr>
        <p:spPr>
          <a:xfrm>
            <a:off x="822960" y="1353312"/>
            <a:ext cx="1417320" cy="566928"/>
          </a:xfrm>
          <a:prstGeom prst="roundRect">
            <a:avLst>
              <a:gd name="adj" fmla="val 12903"/>
            </a:avLst>
          </a:prstGeom>
          <a:solidFill>
            <a:srgbClr val="F2D9D2"/>
          </a:solidFill>
          <a:ln>
            <a:solidFill>
              <a:srgbClr val="F2D9D2"/>
            </a:solidFill>
          </a:ln>
        </p:spPr>
        <p:txBody>
          <a:bodyPr wrap="square" lIns="254" tIns="254" rIns="254" bIns="254" rtlCol="0" anchor="ctr"/>
          <a:lstStyle/>
          <a:p>
            <a:pPr algn="ctr" indent="0" marL="0">
              <a:buNone/>
            </a:pPr>
            <a:r>
              <a:rPr lang="en-US" sz="2000" b="1" dirty="0">
                <a:solidFill>
                  <a:srgbClr val="17212B"/>
                </a:solidFill>
              </a:rPr>
              <a:t>Deck A</a:t>
            </a:r>
            <a:endParaRPr lang="en-US" sz="2000" dirty="0"/>
          </a:p>
        </p:txBody>
      </p:sp>
      <p:sp>
        <p:nvSpPr>
          <p:cNvPr id="7" name="Text 5"/>
          <p:cNvSpPr/>
          <p:nvPr/>
        </p:nvSpPr>
        <p:spPr>
          <a:xfrm>
            <a:off x="777240" y="1993392"/>
            <a:ext cx="1554480" cy="530352"/>
          </a:xfrm>
          <a:prstGeom prst="rect">
            <a:avLst/>
          </a:prstGeom>
          <a:noFill/>
          <a:ln/>
        </p:spPr>
        <p:txBody>
          <a:bodyPr wrap="square" lIns="762" tIns="762" rIns="762" bIns="762" rtlCol="0" anchor="t">
            <a:normAutofit/>
          </a:bodyPr>
          <a:lstStyle/>
          <a:p>
            <a:pPr algn="ctr" indent="0" marL="0">
              <a:buNone/>
            </a:pPr>
            <a:r>
              <a:rPr lang="en-US" sz="1050" dirty="0">
                <a:solidFill>
                  <a:srgbClr val="59636E"/>
                </a:solidFill>
                <a:latin typeface="Aptos" pitchFamily="34" charset="0"/>
                <a:ea typeface="Aptos" pitchFamily="34" charset="-122"/>
                <a:cs typeface="Aptos" pitchFamily="34" charset="-120"/>
              </a:rPr>
              <a:t>bad long-term</a:t>
            </a:r>
            <a:endParaRPr lang="en-US" sz="1050" dirty="0"/>
          </a:p>
          <a:p>
            <a:pPr algn="ctr" indent="0" marL="0">
              <a:buNone/>
            </a:pPr>
            <a:r>
              <a:rPr lang="en-US" sz="1050" dirty="0">
                <a:solidFill>
                  <a:srgbClr val="59636E"/>
                </a:solidFill>
                <a:latin typeface="Aptos" pitchFamily="34" charset="0"/>
                <a:ea typeface="Aptos" pitchFamily="34" charset="-122"/>
                <a:cs typeface="Aptos" pitchFamily="34" charset="-120"/>
              </a:rPr>
              <a:t>frequent losses</a:t>
            </a:r>
            <a:endParaRPr lang="en-US" sz="1050" dirty="0"/>
          </a:p>
        </p:txBody>
      </p:sp>
      <p:sp>
        <p:nvSpPr>
          <p:cNvPr id="8" name="Text 6"/>
          <p:cNvSpPr/>
          <p:nvPr/>
        </p:nvSpPr>
        <p:spPr>
          <a:xfrm>
            <a:off x="2880360" y="1353312"/>
            <a:ext cx="1417320" cy="566928"/>
          </a:xfrm>
          <a:prstGeom prst="roundRect">
            <a:avLst>
              <a:gd name="adj" fmla="val 12903"/>
            </a:avLst>
          </a:prstGeom>
          <a:solidFill>
            <a:srgbClr val="F2D9D2"/>
          </a:solidFill>
          <a:ln>
            <a:solidFill>
              <a:srgbClr val="F2D9D2"/>
            </a:solidFill>
          </a:ln>
        </p:spPr>
        <p:txBody>
          <a:bodyPr wrap="square" lIns="254" tIns="254" rIns="254" bIns="254" rtlCol="0" anchor="ctr"/>
          <a:lstStyle/>
          <a:p>
            <a:pPr algn="ctr" indent="0" marL="0">
              <a:buNone/>
            </a:pPr>
            <a:r>
              <a:rPr lang="en-US" sz="2000" b="1" dirty="0">
                <a:solidFill>
                  <a:srgbClr val="17212B"/>
                </a:solidFill>
              </a:rPr>
              <a:t>Deck B</a:t>
            </a:r>
            <a:endParaRPr lang="en-US" sz="2000" dirty="0"/>
          </a:p>
        </p:txBody>
      </p:sp>
      <p:sp>
        <p:nvSpPr>
          <p:cNvPr id="9" name="Text 7"/>
          <p:cNvSpPr/>
          <p:nvPr/>
        </p:nvSpPr>
        <p:spPr>
          <a:xfrm>
            <a:off x="2834640" y="1993392"/>
            <a:ext cx="1554480" cy="530352"/>
          </a:xfrm>
          <a:prstGeom prst="rect">
            <a:avLst/>
          </a:prstGeom>
          <a:noFill/>
          <a:ln/>
        </p:spPr>
        <p:txBody>
          <a:bodyPr wrap="square" lIns="762" tIns="762" rIns="762" bIns="762" rtlCol="0" anchor="t">
            <a:normAutofit/>
          </a:bodyPr>
          <a:lstStyle/>
          <a:p>
            <a:pPr algn="ctr" indent="0" marL="0">
              <a:buNone/>
            </a:pPr>
            <a:r>
              <a:rPr lang="en-US" sz="1050" dirty="0">
                <a:solidFill>
                  <a:srgbClr val="59636E"/>
                </a:solidFill>
                <a:latin typeface="Aptos" pitchFamily="34" charset="0"/>
                <a:ea typeface="Aptos" pitchFamily="34" charset="-122"/>
                <a:cs typeface="Aptos" pitchFamily="34" charset="-120"/>
              </a:rPr>
              <a:t>bad long-term</a:t>
            </a:r>
            <a:endParaRPr lang="en-US" sz="1050" dirty="0"/>
          </a:p>
          <a:p>
            <a:pPr algn="ctr" indent="0" marL="0">
              <a:buNone/>
            </a:pPr>
            <a:r>
              <a:rPr lang="en-US" sz="1050" dirty="0">
                <a:solidFill>
                  <a:srgbClr val="59636E"/>
                </a:solidFill>
                <a:latin typeface="Aptos" pitchFamily="34" charset="0"/>
                <a:ea typeface="Aptos" pitchFamily="34" charset="-122"/>
                <a:cs typeface="Aptos" pitchFamily="34" charset="-120"/>
              </a:rPr>
              <a:t>infrequent losses</a:t>
            </a:r>
            <a:endParaRPr lang="en-US" sz="1050" dirty="0"/>
          </a:p>
        </p:txBody>
      </p:sp>
      <p:sp>
        <p:nvSpPr>
          <p:cNvPr id="10" name="Text 8"/>
          <p:cNvSpPr/>
          <p:nvPr/>
        </p:nvSpPr>
        <p:spPr>
          <a:xfrm>
            <a:off x="4937760" y="1353312"/>
            <a:ext cx="1417320" cy="566928"/>
          </a:xfrm>
          <a:prstGeom prst="roundRect">
            <a:avLst>
              <a:gd name="adj" fmla="val 12903"/>
            </a:avLst>
          </a:prstGeom>
          <a:solidFill>
            <a:srgbClr val="E0EFE8"/>
          </a:solidFill>
          <a:ln>
            <a:solidFill>
              <a:srgbClr val="E0EFE8"/>
            </a:solidFill>
          </a:ln>
        </p:spPr>
        <p:txBody>
          <a:bodyPr wrap="square" lIns="254" tIns="254" rIns="254" bIns="254" rtlCol="0" anchor="ctr"/>
          <a:lstStyle/>
          <a:p>
            <a:pPr algn="ctr" indent="0" marL="0">
              <a:buNone/>
            </a:pPr>
            <a:r>
              <a:rPr lang="en-US" sz="2000" b="1" dirty="0">
                <a:solidFill>
                  <a:srgbClr val="17212B"/>
                </a:solidFill>
              </a:rPr>
              <a:t>Deck C</a:t>
            </a:r>
            <a:endParaRPr lang="en-US" sz="2000" dirty="0"/>
          </a:p>
        </p:txBody>
      </p:sp>
      <p:sp>
        <p:nvSpPr>
          <p:cNvPr id="11" name="Text 9"/>
          <p:cNvSpPr/>
          <p:nvPr/>
        </p:nvSpPr>
        <p:spPr>
          <a:xfrm>
            <a:off x="4892040" y="1993392"/>
            <a:ext cx="1554480" cy="530352"/>
          </a:xfrm>
          <a:prstGeom prst="rect">
            <a:avLst/>
          </a:prstGeom>
          <a:noFill/>
          <a:ln/>
        </p:spPr>
        <p:txBody>
          <a:bodyPr wrap="square" lIns="762" tIns="762" rIns="762" bIns="762" rtlCol="0" anchor="t">
            <a:normAutofit/>
          </a:bodyPr>
          <a:lstStyle/>
          <a:p>
            <a:pPr algn="ctr" indent="0" marL="0">
              <a:buNone/>
            </a:pPr>
            <a:r>
              <a:rPr lang="en-US" sz="1050" dirty="0">
                <a:solidFill>
                  <a:srgbClr val="59636E"/>
                </a:solidFill>
                <a:latin typeface="Aptos" pitchFamily="34" charset="0"/>
                <a:ea typeface="Aptos" pitchFamily="34" charset="-122"/>
                <a:cs typeface="Aptos" pitchFamily="34" charset="-120"/>
              </a:rPr>
              <a:t>good long-term</a:t>
            </a:r>
            <a:endParaRPr lang="en-US" sz="1050" dirty="0"/>
          </a:p>
          <a:p>
            <a:pPr algn="ctr" indent="0" marL="0">
              <a:buNone/>
            </a:pPr>
            <a:r>
              <a:rPr lang="en-US" sz="1050" dirty="0">
                <a:solidFill>
                  <a:srgbClr val="59636E"/>
                </a:solidFill>
                <a:latin typeface="Aptos" pitchFamily="34" charset="0"/>
                <a:ea typeface="Aptos" pitchFamily="34" charset="-122"/>
                <a:cs typeface="Aptos" pitchFamily="34" charset="-120"/>
              </a:rPr>
              <a:t>frequent losses</a:t>
            </a:r>
            <a:endParaRPr lang="en-US" sz="1050" dirty="0"/>
          </a:p>
        </p:txBody>
      </p:sp>
      <p:sp>
        <p:nvSpPr>
          <p:cNvPr id="12" name="Text 10"/>
          <p:cNvSpPr/>
          <p:nvPr/>
        </p:nvSpPr>
        <p:spPr>
          <a:xfrm>
            <a:off x="6995160" y="1353312"/>
            <a:ext cx="1417320" cy="566928"/>
          </a:xfrm>
          <a:prstGeom prst="roundRect">
            <a:avLst>
              <a:gd name="adj" fmla="val 12903"/>
            </a:avLst>
          </a:prstGeom>
          <a:solidFill>
            <a:srgbClr val="E0EFE8"/>
          </a:solidFill>
          <a:ln>
            <a:solidFill>
              <a:srgbClr val="E0EFE8"/>
            </a:solidFill>
          </a:ln>
        </p:spPr>
        <p:txBody>
          <a:bodyPr wrap="square" lIns="254" tIns="254" rIns="254" bIns="254" rtlCol="0" anchor="ctr"/>
          <a:lstStyle/>
          <a:p>
            <a:pPr algn="ctr" indent="0" marL="0">
              <a:buNone/>
            </a:pPr>
            <a:r>
              <a:rPr lang="en-US" sz="2000" b="1" dirty="0">
                <a:solidFill>
                  <a:srgbClr val="17212B"/>
                </a:solidFill>
              </a:rPr>
              <a:t>Deck D</a:t>
            </a:r>
            <a:endParaRPr lang="en-US" sz="2000" dirty="0"/>
          </a:p>
        </p:txBody>
      </p:sp>
      <p:sp>
        <p:nvSpPr>
          <p:cNvPr id="13" name="Text 11"/>
          <p:cNvSpPr/>
          <p:nvPr/>
        </p:nvSpPr>
        <p:spPr>
          <a:xfrm>
            <a:off x="6949440" y="1993392"/>
            <a:ext cx="1554480" cy="530352"/>
          </a:xfrm>
          <a:prstGeom prst="rect">
            <a:avLst/>
          </a:prstGeom>
          <a:noFill/>
          <a:ln/>
        </p:spPr>
        <p:txBody>
          <a:bodyPr wrap="square" lIns="762" tIns="762" rIns="762" bIns="762" rtlCol="0" anchor="t">
            <a:normAutofit/>
          </a:bodyPr>
          <a:lstStyle/>
          <a:p>
            <a:pPr algn="ctr" indent="0" marL="0">
              <a:buNone/>
            </a:pPr>
            <a:r>
              <a:rPr lang="en-US" sz="1050" dirty="0">
                <a:solidFill>
                  <a:srgbClr val="59636E"/>
                </a:solidFill>
                <a:latin typeface="Aptos" pitchFamily="34" charset="0"/>
                <a:ea typeface="Aptos" pitchFamily="34" charset="-122"/>
                <a:cs typeface="Aptos" pitchFamily="34" charset="-120"/>
              </a:rPr>
              <a:t>good long-term</a:t>
            </a:r>
            <a:endParaRPr lang="en-US" sz="1050" dirty="0"/>
          </a:p>
          <a:p>
            <a:pPr algn="ctr" indent="0" marL="0">
              <a:buNone/>
            </a:pPr>
            <a:r>
              <a:rPr lang="en-US" sz="1050" dirty="0">
                <a:solidFill>
                  <a:srgbClr val="59636E"/>
                </a:solidFill>
                <a:latin typeface="Aptos" pitchFamily="34" charset="0"/>
                <a:ea typeface="Aptos" pitchFamily="34" charset="-122"/>
                <a:cs typeface="Aptos" pitchFamily="34" charset="-120"/>
              </a:rPr>
              <a:t>infrequent losses</a:t>
            </a:r>
            <a:endParaRPr lang="en-US" sz="1050" dirty="0"/>
          </a:p>
        </p:txBody>
      </p:sp>
      <p:sp>
        <p:nvSpPr>
          <p:cNvPr id="14" name="Shape 12"/>
          <p:cNvSpPr/>
          <p:nvPr/>
        </p:nvSpPr>
        <p:spPr>
          <a:xfrm>
            <a:off x="8796528" y="1627632"/>
            <a:ext cx="987552" cy="0"/>
          </a:xfrm>
          <a:prstGeom prst="line">
            <a:avLst/>
          </a:prstGeom>
          <a:noFill/>
          <a:ln w="16510">
            <a:solidFill>
              <a:srgbClr val="24476B"/>
            </a:solidFill>
            <a:prstDash val="solid"/>
            <a:headEnd type="none"/>
            <a:tailEnd type="triangle"/>
          </a:ln>
        </p:spPr>
      </p:sp>
      <p:sp>
        <p:nvSpPr>
          <p:cNvPr id="15" name="Shape 13"/>
          <p:cNvSpPr/>
          <p:nvPr/>
        </p:nvSpPr>
        <p:spPr>
          <a:xfrm>
            <a:off x="9948672" y="1243584"/>
            <a:ext cx="1627632" cy="768096"/>
          </a:xfrm>
          <a:prstGeom prst="roundRect">
            <a:avLst>
              <a:gd name="adj" fmla="val 9524"/>
            </a:avLst>
          </a:prstGeom>
          <a:solidFill>
            <a:srgbClr val="FFFFFF"/>
          </a:solidFill>
          <a:ln w="10160">
            <a:solidFill>
              <a:srgbClr val="C8BFAE"/>
            </a:solidFill>
            <a:prstDash val="solid"/>
          </a:ln>
        </p:spPr>
      </p:sp>
      <p:sp>
        <p:nvSpPr>
          <p:cNvPr id="16" name="Text 14"/>
          <p:cNvSpPr/>
          <p:nvPr/>
        </p:nvSpPr>
        <p:spPr>
          <a:xfrm>
            <a:off x="10076688" y="1426464"/>
            <a:ext cx="1371600" cy="347472"/>
          </a:xfrm>
          <a:prstGeom prst="rect">
            <a:avLst/>
          </a:prstGeom>
          <a:noFill/>
          <a:ln/>
        </p:spPr>
        <p:txBody>
          <a:bodyPr wrap="square" lIns="762" tIns="762" rIns="762" bIns="762" rtlCol="0" anchor="t">
            <a:normAutofit/>
          </a:bodyPr>
          <a:lstStyle/>
          <a:p>
            <a:pPr algn="ctr" indent="0" marL="0">
              <a:buNone/>
            </a:pPr>
            <a:r>
              <a:rPr lang="en-US" sz="1400" b="1" dirty="0">
                <a:solidFill>
                  <a:srgbClr val="24476B"/>
                </a:solidFill>
                <a:latin typeface="Aptos" pitchFamily="34" charset="0"/>
                <a:ea typeface="Aptos" pitchFamily="34" charset="-122"/>
                <a:cs typeface="Aptos" pitchFamily="34" charset="-120"/>
              </a:rPr>
              <a:t>choose</a:t>
            </a:r>
            <a:endParaRPr lang="en-US" sz="1400" dirty="0"/>
          </a:p>
          <a:p>
            <a:pPr algn="ctr" indent="0" marL="0">
              <a:buNone/>
            </a:pPr>
            <a:r>
              <a:rPr lang="en-US" sz="1400" b="1" dirty="0">
                <a:solidFill>
                  <a:srgbClr val="24476B"/>
                </a:solidFill>
                <a:latin typeface="Aptos" pitchFamily="34" charset="0"/>
                <a:ea typeface="Aptos" pitchFamily="34" charset="-122"/>
                <a:cs typeface="Aptos" pitchFamily="34" charset="-120"/>
              </a:rPr>
              <a:t>one deck</a:t>
            </a:r>
            <a:endParaRPr lang="en-US" sz="1400" dirty="0"/>
          </a:p>
        </p:txBody>
      </p:sp>
      <p:sp>
        <p:nvSpPr>
          <p:cNvPr id="17" name="Shape 15"/>
          <p:cNvSpPr/>
          <p:nvPr/>
        </p:nvSpPr>
        <p:spPr>
          <a:xfrm>
            <a:off x="777240" y="2971800"/>
            <a:ext cx="5166360" cy="2011680"/>
          </a:xfrm>
          <a:prstGeom prst="roundRect">
            <a:avLst>
              <a:gd name="adj" fmla="val 3636"/>
            </a:avLst>
          </a:prstGeom>
          <a:solidFill>
            <a:srgbClr val="FFFFFF"/>
          </a:solidFill>
          <a:ln w="10160">
            <a:solidFill>
              <a:srgbClr val="C8BFAE"/>
            </a:solidFill>
            <a:prstDash val="solid"/>
          </a:ln>
        </p:spPr>
      </p:sp>
      <p:sp>
        <p:nvSpPr>
          <p:cNvPr id="18" name="Text 16"/>
          <p:cNvSpPr/>
          <p:nvPr/>
        </p:nvSpPr>
        <p:spPr>
          <a:xfrm>
            <a:off x="1024128" y="3227832"/>
            <a:ext cx="4206240" cy="256032"/>
          </a:xfrm>
          <a:prstGeom prst="rect">
            <a:avLst/>
          </a:prstGeom>
          <a:noFill/>
          <a:ln/>
        </p:spPr>
        <p:txBody>
          <a:bodyPr wrap="square" lIns="0" tIns="0" rIns="0" bIns="0" rtlCol="0" anchor="t">
            <a:normAutofit/>
          </a:bodyPr>
          <a:lstStyle/>
          <a:p>
            <a:pPr algn="l" indent="0" marL="0">
              <a:buNone/>
            </a:pPr>
            <a:r>
              <a:rPr lang="en-US" sz="1300" b="1" dirty="0">
                <a:solidFill>
                  <a:srgbClr val="24476B"/>
                </a:solidFill>
                <a:latin typeface="Aptos" pitchFamily="34" charset="0"/>
                <a:ea typeface="Aptos" pitchFamily="34" charset="-122"/>
                <a:cs typeface="Aptos" pitchFamily="34" charset="-120"/>
              </a:rPr>
              <a:t>What makes the task cognitively interesting?</a:t>
            </a:r>
            <a:endParaRPr lang="en-US" sz="1300" dirty="0"/>
          </a:p>
        </p:txBody>
      </p:sp>
      <p:sp>
        <p:nvSpPr>
          <p:cNvPr id="19" name="Text 17"/>
          <p:cNvSpPr/>
          <p:nvPr/>
        </p:nvSpPr>
        <p:spPr>
          <a:xfrm>
            <a:off x="1024128" y="3593592"/>
            <a:ext cx="4480560" cy="1078992"/>
          </a:xfrm>
          <a:prstGeom prst="rect">
            <a:avLst/>
          </a:prstGeom>
          <a:noFill/>
          <a:ln/>
        </p:spPr>
        <p:txBody>
          <a:bodyPr wrap="square" lIns="762" tIns="762" rIns="762" bIns="762" rtlCol="0" anchor="t">
            <a:normAutofit/>
          </a:bodyPr>
          <a:lstStyle/>
          <a:p>
            <a:pPr algn="l" indent="0" marL="0">
              <a:buNone/>
            </a:pPr>
            <a:r>
              <a:rPr lang="en-US" sz="1400" dirty="0">
                <a:solidFill>
                  <a:srgbClr val="17212B"/>
                </a:solidFill>
                <a:latin typeface="Aptos" pitchFamily="34" charset="0"/>
                <a:ea typeface="Aptos" pitchFamily="34" charset="-122"/>
                <a:cs typeface="Aptos" pitchFamily="34" charset="-120"/>
              </a:rPr>
              <a:t>The best immediate rewards are not necessarily best long-term. Participants must learn from experience, tolerate uncertainty, and decide whether recent outcomes should change their future choices.</a:t>
            </a:r>
            <a:endParaRPr lang="en-US" sz="1400" dirty="0"/>
          </a:p>
        </p:txBody>
      </p:sp>
      <p:sp>
        <p:nvSpPr>
          <p:cNvPr id="20" name="Shape 18"/>
          <p:cNvSpPr/>
          <p:nvPr/>
        </p:nvSpPr>
        <p:spPr>
          <a:xfrm>
            <a:off x="6291072" y="2971800"/>
            <a:ext cx="5120640" cy="2011680"/>
          </a:xfrm>
          <a:prstGeom prst="roundRect">
            <a:avLst>
              <a:gd name="adj" fmla="val 3636"/>
            </a:avLst>
          </a:prstGeom>
          <a:solidFill>
            <a:srgbClr val="FFFFFF"/>
          </a:solidFill>
          <a:ln w="10160">
            <a:solidFill>
              <a:srgbClr val="C8BFAE"/>
            </a:solidFill>
            <a:prstDash val="solid"/>
          </a:ln>
        </p:spPr>
      </p:sp>
      <p:sp>
        <p:nvSpPr>
          <p:cNvPr id="21" name="Text 19"/>
          <p:cNvSpPr/>
          <p:nvPr/>
        </p:nvSpPr>
        <p:spPr>
          <a:xfrm>
            <a:off x="6537960" y="3227832"/>
            <a:ext cx="4114800" cy="256032"/>
          </a:xfrm>
          <a:prstGeom prst="rect">
            <a:avLst/>
          </a:prstGeom>
          <a:noFill/>
          <a:ln/>
        </p:spPr>
        <p:txBody>
          <a:bodyPr wrap="square" lIns="0" tIns="0" rIns="0" bIns="0" rtlCol="0" anchor="t">
            <a:normAutofit/>
          </a:bodyPr>
          <a:lstStyle/>
          <a:p>
            <a:pPr algn="l" indent="0" marL="0">
              <a:buNone/>
            </a:pPr>
            <a:r>
              <a:rPr lang="en-US" sz="1300" b="1" dirty="0">
                <a:solidFill>
                  <a:srgbClr val="A86B13"/>
                </a:solidFill>
                <a:latin typeface="Aptos" pitchFamily="34" charset="0"/>
                <a:ea typeface="Aptos" pitchFamily="34" charset="-122"/>
                <a:cs typeface="Aptos" pitchFamily="34" charset="-120"/>
              </a:rPr>
              <a:t>Two dimensions in the deck structure</a:t>
            </a:r>
            <a:endParaRPr lang="en-US" sz="1300" dirty="0"/>
          </a:p>
        </p:txBody>
      </p:sp>
      <p:sp>
        <p:nvSpPr>
          <p:cNvPr id="22" name="Text 20"/>
          <p:cNvSpPr/>
          <p:nvPr/>
        </p:nvSpPr>
        <p:spPr>
          <a:xfrm>
            <a:off x="6537960" y="3602736"/>
            <a:ext cx="4480560" cy="1051560"/>
          </a:xfrm>
          <a:prstGeom prst="rect">
            <a:avLst/>
          </a:prstGeom>
          <a:noFill/>
          <a:ln/>
        </p:spPr>
        <p:txBody>
          <a:bodyPr wrap="square" lIns="762" tIns="762" rIns="762" bIns="762" rtlCol="0" anchor="t">
            <a:normAutofit/>
          </a:bodyPr>
          <a:lstStyle/>
          <a:p>
            <a:pPr algn="l" indent="0" marL="0">
              <a:buNone/>
            </a:pPr>
            <a:r>
              <a:rPr lang="en-US" sz="1400" dirty="0">
                <a:solidFill>
                  <a:srgbClr val="17212B"/>
                </a:solidFill>
                <a:latin typeface="Aptos" pitchFamily="34" charset="0"/>
                <a:ea typeface="Aptos" pitchFamily="34" charset="-122"/>
                <a:cs typeface="Aptos" pitchFamily="34" charset="-120"/>
              </a:rPr>
              <a:t>Advantageous vs disadvantageous decks: long-term net payoff.</a:t>
            </a:r>
            <a:endParaRPr lang="en-US" sz="1400" dirty="0"/>
          </a:p>
          <a:p>
            <a:pPr algn="l" indent="0" marL="0">
              <a:buNone/>
            </a:pPr>
            <a:r>
              <a:rPr lang="en-US" sz="1400" dirty="0">
                <a:solidFill>
                  <a:srgbClr val="17212B"/>
                </a:solidFill>
                <a:latin typeface="Aptos" pitchFamily="34" charset="0"/>
                <a:ea typeface="Aptos" pitchFamily="34" charset="-122"/>
                <a:cs typeface="Aptos" pitchFamily="34" charset="-120"/>
              </a:rPr>
              <a:t>Frequent vs infrequent losses: how often punishments occur.</a:t>
            </a:r>
            <a:endParaRPr lang="en-US" sz="1400" dirty="0"/>
          </a:p>
          <a:p>
            <a:pPr algn="l" indent="0" marL="0">
              <a:buNone/>
            </a:pPr>
            <a:r>
              <a:rPr lang="en-US" sz="1400" dirty="0">
                <a:solidFill>
                  <a:srgbClr val="17212B"/>
                </a:solidFill>
                <a:latin typeface="Aptos" pitchFamily="34" charset="0"/>
                <a:ea typeface="Aptos" pitchFamily="34" charset="-122"/>
                <a:cs typeface="Aptos" pitchFamily="34" charset="-120"/>
              </a:rPr>
              <a:t>These can pull choices in different directions.</a:t>
            </a:r>
            <a:endParaRPr lang="en-US" sz="1400" dirty="0"/>
          </a:p>
        </p:txBody>
      </p:sp>
      <p:sp>
        <p:nvSpPr>
          <p:cNvPr id="23" name="Text 21"/>
          <p:cNvSpPr/>
          <p:nvPr/>
        </p:nvSpPr>
        <p:spPr>
          <a:xfrm>
            <a:off x="530352" y="6565392"/>
            <a:ext cx="11109960" cy="164592"/>
          </a:xfrm>
          <a:prstGeom prst="rect">
            <a:avLst/>
          </a:prstGeom>
          <a:noFill/>
          <a:ln/>
        </p:spPr>
        <p:txBody>
          <a:bodyPr wrap="square" lIns="0" tIns="0" rIns="0" bIns="0" rtlCol="0" anchor="t">
            <a:normAutofit/>
          </a:bodyPr>
          <a:lstStyle/>
          <a:p>
            <a:pPr algn="l" indent="0" marL="0">
              <a:buNone/>
            </a:pPr>
            <a:r>
              <a:rPr lang="en-US" sz="650" dirty="0">
                <a:solidFill>
                  <a:srgbClr val="59636E"/>
                </a:solidFill>
                <a:latin typeface="Aptos" pitchFamily="34" charset="0"/>
                <a:ea typeface="Aptos" pitchFamily="34" charset="-122"/>
                <a:cs typeface="Aptos" pitchFamily="34" charset="-120"/>
              </a:rPr>
              <a:t>Steingroever et al. describe traditional IGT payoff schemes with good decks C/D, bad decks A/B, frequent-loss decks A/C, and infrequent-loss decks B/D.</a:t>
            </a:r>
            <a:endParaRPr lang="en-US" sz="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C"/>
        </a:solidFill>
      </p:bgPr>
    </p:bg>
    <p:spTree>
      <p:nvGrpSpPr>
        <p:cNvPr id="1" name=""/>
        <p:cNvGrpSpPr/>
        <p:nvPr/>
      </p:nvGrpSpPr>
      <p:grpSpPr>
        <a:xfrm>
          <a:off x="0" y="0"/>
          <a:ext cx="0" cy="0"/>
          <a:chOff x="0" y="0"/>
          <a:chExt cx="0" cy="0"/>
        </a:xfrm>
      </p:grpSpPr>
      <p:sp>
        <p:nvSpPr>
          <p:cNvPr id="2" name="Text 0"/>
          <p:cNvSpPr/>
          <p:nvPr/>
        </p:nvSpPr>
        <p:spPr>
          <a:xfrm>
            <a:off x="502920" y="256032"/>
            <a:ext cx="9692640" cy="438912"/>
          </a:xfrm>
          <a:prstGeom prst="rect">
            <a:avLst/>
          </a:prstGeom>
          <a:noFill/>
          <a:ln/>
        </p:spPr>
        <p:txBody>
          <a:bodyPr wrap="square" lIns="0" tIns="0" rIns="0" bIns="0" rtlCol="0" anchor="ctr">
            <a:normAutofit/>
          </a:bodyPr>
          <a:lstStyle/>
          <a:p>
            <a:pPr indent="0" marL="0">
              <a:buNone/>
            </a:pPr>
            <a:r>
              <a:rPr lang="en-US" sz="2600" b="1" dirty="0">
                <a:solidFill>
                  <a:srgbClr val="17212B"/>
                </a:solidFill>
                <a:latin typeface="Aptos Display" pitchFamily="34" charset="0"/>
                <a:ea typeface="Aptos Display" pitchFamily="34" charset="-122"/>
                <a:cs typeface="Aptos Display" pitchFamily="34" charset="-120"/>
              </a:rPr>
              <a:t>The dataset</a:t>
            </a:r>
            <a:endParaRPr lang="en-US" sz="2600" dirty="0"/>
          </a:p>
        </p:txBody>
      </p:sp>
      <p:sp>
        <p:nvSpPr>
          <p:cNvPr id="3" name="Text 1"/>
          <p:cNvSpPr/>
          <p:nvPr/>
        </p:nvSpPr>
        <p:spPr>
          <a:xfrm>
            <a:off x="530352" y="758952"/>
            <a:ext cx="9875520" cy="256032"/>
          </a:xfrm>
          <a:prstGeom prst="rect">
            <a:avLst/>
          </a:prstGeom>
          <a:noFill/>
          <a:ln/>
        </p:spPr>
        <p:txBody>
          <a:bodyPr wrap="square" lIns="0" tIns="0" rIns="0" bIns="0" rtlCol="0" anchor="ctr">
            <a:normAutofit/>
          </a:bodyPr>
          <a:lstStyle/>
          <a:p>
            <a:pPr indent="0" marL="0">
              <a:buNone/>
            </a:pPr>
            <a:r>
              <a:rPr lang="en-US" sz="1150" dirty="0">
                <a:solidFill>
                  <a:srgbClr val="59636E"/>
                </a:solidFill>
                <a:latin typeface="Aptos" pitchFamily="34" charset="0"/>
                <a:ea typeface="Aptos" pitchFamily="34" charset="-122"/>
                <a:cs typeface="Aptos" pitchFamily="34" charset="-120"/>
              </a:rPr>
              <a:t>Steingroever et al. 2015: public “many labs” IGT data from healthy participants</a:t>
            </a:r>
            <a:endParaRPr lang="en-US" sz="1150" dirty="0"/>
          </a:p>
        </p:txBody>
      </p:sp>
      <p:sp>
        <p:nvSpPr>
          <p:cNvPr id="4" name="Text 2"/>
          <p:cNvSpPr/>
          <p:nvPr/>
        </p:nvSpPr>
        <p:spPr>
          <a:xfrm>
            <a:off x="11109960" y="256032"/>
            <a:ext cx="566928" cy="292608"/>
          </a:xfrm>
          <a:prstGeom prst="rect">
            <a:avLst/>
          </a:prstGeom>
          <a:noFill/>
          <a:ln/>
        </p:spPr>
        <p:txBody>
          <a:bodyPr wrap="square" lIns="0" tIns="0" rIns="0" bIns="0" rtlCol="0" anchor="ctr"/>
          <a:lstStyle/>
          <a:p>
            <a:pPr algn="r" indent="0" marL="0">
              <a:buNone/>
            </a:pPr>
            <a:r>
              <a:rPr lang="en-US" sz="1300" b="1" dirty="0">
                <a:solidFill>
                  <a:srgbClr val="24476B"/>
                </a:solidFill>
              </a:rPr>
              <a:t>04</a:t>
            </a:r>
            <a:endParaRPr lang="en-US" sz="1300" dirty="0"/>
          </a:p>
        </p:txBody>
      </p:sp>
      <p:sp>
        <p:nvSpPr>
          <p:cNvPr id="5" name="Shape 3"/>
          <p:cNvSpPr/>
          <p:nvPr/>
        </p:nvSpPr>
        <p:spPr>
          <a:xfrm>
            <a:off x="502920" y="987552"/>
            <a:ext cx="11155680" cy="0"/>
          </a:xfrm>
          <a:prstGeom prst="line">
            <a:avLst/>
          </a:prstGeom>
          <a:noFill/>
          <a:ln w="7620">
            <a:solidFill>
              <a:srgbClr val="C8BFAE"/>
            </a:solidFill>
            <a:prstDash val="solid"/>
          </a:ln>
        </p:spPr>
      </p:sp>
      <p:sp>
        <p:nvSpPr>
          <p:cNvPr id="6" name="Shape 4"/>
          <p:cNvSpPr/>
          <p:nvPr/>
        </p:nvSpPr>
        <p:spPr>
          <a:xfrm>
            <a:off x="749808" y="1353312"/>
            <a:ext cx="2286000" cy="960120"/>
          </a:xfrm>
          <a:prstGeom prst="roundRect">
            <a:avLst>
              <a:gd name="adj" fmla="val 7619"/>
            </a:avLst>
          </a:prstGeom>
          <a:solidFill>
            <a:srgbClr val="FFFFFF"/>
          </a:solidFill>
          <a:ln w="10160">
            <a:solidFill>
              <a:srgbClr val="C8BFAE"/>
            </a:solidFill>
            <a:prstDash val="solid"/>
          </a:ln>
        </p:spPr>
      </p:sp>
      <p:sp>
        <p:nvSpPr>
          <p:cNvPr id="7" name="Text 5"/>
          <p:cNvSpPr/>
          <p:nvPr/>
        </p:nvSpPr>
        <p:spPr>
          <a:xfrm>
            <a:off x="932688" y="1517904"/>
            <a:ext cx="1920240" cy="320040"/>
          </a:xfrm>
          <a:prstGeom prst="rect">
            <a:avLst/>
          </a:prstGeom>
          <a:noFill/>
          <a:ln/>
        </p:spPr>
        <p:txBody>
          <a:bodyPr wrap="square" lIns="762" tIns="762" rIns="762" bIns="762" rtlCol="0" anchor="t">
            <a:normAutofit/>
          </a:bodyPr>
          <a:lstStyle/>
          <a:p>
            <a:pPr algn="ctr" indent="0" marL="0">
              <a:buNone/>
            </a:pPr>
            <a:r>
              <a:rPr lang="en-US" sz="2200" b="1" dirty="0">
                <a:solidFill>
                  <a:srgbClr val="24476B"/>
                </a:solidFill>
                <a:latin typeface="Aptos" pitchFamily="34" charset="0"/>
                <a:ea typeface="Aptos" pitchFamily="34" charset="-122"/>
                <a:cs typeface="Aptos" pitchFamily="34" charset="-120"/>
              </a:rPr>
              <a:t>617</a:t>
            </a:r>
            <a:endParaRPr lang="en-US" sz="2200" dirty="0"/>
          </a:p>
        </p:txBody>
      </p:sp>
      <p:sp>
        <p:nvSpPr>
          <p:cNvPr id="8" name="Text 6"/>
          <p:cNvSpPr/>
          <p:nvPr/>
        </p:nvSpPr>
        <p:spPr>
          <a:xfrm>
            <a:off x="896112" y="1883664"/>
            <a:ext cx="1965960" cy="219456"/>
          </a:xfrm>
          <a:prstGeom prst="rect">
            <a:avLst/>
          </a:prstGeom>
          <a:noFill/>
          <a:ln/>
        </p:spPr>
        <p:txBody>
          <a:bodyPr wrap="square" lIns="762" tIns="762" rIns="762" bIns="762" rtlCol="0" anchor="t">
            <a:normAutofit/>
          </a:bodyPr>
          <a:lstStyle/>
          <a:p>
            <a:pPr algn="ctr" indent="0" marL="0">
              <a:buNone/>
            </a:pPr>
            <a:r>
              <a:rPr lang="en-US" sz="950" dirty="0">
                <a:solidFill>
                  <a:srgbClr val="59636E"/>
                </a:solidFill>
                <a:latin typeface="Aptos" pitchFamily="34" charset="0"/>
                <a:ea typeface="Aptos" pitchFamily="34" charset="-122"/>
                <a:cs typeface="Aptos" pitchFamily="34" charset="-120"/>
              </a:rPr>
              <a:t>healthy participants</a:t>
            </a:r>
            <a:endParaRPr lang="en-US" sz="950" dirty="0"/>
          </a:p>
        </p:txBody>
      </p:sp>
      <p:sp>
        <p:nvSpPr>
          <p:cNvPr id="9" name="Shape 7"/>
          <p:cNvSpPr/>
          <p:nvPr/>
        </p:nvSpPr>
        <p:spPr>
          <a:xfrm>
            <a:off x="3538728" y="1353312"/>
            <a:ext cx="2286000" cy="960120"/>
          </a:xfrm>
          <a:prstGeom prst="roundRect">
            <a:avLst>
              <a:gd name="adj" fmla="val 7619"/>
            </a:avLst>
          </a:prstGeom>
          <a:solidFill>
            <a:srgbClr val="FFFFFF"/>
          </a:solidFill>
          <a:ln w="10160">
            <a:solidFill>
              <a:srgbClr val="C8BFAE"/>
            </a:solidFill>
            <a:prstDash val="solid"/>
          </a:ln>
        </p:spPr>
      </p:sp>
      <p:sp>
        <p:nvSpPr>
          <p:cNvPr id="10" name="Text 8"/>
          <p:cNvSpPr/>
          <p:nvPr/>
        </p:nvSpPr>
        <p:spPr>
          <a:xfrm>
            <a:off x="3721608" y="1517904"/>
            <a:ext cx="1920240" cy="320040"/>
          </a:xfrm>
          <a:prstGeom prst="rect">
            <a:avLst/>
          </a:prstGeom>
          <a:noFill/>
          <a:ln/>
        </p:spPr>
        <p:txBody>
          <a:bodyPr wrap="square" lIns="762" tIns="762" rIns="762" bIns="762" rtlCol="0" anchor="t">
            <a:normAutofit/>
          </a:bodyPr>
          <a:lstStyle/>
          <a:p>
            <a:pPr algn="ctr" indent="0" marL="0">
              <a:buNone/>
            </a:pPr>
            <a:r>
              <a:rPr lang="en-US" sz="2200" b="1" dirty="0">
                <a:solidFill>
                  <a:srgbClr val="24476B"/>
                </a:solidFill>
                <a:latin typeface="Aptos" pitchFamily="34" charset="0"/>
                <a:ea typeface="Aptos" pitchFamily="34" charset="-122"/>
                <a:cs typeface="Aptos" pitchFamily="34" charset="-120"/>
              </a:rPr>
              <a:t>10</a:t>
            </a:r>
            <a:endParaRPr lang="en-US" sz="2200" dirty="0"/>
          </a:p>
        </p:txBody>
      </p:sp>
      <p:sp>
        <p:nvSpPr>
          <p:cNvPr id="11" name="Text 9"/>
          <p:cNvSpPr/>
          <p:nvPr/>
        </p:nvSpPr>
        <p:spPr>
          <a:xfrm>
            <a:off x="3685032" y="1883664"/>
            <a:ext cx="1965960" cy="219456"/>
          </a:xfrm>
          <a:prstGeom prst="rect">
            <a:avLst/>
          </a:prstGeom>
          <a:noFill/>
          <a:ln/>
        </p:spPr>
        <p:txBody>
          <a:bodyPr wrap="square" lIns="762" tIns="762" rIns="762" bIns="762" rtlCol="0" anchor="t">
            <a:normAutofit/>
          </a:bodyPr>
          <a:lstStyle/>
          <a:p>
            <a:pPr algn="ctr" indent="0" marL="0">
              <a:buNone/>
            </a:pPr>
            <a:r>
              <a:rPr lang="en-US" sz="950" dirty="0">
                <a:solidFill>
                  <a:srgbClr val="59636E"/>
                </a:solidFill>
                <a:latin typeface="Aptos" pitchFamily="34" charset="0"/>
                <a:ea typeface="Aptos" pitchFamily="34" charset="-122"/>
                <a:cs typeface="Aptos" pitchFamily="34" charset="-120"/>
              </a:rPr>
              <a:t>independent studies</a:t>
            </a:r>
            <a:endParaRPr lang="en-US" sz="950" dirty="0"/>
          </a:p>
        </p:txBody>
      </p:sp>
      <p:sp>
        <p:nvSpPr>
          <p:cNvPr id="12" name="Shape 10"/>
          <p:cNvSpPr/>
          <p:nvPr/>
        </p:nvSpPr>
        <p:spPr>
          <a:xfrm>
            <a:off x="6327648" y="1353312"/>
            <a:ext cx="2286000" cy="960120"/>
          </a:xfrm>
          <a:prstGeom prst="roundRect">
            <a:avLst>
              <a:gd name="adj" fmla="val 7619"/>
            </a:avLst>
          </a:prstGeom>
          <a:solidFill>
            <a:srgbClr val="FFFFFF"/>
          </a:solidFill>
          <a:ln w="10160">
            <a:solidFill>
              <a:srgbClr val="C8BFAE"/>
            </a:solidFill>
            <a:prstDash val="solid"/>
          </a:ln>
        </p:spPr>
      </p:sp>
      <p:sp>
        <p:nvSpPr>
          <p:cNvPr id="13" name="Text 11"/>
          <p:cNvSpPr/>
          <p:nvPr/>
        </p:nvSpPr>
        <p:spPr>
          <a:xfrm>
            <a:off x="6510528" y="1517904"/>
            <a:ext cx="1920240" cy="320040"/>
          </a:xfrm>
          <a:prstGeom prst="rect">
            <a:avLst/>
          </a:prstGeom>
          <a:noFill/>
          <a:ln/>
        </p:spPr>
        <p:txBody>
          <a:bodyPr wrap="square" lIns="762" tIns="762" rIns="762" bIns="762" rtlCol="0" anchor="t">
            <a:normAutofit/>
          </a:bodyPr>
          <a:lstStyle/>
          <a:p>
            <a:pPr algn="ctr" indent="0" marL="0">
              <a:buNone/>
            </a:pPr>
            <a:r>
              <a:rPr lang="en-US" sz="2200" b="1" dirty="0">
                <a:solidFill>
                  <a:srgbClr val="24476B"/>
                </a:solidFill>
                <a:latin typeface="Aptos" pitchFamily="34" charset="0"/>
                <a:ea typeface="Aptos" pitchFamily="34" charset="-122"/>
                <a:cs typeface="Aptos" pitchFamily="34" charset="-120"/>
              </a:rPr>
              <a:t>95–150</a:t>
            </a:r>
            <a:endParaRPr lang="en-US" sz="2200" dirty="0"/>
          </a:p>
        </p:txBody>
      </p:sp>
      <p:sp>
        <p:nvSpPr>
          <p:cNvPr id="14" name="Text 12"/>
          <p:cNvSpPr/>
          <p:nvPr/>
        </p:nvSpPr>
        <p:spPr>
          <a:xfrm>
            <a:off x="6473952" y="1883664"/>
            <a:ext cx="1965960" cy="219456"/>
          </a:xfrm>
          <a:prstGeom prst="rect">
            <a:avLst/>
          </a:prstGeom>
          <a:noFill/>
          <a:ln/>
        </p:spPr>
        <p:txBody>
          <a:bodyPr wrap="square" lIns="762" tIns="762" rIns="762" bIns="762" rtlCol="0" anchor="t">
            <a:normAutofit/>
          </a:bodyPr>
          <a:lstStyle/>
          <a:p>
            <a:pPr algn="ctr" indent="0" marL="0">
              <a:buNone/>
            </a:pPr>
            <a:r>
              <a:rPr lang="en-US" sz="950" dirty="0">
                <a:solidFill>
                  <a:srgbClr val="59636E"/>
                </a:solidFill>
                <a:latin typeface="Aptos" pitchFamily="34" charset="0"/>
                <a:ea typeface="Aptos" pitchFamily="34" charset="-122"/>
                <a:cs typeface="Aptos" pitchFamily="34" charset="-120"/>
              </a:rPr>
              <a:t>trials per participant</a:t>
            </a:r>
            <a:endParaRPr lang="en-US" sz="950" dirty="0"/>
          </a:p>
        </p:txBody>
      </p:sp>
      <p:sp>
        <p:nvSpPr>
          <p:cNvPr id="15" name="Shape 13"/>
          <p:cNvSpPr/>
          <p:nvPr/>
        </p:nvSpPr>
        <p:spPr>
          <a:xfrm>
            <a:off x="9116568" y="1353312"/>
            <a:ext cx="2286000" cy="960120"/>
          </a:xfrm>
          <a:prstGeom prst="roundRect">
            <a:avLst>
              <a:gd name="adj" fmla="val 7619"/>
            </a:avLst>
          </a:prstGeom>
          <a:solidFill>
            <a:srgbClr val="FFFFFF"/>
          </a:solidFill>
          <a:ln w="10160">
            <a:solidFill>
              <a:srgbClr val="C8BFAE"/>
            </a:solidFill>
            <a:prstDash val="solid"/>
          </a:ln>
        </p:spPr>
      </p:sp>
      <p:sp>
        <p:nvSpPr>
          <p:cNvPr id="16" name="Text 14"/>
          <p:cNvSpPr/>
          <p:nvPr/>
        </p:nvSpPr>
        <p:spPr>
          <a:xfrm>
            <a:off x="9299448" y="1517904"/>
            <a:ext cx="1920240" cy="320040"/>
          </a:xfrm>
          <a:prstGeom prst="rect">
            <a:avLst/>
          </a:prstGeom>
          <a:noFill/>
          <a:ln/>
        </p:spPr>
        <p:txBody>
          <a:bodyPr wrap="square" lIns="762" tIns="762" rIns="762" bIns="762" rtlCol="0" anchor="t">
            <a:normAutofit/>
          </a:bodyPr>
          <a:lstStyle/>
          <a:p>
            <a:pPr algn="ctr" indent="0" marL="0">
              <a:buNone/>
            </a:pPr>
            <a:r>
              <a:rPr lang="en-US" sz="2200" b="1" dirty="0">
                <a:solidFill>
                  <a:srgbClr val="24476B"/>
                </a:solidFill>
                <a:latin typeface="Aptos" pitchFamily="34" charset="0"/>
                <a:ea typeface="Aptos" pitchFamily="34" charset="-122"/>
                <a:cs typeface="Aptos" pitchFamily="34" charset="-120"/>
              </a:rPr>
              <a:t>CSV / TXT / R</a:t>
            </a:r>
            <a:endParaRPr lang="en-US" sz="2200" dirty="0"/>
          </a:p>
        </p:txBody>
      </p:sp>
      <p:sp>
        <p:nvSpPr>
          <p:cNvPr id="17" name="Text 15"/>
          <p:cNvSpPr/>
          <p:nvPr/>
        </p:nvSpPr>
        <p:spPr>
          <a:xfrm>
            <a:off x="9262872" y="1883664"/>
            <a:ext cx="1965960" cy="219456"/>
          </a:xfrm>
          <a:prstGeom prst="rect">
            <a:avLst/>
          </a:prstGeom>
          <a:noFill/>
          <a:ln/>
        </p:spPr>
        <p:txBody>
          <a:bodyPr wrap="square" lIns="762" tIns="762" rIns="762" bIns="762" rtlCol="0" anchor="t">
            <a:normAutofit/>
          </a:bodyPr>
          <a:lstStyle/>
          <a:p>
            <a:pPr algn="ctr" indent="0" marL="0">
              <a:buNone/>
            </a:pPr>
            <a:r>
              <a:rPr lang="en-US" sz="950" dirty="0">
                <a:solidFill>
                  <a:srgbClr val="59636E"/>
                </a:solidFill>
                <a:latin typeface="Aptos" pitchFamily="34" charset="0"/>
                <a:ea typeface="Aptos" pitchFamily="34" charset="-122"/>
                <a:cs typeface="Aptos" pitchFamily="34" charset="-120"/>
              </a:rPr>
              <a:t>processed files</a:t>
            </a:r>
            <a:endParaRPr lang="en-US" sz="950" dirty="0"/>
          </a:p>
        </p:txBody>
      </p:sp>
      <p:sp>
        <p:nvSpPr>
          <p:cNvPr id="18" name="Shape 16"/>
          <p:cNvSpPr/>
          <p:nvPr/>
        </p:nvSpPr>
        <p:spPr>
          <a:xfrm>
            <a:off x="713232" y="2816352"/>
            <a:ext cx="5394960" cy="2148840"/>
          </a:xfrm>
          <a:prstGeom prst="roundRect">
            <a:avLst>
              <a:gd name="adj" fmla="val 3404"/>
            </a:avLst>
          </a:prstGeom>
          <a:solidFill>
            <a:srgbClr val="FFFFFF"/>
          </a:solidFill>
          <a:ln w="10160">
            <a:solidFill>
              <a:srgbClr val="C8BFAE"/>
            </a:solidFill>
            <a:prstDash val="solid"/>
          </a:ln>
        </p:spPr>
      </p:sp>
      <p:sp>
        <p:nvSpPr>
          <p:cNvPr id="19" name="Text 17"/>
          <p:cNvSpPr/>
          <p:nvPr/>
        </p:nvSpPr>
        <p:spPr>
          <a:xfrm>
            <a:off x="960120" y="3090672"/>
            <a:ext cx="2926080" cy="256032"/>
          </a:xfrm>
          <a:prstGeom prst="rect">
            <a:avLst/>
          </a:prstGeom>
          <a:noFill/>
          <a:ln/>
        </p:spPr>
        <p:txBody>
          <a:bodyPr wrap="square" lIns="0" tIns="0" rIns="0" bIns="0" rtlCol="0" anchor="t">
            <a:normAutofit/>
          </a:bodyPr>
          <a:lstStyle/>
          <a:p>
            <a:pPr algn="l" indent="0" marL="0">
              <a:buNone/>
            </a:pPr>
            <a:r>
              <a:rPr lang="en-US" sz="1300" b="1" dirty="0">
                <a:solidFill>
                  <a:srgbClr val="24476B"/>
                </a:solidFill>
                <a:latin typeface="Aptos" pitchFamily="34" charset="0"/>
                <a:ea typeface="Aptos" pitchFamily="34" charset="-122"/>
                <a:cs typeface="Aptos" pitchFamily="34" charset="-120"/>
              </a:rPr>
              <a:t>What one subject contributes</a:t>
            </a:r>
            <a:endParaRPr lang="en-US" sz="1300" dirty="0"/>
          </a:p>
        </p:txBody>
      </p:sp>
      <p:sp>
        <p:nvSpPr>
          <p:cNvPr id="20" name="Text 18"/>
          <p:cNvSpPr/>
          <p:nvPr/>
        </p:nvSpPr>
        <p:spPr>
          <a:xfrm>
            <a:off x="960120" y="3474720"/>
            <a:ext cx="4617720" cy="822960"/>
          </a:xfrm>
          <a:prstGeom prst="rect">
            <a:avLst/>
          </a:prstGeom>
          <a:noFill/>
          <a:ln/>
        </p:spPr>
        <p:txBody>
          <a:bodyPr wrap="square" lIns="762" tIns="762" rIns="762" bIns="762" rtlCol="0" anchor="t">
            <a:normAutofit/>
          </a:bodyPr>
          <a:lstStyle/>
          <a:p>
            <a:pPr algn="l" indent="0" marL="0">
              <a:buNone/>
            </a:pPr>
            <a:r>
              <a:rPr lang="en-US" sz="1400" dirty="0">
                <a:solidFill>
                  <a:srgbClr val="17212B"/>
                </a:solidFill>
                <a:latin typeface="Aptos" pitchFamily="34" charset="0"/>
                <a:ea typeface="Aptos" pitchFamily="34" charset="-122"/>
                <a:cs typeface="Aptos" pitchFamily="34" charset="-120"/>
              </a:rPr>
              <a:t>A row in the original matrices corresponds to one participant. Across the row are the choices, rewards, and losses for each trial.</a:t>
            </a:r>
            <a:endParaRPr lang="en-US" sz="1400" dirty="0"/>
          </a:p>
        </p:txBody>
      </p:sp>
      <p:sp>
        <p:nvSpPr>
          <p:cNvPr id="21" name="Text 19"/>
          <p:cNvSpPr/>
          <p:nvPr/>
        </p:nvSpPr>
        <p:spPr>
          <a:xfrm>
            <a:off x="960120" y="4407408"/>
            <a:ext cx="4617720" cy="384048"/>
          </a:xfrm>
          <a:prstGeom prst="rect">
            <a:avLst/>
          </a:prstGeom>
          <a:noFill/>
          <a:ln/>
        </p:spPr>
        <p:txBody>
          <a:bodyPr wrap="square" lIns="762" tIns="762" rIns="762" bIns="762" rtlCol="0" anchor="t">
            <a:normAutofit/>
          </a:bodyPr>
          <a:lstStyle/>
          <a:p>
            <a:pPr algn="l" indent="0" marL="0">
              <a:buNone/>
            </a:pPr>
            <a:r>
              <a:rPr lang="en-US" sz="1300" dirty="0">
                <a:solidFill>
                  <a:srgbClr val="59636E"/>
                </a:solidFill>
                <a:latin typeface="Aptos" pitchFamily="34" charset="0"/>
                <a:ea typeface="Aptos" pitchFamily="34" charset="-122"/>
                <a:cs typeface="Aptos" pitchFamily="34" charset="-120"/>
              </a:rPr>
              <a:t>Example analysis format: subject ID, trial number, chosen deck, gain, loss, net outcome.</a:t>
            </a:r>
            <a:endParaRPr lang="en-US" sz="1300" dirty="0"/>
          </a:p>
        </p:txBody>
      </p:sp>
      <p:sp>
        <p:nvSpPr>
          <p:cNvPr id="22" name="Shape 20"/>
          <p:cNvSpPr/>
          <p:nvPr/>
        </p:nvSpPr>
        <p:spPr>
          <a:xfrm>
            <a:off x="6400800" y="2816352"/>
            <a:ext cx="4983480" cy="2148840"/>
          </a:xfrm>
          <a:prstGeom prst="roundRect">
            <a:avLst>
              <a:gd name="adj" fmla="val 3404"/>
            </a:avLst>
          </a:prstGeom>
          <a:solidFill>
            <a:srgbClr val="FFFFFF"/>
          </a:solidFill>
          <a:ln w="10160">
            <a:solidFill>
              <a:srgbClr val="C8BFAE"/>
            </a:solidFill>
            <a:prstDash val="solid"/>
          </a:ln>
        </p:spPr>
      </p:sp>
      <p:sp>
        <p:nvSpPr>
          <p:cNvPr id="23" name="Text 21"/>
          <p:cNvSpPr/>
          <p:nvPr/>
        </p:nvSpPr>
        <p:spPr>
          <a:xfrm>
            <a:off x="6647688" y="3090672"/>
            <a:ext cx="3383280" cy="256032"/>
          </a:xfrm>
          <a:prstGeom prst="rect">
            <a:avLst/>
          </a:prstGeom>
          <a:noFill/>
          <a:ln/>
        </p:spPr>
        <p:txBody>
          <a:bodyPr wrap="square" lIns="0" tIns="0" rIns="0" bIns="0" rtlCol="0" anchor="t">
            <a:normAutofit/>
          </a:bodyPr>
          <a:lstStyle/>
          <a:p>
            <a:pPr algn="l" indent="0" marL="0">
              <a:buNone/>
            </a:pPr>
            <a:r>
              <a:rPr lang="en-US" sz="1300" b="1" dirty="0">
                <a:solidFill>
                  <a:srgbClr val="2F6F5E"/>
                </a:solidFill>
                <a:latin typeface="Aptos" pitchFamily="34" charset="0"/>
                <a:ea typeface="Aptos" pitchFamily="34" charset="-122"/>
                <a:cs typeface="Aptos" pitchFamily="34" charset="-120"/>
              </a:rPr>
              <a:t>Why this data fits model comparison</a:t>
            </a:r>
            <a:endParaRPr lang="en-US" sz="1300" dirty="0"/>
          </a:p>
        </p:txBody>
      </p:sp>
      <p:sp>
        <p:nvSpPr>
          <p:cNvPr id="24" name="Text 22"/>
          <p:cNvSpPr/>
          <p:nvPr/>
        </p:nvSpPr>
        <p:spPr>
          <a:xfrm>
            <a:off x="6647688" y="3474720"/>
            <a:ext cx="4297680" cy="1143000"/>
          </a:xfrm>
          <a:prstGeom prst="rect">
            <a:avLst/>
          </a:prstGeom>
          <a:noFill/>
          <a:ln/>
        </p:spPr>
        <p:txBody>
          <a:bodyPr wrap="square" lIns="762" tIns="762" rIns="762" bIns="762" rtlCol="0" anchor="t">
            <a:normAutofit/>
          </a:bodyPr>
          <a:lstStyle/>
          <a:p>
            <a:pPr algn="l" indent="0" marL="0">
              <a:buNone/>
            </a:pPr>
            <a:r>
              <a:rPr lang="en-US" sz="1400" dirty="0">
                <a:solidFill>
                  <a:srgbClr val="17212B"/>
                </a:solidFill>
                <a:latin typeface="Aptos" pitchFamily="34" charset="0"/>
                <a:ea typeface="Aptos" pitchFamily="34" charset="-122"/>
                <a:cs typeface="Aptos" pitchFamily="34" charset="-120"/>
              </a:rPr>
              <a:t>The data are trial-level behavioral sequences. That means each model can be run through the same human experience and assigned a likelihood based on how well it predicts the actual choices.</a:t>
            </a:r>
            <a:endParaRPr lang="en-US" sz="1400" dirty="0"/>
          </a:p>
        </p:txBody>
      </p:sp>
      <p:sp>
        <p:nvSpPr>
          <p:cNvPr id="25" name="Text 23"/>
          <p:cNvSpPr/>
          <p:nvPr/>
        </p:nvSpPr>
        <p:spPr>
          <a:xfrm>
            <a:off x="530352" y="6565392"/>
            <a:ext cx="11109960" cy="164592"/>
          </a:xfrm>
          <a:prstGeom prst="rect">
            <a:avLst/>
          </a:prstGeom>
          <a:noFill/>
          <a:ln/>
        </p:spPr>
        <p:txBody>
          <a:bodyPr wrap="square" lIns="0" tIns="0" rIns="0" bIns="0" rtlCol="0" anchor="t">
            <a:normAutofit/>
          </a:bodyPr>
          <a:lstStyle/>
          <a:p>
            <a:pPr algn="l" indent="0" marL="0">
              <a:buNone/>
            </a:pPr>
            <a:r>
              <a:rPr lang="en-US" sz="650" dirty="0">
                <a:solidFill>
                  <a:srgbClr val="59636E"/>
                </a:solidFill>
                <a:latin typeface="Aptos" pitchFamily="34" charset="0"/>
                <a:ea typeface="Aptos" pitchFamily="34" charset="-122"/>
                <a:cs typeface="Aptos" pitchFamily="34" charset="-120"/>
              </a:rPr>
              <a:t>Source: Steingroever et al. (2015), Journal of Open Psychology Data: N=617, 10 studies, 95–150 trials, choices/rewards/losses in .rdata/.csv/.txt.</a:t>
            </a:r>
            <a:endParaRPr lang="en-US" sz="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C"/>
        </a:solidFill>
      </p:bgPr>
    </p:bg>
    <p:spTree>
      <p:nvGrpSpPr>
        <p:cNvPr id="1" name=""/>
        <p:cNvGrpSpPr/>
        <p:nvPr/>
      </p:nvGrpSpPr>
      <p:grpSpPr>
        <a:xfrm>
          <a:off x="0" y="0"/>
          <a:ext cx="0" cy="0"/>
          <a:chOff x="0" y="0"/>
          <a:chExt cx="0" cy="0"/>
        </a:xfrm>
      </p:grpSpPr>
      <p:sp>
        <p:nvSpPr>
          <p:cNvPr id="2" name="Text 0"/>
          <p:cNvSpPr/>
          <p:nvPr/>
        </p:nvSpPr>
        <p:spPr>
          <a:xfrm>
            <a:off x="502920" y="256032"/>
            <a:ext cx="9692640" cy="438912"/>
          </a:xfrm>
          <a:prstGeom prst="rect">
            <a:avLst/>
          </a:prstGeom>
          <a:noFill/>
          <a:ln/>
        </p:spPr>
        <p:txBody>
          <a:bodyPr wrap="square" lIns="0" tIns="0" rIns="0" bIns="0" rtlCol="0" anchor="ctr">
            <a:normAutofit/>
          </a:bodyPr>
          <a:lstStyle/>
          <a:p>
            <a:pPr indent="0" marL="0">
              <a:buNone/>
            </a:pPr>
            <a:r>
              <a:rPr lang="en-US" sz="2600" b="1" dirty="0">
                <a:solidFill>
                  <a:srgbClr val="17212B"/>
                </a:solidFill>
                <a:latin typeface="Aptos Display" pitchFamily="34" charset="0"/>
                <a:ea typeface="Aptos Display" pitchFamily="34" charset="-122"/>
                <a:cs typeface="Aptos Display" pitchFamily="34" charset="-120"/>
              </a:rPr>
              <a:t>How the data become a modeling problem</a:t>
            </a:r>
            <a:endParaRPr lang="en-US" sz="2600" dirty="0"/>
          </a:p>
        </p:txBody>
      </p:sp>
      <p:sp>
        <p:nvSpPr>
          <p:cNvPr id="3" name="Text 1"/>
          <p:cNvSpPr/>
          <p:nvPr/>
        </p:nvSpPr>
        <p:spPr>
          <a:xfrm>
            <a:off x="530352" y="758952"/>
            <a:ext cx="9875520" cy="256032"/>
          </a:xfrm>
          <a:prstGeom prst="rect">
            <a:avLst/>
          </a:prstGeom>
          <a:noFill/>
          <a:ln/>
        </p:spPr>
        <p:txBody>
          <a:bodyPr wrap="square" lIns="0" tIns="0" rIns="0" bIns="0" rtlCol="0" anchor="ctr">
            <a:normAutofit/>
          </a:bodyPr>
          <a:lstStyle/>
          <a:p>
            <a:pPr indent="0" marL="0">
              <a:buNone/>
            </a:pPr>
            <a:r>
              <a:rPr lang="en-US" sz="1150" dirty="0">
                <a:solidFill>
                  <a:srgbClr val="59636E"/>
                </a:solidFill>
                <a:latin typeface="Aptos" pitchFamily="34" charset="0"/>
                <a:ea typeface="Aptos" pitchFamily="34" charset="-122"/>
                <a:cs typeface="Aptos" pitchFamily="34" charset="-120"/>
              </a:rPr>
              <a:t>Each model predicts the next deck choice from the participant’s previous choices and outcomes</a:t>
            </a:r>
            <a:endParaRPr lang="en-US" sz="1150" dirty="0"/>
          </a:p>
        </p:txBody>
      </p:sp>
      <p:sp>
        <p:nvSpPr>
          <p:cNvPr id="4" name="Text 2"/>
          <p:cNvSpPr/>
          <p:nvPr/>
        </p:nvSpPr>
        <p:spPr>
          <a:xfrm>
            <a:off x="11109960" y="256032"/>
            <a:ext cx="566928" cy="292608"/>
          </a:xfrm>
          <a:prstGeom prst="rect">
            <a:avLst/>
          </a:prstGeom>
          <a:noFill/>
          <a:ln/>
        </p:spPr>
        <p:txBody>
          <a:bodyPr wrap="square" lIns="0" tIns="0" rIns="0" bIns="0" rtlCol="0" anchor="ctr"/>
          <a:lstStyle/>
          <a:p>
            <a:pPr algn="r" indent="0" marL="0">
              <a:buNone/>
            </a:pPr>
            <a:r>
              <a:rPr lang="en-US" sz="1300" b="1" dirty="0">
                <a:solidFill>
                  <a:srgbClr val="24476B"/>
                </a:solidFill>
              </a:rPr>
              <a:t>05</a:t>
            </a:r>
            <a:endParaRPr lang="en-US" sz="1300" dirty="0"/>
          </a:p>
        </p:txBody>
      </p:sp>
      <p:sp>
        <p:nvSpPr>
          <p:cNvPr id="5" name="Shape 3"/>
          <p:cNvSpPr/>
          <p:nvPr/>
        </p:nvSpPr>
        <p:spPr>
          <a:xfrm>
            <a:off x="502920" y="987552"/>
            <a:ext cx="11155680" cy="0"/>
          </a:xfrm>
          <a:prstGeom prst="line">
            <a:avLst/>
          </a:prstGeom>
          <a:noFill/>
          <a:ln w="7620">
            <a:solidFill>
              <a:srgbClr val="C8BFAE"/>
            </a:solidFill>
            <a:prstDash val="solid"/>
          </a:ln>
        </p:spPr>
      </p:sp>
      <p:sp>
        <p:nvSpPr>
          <p:cNvPr id="6" name="Shape 4"/>
          <p:cNvSpPr/>
          <p:nvPr/>
        </p:nvSpPr>
        <p:spPr>
          <a:xfrm>
            <a:off x="640080" y="1600200"/>
            <a:ext cx="2148840" cy="914400"/>
          </a:xfrm>
          <a:prstGeom prst="roundRect">
            <a:avLst>
              <a:gd name="adj" fmla="val 8000"/>
            </a:avLst>
          </a:prstGeom>
          <a:solidFill>
            <a:srgbClr val="FFFFFF"/>
          </a:solidFill>
          <a:ln w="10160">
            <a:solidFill>
              <a:srgbClr val="C8BFAE"/>
            </a:solidFill>
            <a:prstDash val="solid"/>
          </a:ln>
        </p:spPr>
      </p:sp>
      <p:sp>
        <p:nvSpPr>
          <p:cNvPr id="7" name="Text 5"/>
          <p:cNvSpPr/>
          <p:nvPr/>
        </p:nvSpPr>
        <p:spPr>
          <a:xfrm>
            <a:off x="822960" y="1764792"/>
            <a:ext cx="1783080" cy="228600"/>
          </a:xfrm>
          <a:prstGeom prst="rect">
            <a:avLst/>
          </a:prstGeom>
          <a:noFill/>
          <a:ln/>
        </p:spPr>
        <p:txBody>
          <a:bodyPr wrap="square" lIns="762" tIns="762" rIns="762" bIns="762" rtlCol="0" anchor="t">
            <a:normAutofit/>
          </a:bodyPr>
          <a:lstStyle/>
          <a:p>
            <a:pPr algn="ctr" indent="0" marL="0">
              <a:buNone/>
            </a:pPr>
            <a:r>
              <a:rPr lang="en-US" sz="1350" b="1" dirty="0">
                <a:solidFill>
                  <a:srgbClr val="24476B"/>
                </a:solidFill>
                <a:latin typeface="Aptos" pitchFamily="34" charset="0"/>
                <a:ea typeface="Aptos" pitchFamily="34" charset="-122"/>
                <a:cs typeface="Aptos" pitchFamily="34" charset="-120"/>
              </a:rPr>
              <a:t>Trial history</a:t>
            </a:r>
            <a:endParaRPr lang="en-US" sz="1350" dirty="0"/>
          </a:p>
        </p:txBody>
      </p:sp>
      <p:sp>
        <p:nvSpPr>
          <p:cNvPr id="8" name="Text 6"/>
          <p:cNvSpPr/>
          <p:nvPr/>
        </p:nvSpPr>
        <p:spPr>
          <a:xfrm>
            <a:off x="822960" y="2093976"/>
            <a:ext cx="1783080" cy="256032"/>
          </a:xfrm>
          <a:prstGeom prst="rect">
            <a:avLst/>
          </a:prstGeom>
          <a:noFill/>
          <a:ln/>
        </p:spPr>
        <p:txBody>
          <a:bodyPr wrap="square" lIns="762" tIns="762" rIns="762" bIns="762" rtlCol="0" anchor="t">
            <a:normAutofit/>
          </a:bodyPr>
          <a:lstStyle/>
          <a:p>
            <a:pPr algn="ctr" indent="0" marL="0">
              <a:buNone/>
            </a:pPr>
            <a:r>
              <a:rPr lang="en-US" sz="880" dirty="0">
                <a:solidFill>
                  <a:srgbClr val="59636E"/>
                </a:solidFill>
                <a:latin typeface="Aptos" pitchFamily="34" charset="0"/>
                <a:ea typeface="Aptos" pitchFamily="34" charset="-122"/>
                <a:cs typeface="Aptos" pitchFamily="34" charset="-120"/>
              </a:rPr>
              <a:t>choices + gains/losses so far</a:t>
            </a:r>
            <a:endParaRPr lang="en-US" sz="880" dirty="0"/>
          </a:p>
        </p:txBody>
      </p:sp>
      <p:sp>
        <p:nvSpPr>
          <p:cNvPr id="9" name="Shape 7"/>
          <p:cNvSpPr/>
          <p:nvPr/>
        </p:nvSpPr>
        <p:spPr>
          <a:xfrm>
            <a:off x="2788920" y="2057400"/>
            <a:ext cx="521208" cy="0"/>
          </a:xfrm>
          <a:prstGeom prst="line">
            <a:avLst/>
          </a:prstGeom>
          <a:noFill/>
          <a:ln w="16510">
            <a:solidFill>
              <a:srgbClr val="24476B"/>
            </a:solidFill>
            <a:prstDash val="solid"/>
            <a:headEnd type="none"/>
            <a:tailEnd type="triangle"/>
          </a:ln>
        </p:spPr>
      </p:sp>
      <p:sp>
        <p:nvSpPr>
          <p:cNvPr id="10" name="Shape 8"/>
          <p:cNvSpPr/>
          <p:nvPr/>
        </p:nvSpPr>
        <p:spPr>
          <a:xfrm>
            <a:off x="3474720" y="1600200"/>
            <a:ext cx="2148840" cy="914400"/>
          </a:xfrm>
          <a:prstGeom prst="roundRect">
            <a:avLst>
              <a:gd name="adj" fmla="val 8000"/>
            </a:avLst>
          </a:prstGeom>
          <a:solidFill>
            <a:srgbClr val="FFFFFF"/>
          </a:solidFill>
          <a:ln w="10160">
            <a:solidFill>
              <a:srgbClr val="C8BFAE"/>
            </a:solidFill>
            <a:prstDash val="solid"/>
          </a:ln>
        </p:spPr>
      </p:sp>
      <p:sp>
        <p:nvSpPr>
          <p:cNvPr id="11" name="Text 9"/>
          <p:cNvSpPr/>
          <p:nvPr/>
        </p:nvSpPr>
        <p:spPr>
          <a:xfrm>
            <a:off x="3657600" y="1764792"/>
            <a:ext cx="1783080" cy="228600"/>
          </a:xfrm>
          <a:prstGeom prst="rect">
            <a:avLst/>
          </a:prstGeom>
          <a:noFill/>
          <a:ln/>
        </p:spPr>
        <p:txBody>
          <a:bodyPr wrap="square" lIns="762" tIns="762" rIns="762" bIns="762" rtlCol="0" anchor="t">
            <a:normAutofit/>
          </a:bodyPr>
          <a:lstStyle/>
          <a:p>
            <a:pPr algn="ctr" indent="0" marL="0">
              <a:buNone/>
            </a:pPr>
            <a:r>
              <a:rPr lang="en-US" sz="1350" b="1" dirty="0">
                <a:solidFill>
                  <a:srgbClr val="24476B"/>
                </a:solidFill>
                <a:latin typeface="Aptos" pitchFamily="34" charset="0"/>
                <a:ea typeface="Aptos" pitchFamily="34" charset="-122"/>
                <a:cs typeface="Aptos" pitchFamily="34" charset="-120"/>
              </a:rPr>
              <a:t>Internal values</a:t>
            </a:r>
            <a:endParaRPr lang="en-US" sz="1350" dirty="0"/>
          </a:p>
        </p:txBody>
      </p:sp>
      <p:sp>
        <p:nvSpPr>
          <p:cNvPr id="12" name="Text 10"/>
          <p:cNvSpPr/>
          <p:nvPr/>
        </p:nvSpPr>
        <p:spPr>
          <a:xfrm>
            <a:off x="3657600" y="2093976"/>
            <a:ext cx="1783080" cy="256032"/>
          </a:xfrm>
          <a:prstGeom prst="rect">
            <a:avLst/>
          </a:prstGeom>
          <a:noFill/>
          <a:ln/>
        </p:spPr>
        <p:txBody>
          <a:bodyPr wrap="square" lIns="762" tIns="762" rIns="762" bIns="762" rtlCol="0" anchor="t">
            <a:normAutofit/>
          </a:bodyPr>
          <a:lstStyle/>
          <a:p>
            <a:pPr algn="ctr" indent="0" marL="0">
              <a:buNone/>
            </a:pPr>
            <a:r>
              <a:rPr lang="en-US" sz="880" dirty="0">
                <a:solidFill>
                  <a:srgbClr val="59636E"/>
                </a:solidFill>
                <a:latin typeface="Aptos" pitchFamily="34" charset="0"/>
                <a:ea typeface="Aptos" pitchFamily="34" charset="-122"/>
                <a:cs typeface="Aptos" pitchFamily="34" charset="-120"/>
              </a:rPr>
              <a:t>estimated value for A/B/C/D</a:t>
            </a:r>
            <a:endParaRPr lang="en-US" sz="880" dirty="0"/>
          </a:p>
        </p:txBody>
      </p:sp>
      <p:sp>
        <p:nvSpPr>
          <p:cNvPr id="13" name="Shape 11"/>
          <p:cNvSpPr/>
          <p:nvPr/>
        </p:nvSpPr>
        <p:spPr>
          <a:xfrm>
            <a:off x="5623560" y="2057400"/>
            <a:ext cx="521208" cy="0"/>
          </a:xfrm>
          <a:prstGeom prst="line">
            <a:avLst/>
          </a:prstGeom>
          <a:noFill/>
          <a:ln w="16510">
            <a:solidFill>
              <a:srgbClr val="24476B"/>
            </a:solidFill>
            <a:prstDash val="solid"/>
            <a:headEnd type="none"/>
            <a:tailEnd type="triangle"/>
          </a:ln>
        </p:spPr>
      </p:sp>
      <p:sp>
        <p:nvSpPr>
          <p:cNvPr id="14" name="Shape 12"/>
          <p:cNvSpPr/>
          <p:nvPr/>
        </p:nvSpPr>
        <p:spPr>
          <a:xfrm>
            <a:off x="6309360" y="1600200"/>
            <a:ext cx="2148840" cy="914400"/>
          </a:xfrm>
          <a:prstGeom prst="roundRect">
            <a:avLst>
              <a:gd name="adj" fmla="val 8000"/>
            </a:avLst>
          </a:prstGeom>
          <a:solidFill>
            <a:srgbClr val="DCE8F4"/>
          </a:solidFill>
          <a:ln w="10160">
            <a:solidFill>
              <a:srgbClr val="C8BFAE"/>
            </a:solidFill>
            <a:prstDash val="solid"/>
          </a:ln>
        </p:spPr>
      </p:sp>
      <p:sp>
        <p:nvSpPr>
          <p:cNvPr id="15" name="Text 13"/>
          <p:cNvSpPr/>
          <p:nvPr/>
        </p:nvSpPr>
        <p:spPr>
          <a:xfrm>
            <a:off x="6492240" y="1764792"/>
            <a:ext cx="1783080" cy="228600"/>
          </a:xfrm>
          <a:prstGeom prst="rect">
            <a:avLst/>
          </a:prstGeom>
          <a:noFill/>
          <a:ln/>
        </p:spPr>
        <p:txBody>
          <a:bodyPr wrap="square" lIns="762" tIns="762" rIns="762" bIns="762" rtlCol="0" anchor="t">
            <a:normAutofit/>
          </a:bodyPr>
          <a:lstStyle/>
          <a:p>
            <a:pPr algn="ctr" indent="0" marL="0">
              <a:buNone/>
            </a:pPr>
            <a:r>
              <a:rPr lang="en-US" sz="1350" b="1" dirty="0">
                <a:solidFill>
                  <a:srgbClr val="24476B"/>
                </a:solidFill>
                <a:latin typeface="Aptos" pitchFamily="34" charset="0"/>
                <a:ea typeface="Aptos" pitchFamily="34" charset="-122"/>
                <a:cs typeface="Aptos" pitchFamily="34" charset="-120"/>
              </a:rPr>
              <a:t>Choice probabilities</a:t>
            </a:r>
            <a:endParaRPr lang="en-US" sz="1350" dirty="0"/>
          </a:p>
        </p:txBody>
      </p:sp>
      <p:sp>
        <p:nvSpPr>
          <p:cNvPr id="16" name="Text 14"/>
          <p:cNvSpPr/>
          <p:nvPr/>
        </p:nvSpPr>
        <p:spPr>
          <a:xfrm>
            <a:off x="6492240" y="2093976"/>
            <a:ext cx="1783080" cy="256032"/>
          </a:xfrm>
          <a:prstGeom prst="rect">
            <a:avLst/>
          </a:prstGeom>
          <a:noFill/>
          <a:ln/>
        </p:spPr>
        <p:txBody>
          <a:bodyPr wrap="square" lIns="762" tIns="762" rIns="762" bIns="762" rtlCol="0" anchor="t">
            <a:normAutofit/>
          </a:bodyPr>
          <a:lstStyle/>
          <a:p>
            <a:pPr algn="ctr" indent="0" marL="0">
              <a:buNone/>
            </a:pPr>
            <a:r>
              <a:rPr lang="en-US" sz="880" dirty="0">
                <a:solidFill>
                  <a:srgbClr val="59636E"/>
                </a:solidFill>
                <a:latin typeface="Aptos" pitchFamily="34" charset="0"/>
                <a:ea typeface="Aptos" pitchFamily="34" charset="-122"/>
                <a:cs typeface="Aptos" pitchFamily="34" charset="-120"/>
              </a:rPr>
              <a:t>P(A), P(B), P(C), P(D)</a:t>
            </a:r>
            <a:endParaRPr lang="en-US" sz="880" dirty="0"/>
          </a:p>
        </p:txBody>
      </p:sp>
      <p:sp>
        <p:nvSpPr>
          <p:cNvPr id="17" name="Shape 15"/>
          <p:cNvSpPr/>
          <p:nvPr/>
        </p:nvSpPr>
        <p:spPr>
          <a:xfrm>
            <a:off x="8458200" y="2057400"/>
            <a:ext cx="521208" cy="0"/>
          </a:xfrm>
          <a:prstGeom prst="line">
            <a:avLst/>
          </a:prstGeom>
          <a:noFill/>
          <a:ln w="16510">
            <a:solidFill>
              <a:srgbClr val="24476B"/>
            </a:solidFill>
            <a:prstDash val="solid"/>
            <a:headEnd type="none"/>
            <a:tailEnd type="triangle"/>
          </a:ln>
        </p:spPr>
      </p:sp>
      <p:sp>
        <p:nvSpPr>
          <p:cNvPr id="18" name="Shape 16"/>
          <p:cNvSpPr/>
          <p:nvPr/>
        </p:nvSpPr>
        <p:spPr>
          <a:xfrm>
            <a:off x="9144000" y="1600200"/>
            <a:ext cx="2148840" cy="914400"/>
          </a:xfrm>
          <a:prstGeom prst="roundRect">
            <a:avLst>
              <a:gd name="adj" fmla="val 8000"/>
            </a:avLst>
          </a:prstGeom>
          <a:solidFill>
            <a:srgbClr val="FFFFFF"/>
          </a:solidFill>
          <a:ln w="10160">
            <a:solidFill>
              <a:srgbClr val="C8BFAE"/>
            </a:solidFill>
            <a:prstDash val="solid"/>
          </a:ln>
        </p:spPr>
      </p:sp>
      <p:sp>
        <p:nvSpPr>
          <p:cNvPr id="19" name="Text 17"/>
          <p:cNvSpPr/>
          <p:nvPr/>
        </p:nvSpPr>
        <p:spPr>
          <a:xfrm>
            <a:off x="9326880" y="1764792"/>
            <a:ext cx="1783080" cy="228600"/>
          </a:xfrm>
          <a:prstGeom prst="rect">
            <a:avLst/>
          </a:prstGeom>
          <a:noFill/>
          <a:ln/>
        </p:spPr>
        <p:txBody>
          <a:bodyPr wrap="square" lIns="762" tIns="762" rIns="762" bIns="762" rtlCol="0" anchor="t">
            <a:normAutofit/>
          </a:bodyPr>
          <a:lstStyle/>
          <a:p>
            <a:pPr algn="ctr" indent="0" marL="0">
              <a:buNone/>
            </a:pPr>
            <a:r>
              <a:rPr lang="en-US" sz="1350" b="1" dirty="0">
                <a:solidFill>
                  <a:srgbClr val="24476B"/>
                </a:solidFill>
                <a:latin typeface="Aptos" pitchFamily="34" charset="0"/>
                <a:ea typeface="Aptos" pitchFamily="34" charset="-122"/>
                <a:cs typeface="Aptos" pitchFamily="34" charset="-120"/>
              </a:rPr>
              <a:t>Actual choice</a:t>
            </a:r>
            <a:endParaRPr lang="en-US" sz="1350" dirty="0"/>
          </a:p>
        </p:txBody>
      </p:sp>
      <p:sp>
        <p:nvSpPr>
          <p:cNvPr id="20" name="Text 18"/>
          <p:cNvSpPr/>
          <p:nvPr/>
        </p:nvSpPr>
        <p:spPr>
          <a:xfrm>
            <a:off x="9326880" y="2093976"/>
            <a:ext cx="1783080" cy="256032"/>
          </a:xfrm>
          <a:prstGeom prst="rect">
            <a:avLst/>
          </a:prstGeom>
          <a:noFill/>
          <a:ln/>
        </p:spPr>
        <p:txBody>
          <a:bodyPr wrap="square" lIns="762" tIns="762" rIns="762" bIns="762" rtlCol="0" anchor="t">
            <a:normAutofit/>
          </a:bodyPr>
          <a:lstStyle/>
          <a:p>
            <a:pPr algn="ctr" indent="0" marL="0">
              <a:buNone/>
            </a:pPr>
            <a:r>
              <a:rPr lang="en-US" sz="880" dirty="0">
                <a:solidFill>
                  <a:srgbClr val="59636E"/>
                </a:solidFill>
                <a:latin typeface="Aptos" pitchFamily="34" charset="0"/>
                <a:ea typeface="Aptos" pitchFamily="34" charset="-122"/>
                <a:cs typeface="Aptos" pitchFamily="34" charset="-120"/>
              </a:rPr>
              <a:t>likelihood of what human chose</a:t>
            </a:r>
            <a:endParaRPr lang="en-US" sz="880" dirty="0"/>
          </a:p>
        </p:txBody>
      </p:sp>
      <p:sp>
        <p:nvSpPr>
          <p:cNvPr id="21" name="Shape 19"/>
          <p:cNvSpPr/>
          <p:nvPr/>
        </p:nvSpPr>
        <p:spPr>
          <a:xfrm>
            <a:off x="777240" y="3273552"/>
            <a:ext cx="4983480" cy="1691640"/>
          </a:xfrm>
          <a:prstGeom prst="roundRect">
            <a:avLst>
              <a:gd name="adj" fmla="val 4324"/>
            </a:avLst>
          </a:prstGeom>
          <a:solidFill>
            <a:srgbClr val="FFFFFF"/>
          </a:solidFill>
          <a:ln w="10160">
            <a:solidFill>
              <a:srgbClr val="C8BFAE"/>
            </a:solidFill>
            <a:prstDash val="solid"/>
          </a:ln>
        </p:spPr>
      </p:sp>
      <p:sp>
        <p:nvSpPr>
          <p:cNvPr id="22" name="Text 20"/>
          <p:cNvSpPr/>
          <p:nvPr/>
        </p:nvSpPr>
        <p:spPr>
          <a:xfrm>
            <a:off x="1024128" y="3529584"/>
            <a:ext cx="2194560" cy="256032"/>
          </a:xfrm>
          <a:prstGeom prst="rect">
            <a:avLst/>
          </a:prstGeom>
          <a:noFill/>
          <a:ln/>
        </p:spPr>
        <p:txBody>
          <a:bodyPr wrap="square" lIns="0" tIns="0" rIns="0" bIns="0" rtlCol="0" anchor="t">
            <a:normAutofit/>
          </a:bodyPr>
          <a:lstStyle/>
          <a:p>
            <a:pPr algn="l" indent="0" marL="0">
              <a:buNone/>
            </a:pPr>
            <a:r>
              <a:rPr lang="en-US" sz="1300" b="1" dirty="0">
                <a:solidFill>
                  <a:srgbClr val="9C3D2E"/>
                </a:solidFill>
                <a:latin typeface="Aptos" pitchFamily="34" charset="0"/>
                <a:ea typeface="Aptos" pitchFamily="34" charset="-122"/>
                <a:cs typeface="Aptos" pitchFamily="34" charset="-120"/>
              </a:rPr>
              <a:t>Important distinction</a:t>
            </a:r>
            <a:endParaRPr lang="en-US" sz="1300" dirty="0"/>
          </a:p>
        </p:txBody>
      </p:sp>
      <p:sp>
        <p:nvSpPr>
          <p:cNvPr id="23" name="Text 21"/>
          <p:cNvSpPr/>
          <p:nvPr/>
        </p:nvSpPr>
        <p:spPr>
          <a:xfrm>
            <a:off x="1024128" y="3895344"/>
            <a:ext cx="4343400" cy="694944"/>
          </a:xfrm>
          <a:prstGeom prst="rect">
            <a:avLst/>
          </a:prstGeom>
          <a:noFill/>
          <a:ln/>
        </p:spPr>
        <p:txBody>
          <a:bodyPr wrap="square" lIns="762" tIns="762" rIns="762" bIns="762" rtlCol="0" anchor="t">
            <a:normAutofit/>
          </a:bodyPr>
          <a:lstStyle/>
          <a:p>
            <a:pPr algn="l" indent="0" marL="0">
              <a:buNone/>
            </a:pPr>
            <a:r>
              <a:rPr lang="en-US" sz="1500" dirty="0">
                <a:solidFill>
                  <a:srgbClr val="17212B"/>
                </a:solidFill>
                <a:latin typeface="Aptos" pitchFamily="34" charset="0"/>
                <a:ea typeface="Aptos" pitchFamily="34" charset="-122"/>
                <a:cs typeface="Aptos" pitchFamily="34" charset="-120"/>
              </a:rPr>
              <a:t>We are not asking which model wins the most money. We ask which model assigns higher probability to the choices humans actually made.</a:t>
            </a:r>
            <a:endParaRPr lang="en-US" sz="1500" dirty="0"/>
          </a:p>
        </p:txBody>
      </p:sp>
      <p:sp>
        <p:nvSpPr>
          <p:cNvPr id="24" name="Shape 22"/>
          <p:cNvSpPr/>
          <p:nvPr/>
        </p:nvSpPr>
        <p:spPr>
          <a:xfrm>
            <a:off x="6263640" y="3273552"/>
            <a:ext cx="5257800" cy="1691640"/>
          </a:xfrm>
          <a:prstGeom prst="roundRect">
            <a:avLst>
              <a:gd name="adj" fmla="val 4324"/>
            </a:avLst>
          </a:prstGeom>
          <a:solidFill>
            <a:srgbClr val="FFFFFF"/>
          </a:solidFill>
          <a:ln w="10160">
            <a:solidFill>
              <a:srgbClr val="C8BFAE"/>
            </a:solidFill>
            <a:prstDash val="solid"/>
          </a:ln>
        </p:spPr>
      </p:sp>
      <p:sp>
        <p:nvSpPr>
          <p:cNvPr id="25" name="Text 23"/>
          <p:cNvSpPr/>
          <p:nvPr/>
        </p:nvSpPr>
        <p:spPr>
          <a:xfrm>
            <a:off x="6510528" y="3529584"/>
            <a:ext cx="2194560" cy="256032"/>
          </a:xfrm>
          <a:prstGeom prst="rect">
            <a:avLst/>
          </a:prstGeom>
          <a:noFill/>
          <a:ln/>
        </p:spPr>
        <p:txBody>
          <a:bodyPr wrap="square" lIns="0" tIns="0" rIns="0" bIns="0" rtlCol="0" anchor="t">
            <a:normAutofit/>
          </a:bodyPr>
          <a:lstStyle/>
          <a:p>
            <a:pPr algn="l" indent="0" marL="0">
              <a:buNone/>
            </a:pPr>
            <a:r>
              <a:rPr lang="en-US" sz="1300" b="1" dirty="0">
                <a:solidFill>
                  <a:srgbClr val="2F6F5E"/>
                </a:solidFill>
                <a:latin typeface="Aptos" pitchFamily="34" charset="0"/>
                <a:ea typeface="Aptos" pitchFamily="34" charset="-122"/>
                <a:cs typeface="Aptos" pitchFamily="34" charset="-120"/>
              </a:rPr>
              <a:t>Parameter values</a:t>
            </a:r>
            <a:endParaRPr lang="en-US" sz="1300" dirty="0"/>
          </a:p>
        </p:txBody>
      </p:sp>
      <p:sp>
        <p:nvSpPr>
          <p:cNvPr id="26" name="Text 24"/>
          <p:cNvSpPr/>
          <p:nvPr/>
        </p:nvSpPr>
        <p:spPr>
          <a:xfrm>
            <a:off x="6510528" y="3895344"/>
            <a:ext cx="4526280" cy="713232"/>
          </a:xfrm>
          <a:prstGeom prst="rect">
            <a:avLst/>
          </a:prstGeom>
          <a:noFill/>
          <a:ln/>
        </p:spPr>
        <p:txBody>
          <a:bodyPr wrap="square" lIns="762" tIns="762" rIns="762" bIns="762" rtlCol="0" anchor="t">
            <a:normAutofit/>
          </a:bodyPr>
          <a:lstStyle/>
          <a:p>
            <a:pPr algn="l" indent="0" marL="0">
              <a:buNone/>
            </a:pPr>
            <a:r>
              <a:rPr lang="en-US" sz="1500" dirty="0">
                <a:solidFill>
                  <a:srgbClr val="17212B"/>
                </a:solidFill>
                <a:latin typeface="Aptos" pitchFamily="34" charset="0"/>
                <a:ea typeface="Aptos" pitchFamily="34" charset="-122"/>
                <a:cs typeface="Aptos" pitchFamily="34" charset="-120"/>
              </a:rPr>
              <a:t>The values of learning rate, loss aversion, and choice sensitivity are not chosen by hand. They are estimated separately for each participant by maximizing choice likelihood.</a:t>
            </a:r>
            <a:endParaRPr lang="en-US" sz="1500" dirty="0"/>
          </a:p>
        </p:txBody>
      </p:sp>
      <p:sp>
        <p:nvSpPr>
          <p:cNvPr id="27" name="Text 25"/>
          <p:cNvSpPr/>
          <p:nvPr/>
        </p:nvSpPr>
        <p:spPr>
          <a:xfrm>
            <a:off x="530352" y="6565392"/>
            <a:ext cx="11109960" cy="164592"/>
          </a:xfrm>
          <a:prstGeom prst="rect">
            <a:avLst/>
          </a:prstGeom>
          <a:noFill/>
          <a:ln/>
        </p:spPr>
        <p:txBody>
          <a:bodyPr wrap="square" lIns="0" tIns="0" rIns="0" bIns="0" rtlCol="0" anchor="t">
            <a:normAutofit/>
          </a:bodyPr>
          <a:lstStyle/>
          <a:p>
            <a:pPr algn="l" indent="0" marL="0">
              <a:buNone/>
            </a:pPr>
            <a:r>
              <a:rPr lang="en-US" sz="650" dirty="0">
                <a:solidFill>
                  <a:srgbClr val="59636E"/>
                </a:solidFill>
                <a:latin typeface="Aptos" pitchFamily="34" charset="0"/>
                <a:ea typeface="Aptos" pitchFamily="34" charset="-122"/>
                <a:cs typeface="Aptos" pitchFamily="34" charset="-120"/>
              </a:rPr>
              <a:t>Model fitting = choosing parameter values that best predict the observed trial-by-trial choices.</a:t>
            </a:r>
            <a:endParaRPr lang="en-US" sz="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C"/>
        </a:solidFill>
      </p:bgPr>
    </p:bg>
    <p:spTree>
      <p:nvGrpSpPr>
        <p:cNvPr id="1" name=""/>
        <p:cNvGrpSpPr/>
        <p:nvPr/>
      </p:nvGrpSpPr>
      <p:grpSpPr>
        <a:xfrm>
          <a:off x="0" y="0"/>
          <a:ext cx="0" cy="0"/>
          <a:chOff x="0" y="0"/>
          <a:chExt cx="0" cy="0"/>
        </a:xfrm>
      </p:grpSpPr>
      <p:sp>
        <p:nvSpPr>
          <p:cNvPr id="2" name="Text 0"/>
          <p:cNvSpPr/>
          <p:nvPr/>
        </p:nvSpPr>
        <p:spPr>
          <a:xfrm>
            <a:off x="502920" y="256032"/>
            <a:ext cx="9692640" cy="438912"/>
          </a:xfrm>
          <a:prstGeom prst="rect">
            <a:avLst/>
          </a:prstGeom>
          <a:noFill/>
          <a:ln/>
        </p:spPr>
        <p:txBody>
          <a:bodyPr wrap="square" lIns="0" tIns="0" rIns="0" bIns="0" rtlCol="0" anchor="ctr">
            <a:normAutofit/>
          </a:bodyPr>
          <a:lstStyle/>
          <a:p>
            <a:pPr indent="0" marL="0">
              <a:buNone/>
            </a:pPr>
            <a:r>
              <a:rPr lang="en-US" sz="2600" b="1" dirty="0">
                <a:solidFill>
                  <a:srgbClr val="17212B"/>
                </a:solidFill>
                <a:latin typeface="Aptos Display" pitchFamily="34" charset="0"/>
                <a:ea typeface="Aptos Display" pitchFamily="34" charset="-122"/>
                <a:cs typeface="Aptos Display" pitchFamily="34" charset="-120"/>
              </a:rPr>
              <a:t>Connection to TD learning from class</a:t>
            </a:r>
            <a:endParaRPr lang="en-US" sz="2600" dirty="0"/>
          </a:p>
        </p:txBody>
      </p:sp>
      <p:sp>
        <p:nvSpPr>
          <p:cNvPr id="3" name="Text 1"/>
          <p:cNvSpPr/>
          <p:nvPr/>
        </p:nvSpPr>
        <p:spPr>
          <a:xfrm>
            <a:off x="530352" y="758952"/>
            <a:ext cx="9875520" cy="256032"/>
          </a:xfrm>
          <a:prstGeom prst="rect">
            <a:avLst/>
          </a:prstGeom>
          <a:noFill/>
          <a:ln/>
        </p:spPr>
        <p:txBody>
          <a:bodyPr wrap="square" lIns="0" tIns="0" rIns="0" bIns="0" rtlCol="0" anchor="ctr">
            <a:normAutofit/>
          </a:bodyPr>
          <a:lstStyle/>
          <a:p>
            <a:pPr indent="0" marL="0">
              <a:buNone/>
            </a:pPr>
            <a:r>
              <a:rPr lang="en-US" sz="1150" dirty="0">
                <a:solidFill>
                  <a:srgbClr val="59636E"/>
                </a:solidFill>
                <a:latin typeface="Aptos" pitchFamily="34" charset="0"/>
                <a:ea typeface="Aptos" pitchFamily="34" charset="-122"/>
                <a:cs typeface="Aptos" pitchFamily="34" charset="-120"/>
              </a:rPr>
              <a:t>Both models use prediction-error learning; they differ in what counts as the outcome being learned from</a:t>
            </a:r>
            <a:endParaRPr lang="en-US" sz="1150" dirty="0"/>
          </a:p>
        </p:txBody>
      </p:sp>
      <p:sp>
        <p:nvSpPr>
          <p:cNvPr id="4" name="Text 2"/>
          <p:cNvSpPr/>
          <p:nvPr/>
        </p:nvSpPr>
        <p:spPr>
          <a:xfrm>
            <a:off x="11109960" y="256032"/>
            <a:ext cx="566928" cy="292608"/>
          </a:xfrm>
          <a:prstGeom prst="rect">
            <a:avLst/>
          </a:prstGeom>
          <a:noFill/>
          <a:ln/>
        </p:spPr>
        <p:txBody>
          <a:bodyPr wrap="square" lIns="0" tIns="0" rIns="0" bIns="0" rtlCol="0" anchor="ctr"/>
          <a:lstStyle/>
          <a:p>
            <a:pPr algn="r" indent="0" marL="0">
              <a:buNone/>
            </a:pPr>
            <a:r>
              <a:rPr lang="en-US" sz="1300" b="1" dirty="0">
                <a:solidFill>
                  <a:srgbClr val="24476B"/>
                </a:solidFill>
              </a:rPr>
              <a:t>06</a:t>
            </a:r>
            <a:endParaRPr lang="en-US" sz="1300" dirty="0"/>
          </a:p>
        </p:txBody>
      </p:sp>
      <p:sp>
        <p:nvSpPr>
          <p:cNvPr id="5" name="Shape 3"/>
          <p:cNvSpPr/>
          <p:nvPr/>
        </p:nvSpPr>
        <p:spPr>
          <a:xfrm>
            <a:off x="502920" y="987552"/>
            <a:ext cx="11155680" cy="0"/>
          </a:xfrm>
          <a:prstGeom prst="line">
            <a:avLst/>
          </a:prstGeom>
          <a:noFill/>
          <a:ln w="7620">
            <a:solidFill>
              <a:srgbClr val="C8BFAE"/>
            </a:solidFill>
            <a:prstDash val="solid"/>
          </a:ln>
        </p:spPr>
      </p:sp>
      <p:sp>
        <p:nvSpPr>
          <p:cNvPr id="6" name="Shape 4"/>
          <p:cNvSpPr/>
          <p:nvPr/>
        </p:nvSpPr>
        <p:spPr>
          <a:xfrm>
            <a:off x="713232" y="1298448"/>
            <a:ext cx="5212080" cy="4315968"/>
          </a:xfrm>
          <a:prstGeom prst="roundRect">
            <a:avLst>
              <a:gd name="adj" fmla="val 1695"/>
            </a:avLst>
          </a:prstGeom>
          <a:solidFill>
            <a:srgbClr val="FFFFFF"/>
          </a:solidFill>
          <a:ln w="10160">
            <a:solidFill>
              <a:srgbClr val="C8BFAE"/>
            </a:solidFill>
            <a:prstDash val="solid"/>
          </a:ln>
        </p:spPr>
      </p:sp>
      <p:sp>
        <p:nvSpPr>
          <p:cNvPr id="7" name="Text 5"/>
          <p:cNvSpPr/>
          <p:nvPr/>
        </p:nvSpPr>
        <p:spPr>
          <a:xfrm>
            <a:off x="960120" y="1572768"/>
            <a:ext cx="2743200" cy="256032"/>
          </a:xfrm>
          <a:prstGeom prst="rect">
            <a:avLst/>
          </a:prstGeom>
          <a:noFill/>
          <a:ln/>
        </p:spPr>
        <p:txBody>
          <a:bodyPr wrap="square" lIns="0" tIns="0" rIns="0" bIns="0" rtlCol="0" anchor="t">
            <a:normAutofit/>
          </a:bodyPr>
          <a:lstStyle/>
          <a:p>
            <a:pPr algn="l" indent="0" marL="0">
              <a:buNone/>
            </a:pPr>
            <a:r>
              <a:rPr lang="en-US" sz="1300" b="1" dirty="0">
                <a:solidFill>
                  <a:srgbClr val="24476B"/>
                </a:solidFill>
                <a:latin typeface="Aptos" pitchFamily="34" charset="0"/>
                <a:ea typeface="Aptos" pitchFamily="34" charset="-122"/>
                <a:cs typeface="Aptos" pitchFamily="34" charset="-120"/>
              </a:rPr>
              <a:t>TD / delta-learning idea</a:t>
            </a:r>
            <a:endParaRPr lang="en-US" sz="1300" dirty="0"/>
          </a:p>
        </p:txBody>
      </p:sp>
      <p:sp>
        <p:nvSpPr>
          <p:cNvPr id="8" name="Text 6"/>
          <p:cNvSpPr/>
          <p:nvPr/>
        </p:nvSpPr>
        <p:spPr>
          <a:xfrm>
            <a:off x="960120" y="1920240"/>
            <a:ext cx="4480560" cy="530352"/>
          </a:xfrm>
          <a:prstGeom prst="rect">
            <a:avLst/>
          </a:prstGeom>
          <a:noFill/>
          <a:ln/>
        </p:spPr>
        <p:txBody>
          <a:bodyPr wrap="square" lIns="762" tIns="762" rIns="762" bIns="762" rtlCol="0" anchor="t">
            <a:normAutofit/>
          </a:bodyPr>
          <a:lstStyle/>
          <a:p>
            <a:pPr algn="l" indent="0" marL="0">
              <a:buNone/>
            </a:pPr>
            <a:r>
              <a:rPr lang="en-US" sz="1450" dirty="0">
                <a:solidFill>
                  <a:srgbClr val="17212B"/>
                </a:solidFill>
                <a:latin typeface="Aptos" pitchFamily="34" charset="0"/>
                <a:ea typeface="Aptos" pitchFamily="34" charset="-122"/>
                <a:cs typeface="Aptos" pitchFamily="34" charset="-120"/>
              </a:rPr>
              <a:t>A value estimate is updated by the gap between what happened and what was expected.</a:t>
            </a:r>
            <a:endParaRPr lang="en-US" sz="1450" dirty="0"/>
          </a:p>
        </p:txBody>
      </p:sp>
      <p:sp>
        <p:nvSpPr>
          <p:cNvPr id="9" name="Text 7"/>
          <p:cNvSpPr/>
          <p:nvPr/>
        </p:nvSpPr>
        <p:spPr>
          <a:xfrm>
            <a:off x="960120" y="2651760"/>
            <a:ext cx="4434840" cy="566928"/>
          </a:xfrm>
          <a:prstGeom prst="rect">
            <a:avLst/>
          </a:prstGeom>
          <a:noFill/>
          <a:ln/>
        </p:spPr>
        <p:txBody>
          <a:bodyPr wrap="square" lIns="762" tIns="762" rIns="762" bIns="762" rtlCol="0" anchor="t">
            <a:normAutofit/>
          </a:bodyPr>
          <a:lstStyle/>
          <a:p>
            <a:pPr algn="l" indent="0" marL="0">
              <a:buNone/>
            </a:pPr>
            <a:r>
              <a:rPr lang="en-US" sz="1600" b="1" dirty="0">
                <a:solidFill>
                  <a:srgbClr val="24476B"/>
                </a:solidFill>
                <a:latin typeface="Aptos" pitchFamily="34" charset="0"/>
                <a:ea typeface="Aptos" pitchFamily="34" charset="-122"/>
                <a:cs typeface="Aptos" pitchFamily="34" charset="-120"/>
              </a:rPr>
              <a:t>generic form:</a:t>
            </a:r>
            <a:endParaRPr lang="en-US" sz="1600" dirty="0"/>
          </a:p>
          <a:p>
            <a:pPr algn="l" indent="0" marL="0">
              <a:buNone/>
            </a:pPr>
            <a:r>
              <a:rPr lang="en-US" sz="1600" b="1" dirty="0">
                <a:solidFill>
                  <a:srgbClr val="24476B"/>
                </a:solidFill>
                <a:latin typeface="Aptos" pitchFamily="34" charset="0"/>
                <a:ea typeface="Aptos" pitchFamily="34" charset="-122"/>
                <a:cs typeface="Aptos" pitchFamily="34" charset="-120"/>
              </a:rPr>
              <a:t>new value = old value + learning rate × prediction error</a:t>
            </a:r>
            <a:endParaRPr lang="en-US" sz="1600" dirty="0"/>
          </a:p>
        </p:txBody>
      </p:sp>
      <p:sp>
        <p:nvSpPr>
          <p:cNvPr id="10" name="Text 8"/>
          <p:cNvSpPr/>
          <p:nvPr/>
        </p:nvSpPr>
        <p:spPr>
          <a:xfrm>
            <a:off x="960120" y="3566160"/>
            <a:ext cx="4434840" cy="987552"/>
          </a:xfrm>
          <a:prstGeom prst="rect">
            <a:avLst/>
          </a:prstGeom>
          <a:noFill/>
          <a:ln/>
        </p:spPr>
        <p:txBody>
          <a:bodyPr wrap="square" lIns="762" tIns="762" rIns="762" bIns="762" rtlCol="0" anchor="t">
            <a:normAutofit/>
          </a:bodyPr>
          <a:lstStyle/>
          <a:p>
            <a:pPr algn="l" indent="0" marL="0">
              <a:buNone/>
            </a:pPr>
            <a:r>
              <a:rPr lang="en-US" sz="1350" dirty="0">
                <a:solidFill>
                  <a:srgbClr val="17212B"/>
                </a:solidFill>
                <a:latin typeface="Aptos" pitchFamily="34" charset="0"/>
                <a:ea typeface="Aptos" pitchFamily="34" charset="-122"/>
                <a:cs typeface="Aptos" pitchFamily="34" charset="-120"/>
              </a:rPr>
              <a:t>Prediction error means “outcome minus current estimate.” If the outcome is better than expected, value increases. If it is worse, value decreases.</a:t>
            </a:r>
            <a:endParaRPr lang="en-US" sz="1350" dirty="0"/>
          </a:p>
        </p:txBody>
      </p:sp>
      <p:sp>
        <p:nvSpPr>
          <p:cNvPr id="11" name="Shape 9"/>
          <p:cNvSpPr/>
          <p:nvPr/>
        </p:nvSpPr>
        <p:spPr>
          <a:xfrm>
            <a:off x="6236208" y="1298448"/>
            <a:ext cx="5212080" cy="4315968"/>
          </a:xfrm>
          <a:prstGeom prst="roundRect">
            <a:avLst>
              <a:gd name="adj" fmla="val 1695"/>
            </a:avLst>
          </a:prstGeom>
          <a:solidFill>
            <a:srgbClr val="FFFFFF"/>
          </a:solidFill>
          <a:ln w="10160">
            <a:solidFill>
              <a:srgbClr val="C8BFAE"/>
            </a:solidFill>
            <a:prstDash val="solid"/>
          </a:ln>
        </p:spPr>
      </p:sp>
      <p:sp>
        <p:nvSpPr>
          <p:cNvPr id="12" name="Text 10"/>
          <p:cNvSpPr/>
          <p:nvPr/>
        </p:nvSpPr>
        <p:spPr>
          <a:xfrm>
            <a:off x="6483096" y="1572768"/>
            <a:ext cx="3383280" cy="256032"/>
          </a:xfrm>
          <a:prstGeom prst="rect">
            <a:avLst/>
          </a:prstGeom>
          <a:noFill/>
          <a:ln/>
        </p:spPr>
        <p:txBody>
          <a:bodyPr wrap="square" lIns="0" tIns="0" rIns="0" bIns="0" rtlCol="0" anchor="t">
            <a:normAutofit/>
          </a:bodyPr>
          <a:lstStyle/>
          <a:p>
            <a:pPr algn="l" indent="0" marL="0">
              <a:buNone/>
            </a:pPr>
            <a:r>
              <a:rPr lang="en-US" sz="1300" b="1" dirty="0">
                <a:solidFill>
                  <a:srgbClr val="A86B13"/>
                </a:solidFill>
                <a:latin typeface="Aptos" pitchFamily="34" charset="0"/>
                <a:ea typeface="Aptos" pitchFamily="34" charset="-122"/>
                <a:cs typeface="Aptos" pitchFamily="34" charset="-120"/>
              </a:rPr>
              <a:t>How IGT models adapt this idea</a:t>
            </a:r>
            <a:endParaRPr lang="en-US" sz="1300" dirty="0"/>
          </a:p>
        </p:txBody>
      </p:sp>
      <p:sp>
        <p:nvSpPr>
          <p:cNvPr id="13" name="Text 11"/>
          <p:cNvSpPr/>
          <p:nvPr/>
        </p:nvSpPr>
        <p:spPr>
          <a:xfrm>
            <a:off x="6483096" y="1920240"/>
            <a:ext cx="4526280" cy="914400"/>
          </a:xfrm>
          <a:prstGeom prst="rect">
            <a:avLst/>
          </a:prstGeom>
          <a:noFill/>
          <a:ln/>
        </p:spPr>
        <p:txBody>
          <a:bodyPr wrap="square" lIns="762" tIns="762" rIns="762" bIns="762" rtlCol="0" anchor="t">
            <a:normAutofit/>
          </a:bodyPr>
          <a:lstStyle/>
          <a:p>
            <a:pPr algn="l" indent="0" marL="0">
              <a:buNone/>
            </a:pPr>
            <a:r>
              <a:rPr lang="en-US" sz="1450" dirty="0">
                <a:solidFill>
                  <a:srgbClr val="17212B"/>
                </a:solidFill>
                <a:latin typeface="Aptos" pitchFamily="34" charset="0"/>
                <a:ea typeface="Aptos" pitchFamily="34" charset="-122"/>
                <a:cs typeface="Aptos" pitchFamily="34" charset="-120"/>
              </a:rPr>
              <a:t>In the IGT, the “state” is basically the repeated choice situation, and the actions are decks A–D. So the models learn deck values, then use those values to predict deck choice.</a:t>
            </a:r>
            <a:endParaRPr lang="en-US" sz="1450" dirty="0"/>
          </a:p>
        </p:txBody>
      </p:sp>
      <p:sp>
        <p:nvSpPr>
          <p:cNvPr id="14" name="Text 12"/>
          <p:cNvSpPr/>
          <p:nvPr/>
        </p:nvSpPr>
        <p:spPr>
          <a:xfrm>
            <a:off x="6483096" y="3127248"/>
            <a:ext cx="4526280" cy="713232"/>
          </a:xfrm>
          <a:prstGeom prst="rect">
            <a:avLst/>
          </a:prstGeom>
          <a:noFill/>
          <a:ln/>
        </p:spPr>
        <p:txBody>
          <a:bodyPr wrap="square" lIns="762" tIns="762" rIns="762" bIns="762" rtlCol="0" anchor="t">
            <a:normAutofit/>
          </a:bodyPr>
          <a:lstStyle/>
          <a:p>
            <a:pPr algn="l" indent="0" marL="0">
              <a:buNone/>
            </a:pPr>
            <a:r>
              <a:rPr lang="en-US" sz="1500" b="1" dirty="0">
                <a:solidFill>
                  <a:srgbClr val="17212B"/>
                </a:solidFill>
                <a:latin typeface="Aptos" pitchFamily="34" charset="0"/>
                <a:ea typeface="Aptos" pitchFamily="34" charset="-122"/>
                <a:cs typeface="Aptos" pitchFamily="34" charset="-120"/>
              </a:rPr>
              <a:t>Q-learning: prediction error uses objective net outcome.</a:t>
            </a:r>
            <a:endParaRPr lang="en-US" sz="1500" dirty="0"/>
          </a:p>
          <a:p>
            <a:pPr algn="l" indent="0" marL="0">
              <a:buNone/>
            </a:pPr>
            <a:r>
              <a:rPr lang="en-US" sz="1500" b="1" dirty="0">
                <a:solidFill>
                  <a:srgbClr val="17212B"/>
                </a:solidFill>
                <a:latin typeface="Aptos" pitchFamily="34" charset="0"/>
                <a:ea typeface="Aptos" pitchFamily="34" charset="-122"/>
                <a:cs typeface="Aptos" pitchFamily="34" charset="-120"/>
              </a:rPr>
              <a:t>PVL-Delta: prediction error uses subjective utility of the outcome.</a:t>
            </a:r>
            <a:endParaRPr lang="en-US" sz="1500" dirty="0"/>
          </a:p>
        </p:txBody>
      </p:sp>
      <p:sp>
        <p:nvSpPr>
          <p:cNvPr id="15" name="Text 13"/>
          <p:cNvSpPr/>
          <p:nvPr/>
        </p:nvSpPr>
        <p:spPr>
          <a:xfrm>
            <a:off x="6483096" y="4187952"/>
            <a:ext cx="4526280" cy="502920"/>
          </a:xfrm>
          <a:prstGeom prst="rect">
            <a:avLst/>
          </a:prstGeom>
          <a:noFill/>
          <a:ln/>
        </p:spPr>
        <p:txBody>
          <a:bodyPr wrap="square" lIns="762" tIns="762" rIns="762" bIns="762" rtlCol="0" anchor="t">
            <a:normAutofit/>
          </a:bodyPr>
          <a:lstStyle/>
          <a:p>
            <a:pPr algn="l" indent="0" marL="0">
              <a:buNone/>
            </a:pPr>
            <a:r>
              <a:rPr lang="en-US" sz="1350" dirty="0">
                <a:solidFill>
                  <a:srgbClr val="59636E"/>
                </a:solidFill>
                <a:latin typeface="Aptos" pitchFamily="34" charset="0"/>
                <a:ea typeface="Aptos" pitchFamily="34" charset="-122"/>
                <a:cs typeface="Aptos" pitchFamily="34" charset="-120"/>
              </a:rPr>
              <a:t>This keeps the TD-style update, but changes the psychological interpretation of the outcome.</a:t>
            </a:r>
            <a:endParaRPr lang="en-US" sz="1350" dirty="0"/>
          </a:p>
        </p:txBody>
      </p:sp>
      <p:sp>
        <p:nvSpPr>
          <p:cNvPr id="16" name="Text 14"/>
          <p:cNvSpPr/>
          <p:nvPr/>
        </p:nvSpPr>
        <p:spPr>
          <a:xfrm>
            <a:off x="530352" y="6565392"/>
            <a:ext cx="11109960" cy="164592"/>
          </a:xfrm>
          <a:prstGeom prst="rect">
            <a:avLst/>
          </a:prstGeom>
          <a:noFill/>
          <a:ln/>
        </p:spPr>
        <p:txBody>
          <a:bodyPr wrap="square" lIns="0" tIns="0" rIns="0" bIns="0" rtlCol="0" anchor="t">
            <a:normAutofit/>
          </a:bodyPr>
          <a:lstStyle/>
          <a:p>
            <a:pPr algn="l" indent="0" marL="0">
              <a:buNone/>
            </a:pPr>
            <a:r>
              <a:rPr lang="en-US" sz="650" dirty="0">
                <a:solidFill>
                  <a:srgbClr val="59636E"/>
                </a:solidFill>
                <a:latin typeface="Aptos" pitchFamily="34" charset="0"/>
                <a:ea typeface="Aptos" pitchFamily="34" charset="-122"/>
                <a:cs typeface="Aptos" pitchFamily="34" charset="-120"/>
              </a:rPr>
              <a:t>This is why both models are TD-like, even though PVL-Delta was designed specifically for IGT-style decisions.</a:t>
            </a:r>
            <a:endParaRPr lang="en-US" sz="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C"/>
        </a:solidFill>
      </p:bgPr>
    </p:bg>
    <p:spTree>
      <p:nvGrpSpPr>
        <p:cNvPr id="1" name=""/>
        <p:cNvGrpSpPr/>
        <p:nvPr/>
      </p:nvGrpSpPr>
      <p:grpSpPr>
        <a:xfrm>
          <a:off x="0" y="0"/>
          <a:ext cx="0" cy="0"/>
          <a:chOff x="0" y="0"/>
          <a:chExt cx="0" cy="0"/>
        </a:xfrm>
      </p:grpSpPr>
      <p:sp>
        <p:nvSpPr>
          <p:cNvPr id="2" name="Text 0"/>
          <p:cNvSpPr/>
          <p:nvPr/>
        </p:nvSpPr>
        <p:spPr>
          <a:xfrm>
            <a:off x="502920" y="256032"/>
            <a:ext cx="9692640" cy="438912"/>
          </a:xfrm>
          <a:prstGeom prst="rect">
            <a:avLst/>
          </a:prstGeom>
          <a:noFill/>
          <a:ln/>
        </p:spPr>
        <p:txBody>
          <a:bodyPr wrap="square" lIns="0" tIns="0" rIns="0" bIns="0" rtlCol="0" anchor="ctr">
            <a:normAutofit/>
          </a:bodyPr>
          <a:lstStyle/>
          <a:p>
            <a:pPr indent="0" marL="0">
              <a:buNone/>
            </a:pPr>
            <a:r>
              <a:rPr lang="en-US" sz="2600" b="1" dirty="0">
                <a:solidFill>
                  <a:srgbClr val="17212B"/>
                </a:solidFill>
                <a:latin typeface="Aptos Display" pitchFamily="34" charset="0"/>
                <a:ea typeface="Aptos Display" pitchFamily="34" charset="-122"/>
                <a:cs typeface="Aptos Display" pitchFamily="34" charset="-120"/>
              </a:rPr>
              <a:t>Model 1: Q-learning baseline</a:t>
            </a:r>
            <a:endParaRPr lang="en-US" sz="2600" dirty="0"/>
          </a:p>
        </p:txBody>
      </p:sp>
      <p:sp>
        <p:nvSpPr>
          <p:cNvPr id="3" name="Text 1"/>
          <p:cNvSpPr/>
          <p:nvPr/>
        </p:nvSpPr>
        <p:spPr>
          <a:xfrm>
            <a:off x="530352" y="758952"/>
            <a:ext cx="9875520" cy="256032"/>
          </a:xfrm>
          <a:prstGeom prst="rect">
            <a:avLst/>
          </a:prstGeom>
          <a:noFill/>
          <a:ln/>
        </p:spPr>
        <p:txBody>
          <a:bodyPr wrap="square" lIns="0" tIns="0" rIns="0" bIns="0" rtlCol="0" anchor="ctr">
            <a:normAutofit/>
          </a:bodyPr>
          <a:lstStyle/>
          <a:p>
            <a:pPr indent="0" marL="0">
              <a:buNone/>
            </a:pPr>
            <a:r>
              <a:rPr lang="en-US" sz="1150" dirty="0">
                <a:solidFill>
                  <a:srgbClr val="59636E"/>
                </a:solidFill>
                <a:latin typeface="Aptos" pitchFamily="34" charset="0"/>
                <a:ea typeface="Aptos" pitchFamily="34" charset="-122"/>
                <a:cs typeface="Aptos" pitchFamily="34" charset="-120"/>
              </a:rPr>
              <a:t>The closest model to course-level TD/action-value learning</a:t>
            </a:r>
            <a:endParaRPr lang="en-US" sz="1150" dirty="0"/>
          </a:p>
        </p:txBody>
      </p:sp>
      <p:sp>
        <p:nvSpPr>
          <p:cNvPr id="4" name="Text 2"/>
          <p:cNvSpPr/>
          <p:nvPr/>
        </p:nvSpPr>
        <p:spPr>
          <a:xfrm>
            <a:off x="11109960" y="256032"/>
            <a:ext cx="566928" cy="292608"/>
          </a:xfrm>
          <a:prstGeom prst="rect">
            <a:avLst/>
          </a:prstGeom>
          <a:noFill/>
          <a:ln/>
        </p:spPr>
        <p:txBody>
          <a:bodyPr wrap="square" lIns="0" tIns="0" rIns="0" bIns="0" rtlCol="0" anchor="ctr"/>
          <a:lstStyle/>
          <a:p>
            <a:pPr algn="r" indent="0" marL="0">
              <a:buNone/>
            </a:pPr>
            <a:r>
              <a:rPr lang="en-US" sz="1300" b="1" dirty="0">
                <a:solidFill>
                  <a:srgbClr val="24476B"/>
                </a:solidFill>
              </a:rPr>
              <a:t>07</a:t>
            </a:r>
            <a:endParaRPr lang="en-US" sz="1300" dirty="0"/>
          </a:p>
        </p:txBody>
      </p:sp>
      <p:sp>
        <p:nvSpPr>
          <p:cNvPr id="5" name="Shape 3"/>
          <p:cNvSpPr/>
          <p:nvPr/>
        </p:nvSpPr>
        <p:spPr>
          <a:xfrm>
            <a:off x="502920" y="987552"/>
            <a:ext cx="11155680" cy="0"/>
          </a:xfrm>
          <a:prstGeom prst="line">
            <a:avLst/>
          </a:prstGeom>
          <a:noFill/>
          <a:ln w="7620">
            <a:solidFill>
              <a:srgbClr val="C8BFAE"/>
            </a:solidFill>
            <a:prstDash val="solid"/>
          </a:ln>
        </p:spPr>
      </p:sp>
      <p:sp>
        <p:nvSpPr>
          <p:cNvPr id="6" name="Shape 4"/>
          <p:cNvSpPr/>
          <p:nvPr/>
        </p:nvSpPr>
        <p:spPr>
          <a:xfrm>
            <a:off x="713232" y="1298448"/>
            <a:ext cx="5532120" cy="4407408"/>
          </a:xfrm>
          <a:prstGeom prst="roundRect">
            <a:avLst>
              <a:gd name="adj" fmla="val 1660"/>
            </a:avLst>
          </a:prstGeom>
          <a:solidFill>
            <a:srgbClr val="FFFFFF"/>
          </a:solidFill>
          <a:ln w="10160">
            <a:solidFill>
              <a:srgbClr val="C8BFAE"/>
            </a:solidFill>
            <a:prstDash val="solid"/>
          </a:ln>
        </p:spPr>
      </p:sp>
      <p:sp>
        <p:nvSpPr>
          <p:cNvPr id="7" name="Text 5"/>
          <p:cNvSpPr/>
          <p:nvPr/>
        </p:nvSpPr>
        <p:spPr>
          <a:xfrm>
            <a:off x="960120" y="1572768"/>
            <a:ext cx="2011680" cy="256032"/>
          </a:xfrm>
          <a:prstGeom prst="rect">
            <a:avLst/>
          </a:prstGeom>
          <a:noFill/>
          <a:ln/>
        </p:spPr>
        <p:txBody>
          <a:bodyPr wrap="square" lIns="0" tIns="0" rIns="0" bIns="0" rtlCol="0" anchor="t">
            <a:normAutofit/>
          </a:bodyPr>
          <a:lstStyle/>
          <a:p>
            <a:pPr algn="l" indent="0" marL="0">
              <a:buNone/>
            </a:pPr>
            <a:r>
              <a:rPr lang="en-US" sz="1300" b="1" dirty="0">
                <a:solidFill>
                  <a:srgbClr val="24476B"/>
                </a:solidFill>
                <a:latin typeface="Aptos" pitchFamily="34" charset="0"/>
                <a:ea typeface="Aptos" pitchFamily="34" charset="-122"/>
                <a:cs typeface="Aptos" pitchFamily="34" charset="-120"/>
              </a:rPr>
              <a:t>Model equations</a:t>
            </a:r>
            <a:endParaRPr lang="en-US" sz="1300" dirty="0"/>
          </a:p>
        </p:txBody>
      </p:sp>
      <p:sp>
        <p:nvSpPr>
          <p:cNvPr id="8" name="Text 6"/>
          <p:cNvSpPr/>
          <p:nvPr/>
        </p:nvSpPr>
        <p:spPr>
          <a:xfrm>
            <a:off x="960120" y="1920240"/>
            <a:ext cx="2011680" cy="201168"/>
          </a:xfrm>
          <a:prstGeom prst="rect">
            <a:avLst/>
          </a:prstGeom>
          <a:noFill/>
          <a:ln/>
        </p:spPr>
        <p:txBody>
          <a:bodyPr wrap="square" lIns="762" tIns="762" rIns="762" bIns="762" rtlCol="0" anchor="t">
            <a:normAutofit/>
          </a:bodyPr>
          <a:lstStyle/>
          <a:p>
            <a:pPr algn="l" indent="0" marL="0">
              <a:buNone/>
            </a:pPr>
            <a:r>
              <a:rPr lang="en-US" sz="1250" dirty="0">
                <a:solidFill>
                  <a:srgbClr val="59636E"/>
                </a:solidFill>
                <a:latin typeface="Aptos" pitchFamily="34" charset="0"/>
                <a:ea typeface="Aptos" pitchFamily="34" charset="-122"/>
                <a:cs typeface="Aptos" pitchFamily="34" charset="-120"/>
              </a:rPr>
              <a:t>For each deck d:</a:t>
            </a:r>
            <a:endParaRPr lang="en-US" sz="1250" dirty="0"/>
          </a:p>
        </p:txBody>
      </p:sp>
      <p:sp>
        <p:nvSpPr>
          <p:cNvPr id="9" name="Text 7"/>
          <p:cNvSpPr/>
          <p:nvPr/>
        </p:nvSpPr>
        <p:spPr>
          <a:xfrm>
            <a:off x="960120" y="2212848"/>
            <a:ext cx="4846320" cy="384048"/>
          </a:xfrm>
          <a:prstGeom prst="rect">
            <a:avLst/>
          </a:prstGeom>
          <a:noFill/>
          <a:ln/>
        </p:spPr>
        <p:txBody>
          <a:bodyPr wrap="square" lIns="762" tIns="762" rIns="762" bIns="762" rtlCol="0" anchor="t">
            <a:normAutofit/>
          </a:bodyPr>
          <a:lstStyle/>
          <a:p>
            <a:pPr algn="l" indent="0" marL="0">
              <a:buNone/>
            </a:pPr>
            <a:r>
              <a:rPr lang="en-US" sz="1800" b="1" dirty="0">
                <a:solidFill>
                  <a:srgbClr val="24476B"/>
                </a:solidFill>
                <a:latin typeface="Aptos" pitchFamily="34" charset="0"/>
                <a:ea typeface="Aptos" pitchFamily="34" charset="-122"/>
                <a:cs typeface="Aptos" pitchFamily="34" charset="-120"/>
              </a:rPr>
              <a:t>Q_d(t+1) = Q_d(t) + α [ r_t − Q_d(t) ]</a:t>
            </a:r>
            <a:endParaRPr lang="en-US" sz="1800" dirty="0"/>
          </a:p>
        </p:txBody>
      </p:sp>
      <p:sp>
        <p:nvSpPr>
          <p:cNvPr id="10" name="Text 8"/>
          <p:cNvSpPr/>
          <p:nvPr/>
        </p:nvSpPr>
        <p:spPr>
          <a:xfrm>
            <a:off x="960120" y="2779776"/>
            <a:ext cx="4846320" cy="310896"/>
          </a:xfrm>
          <a:prstGeom prst="rect">
            <a:avLst/>
          </a:prstGeom>
          <a:noFill/>
          <a:ln/>
        </p:spPr>
        <p:txBody>
          <a:bodyPr wrap="square" lIns="762" tIns="762" rIns="762" bIns="762" rtlCol="0" anchor="t">
            <a:normAutofit/>
          </a:bodyPr>
          <a:lstStyle/>
          <a:p>
            <a:pPr algn="l" indent="0" marL="0">
              <a:buNone/>
            </a:pPr>
            <a:r>
              <a:rPr lang="en-US" sz="1700" b="1" dirty="0">
                <a:solidFill>
                  <a:srgbClr val="24476B"/>
                </a:solidFill>
                <a:latin typeface="Aptos" pitchFamily="34" charset="0"/>
                <a:ea typeface="Aptos" pitchFamily="34" charset="-122"/>
                <a:cs typeface="Aptos" pitchFamily="34" charset="-120"/>
              </a:rPr>
              <a:t>r_t = gain_t − loss_t</a:t>
            </a:r>
            <a:endParaRPr lang="en-US" sz="1700" dirty="0"/>
          </a:p>
        </p:txBody>
      </p:sp>
      <p:sp>
        <p:nvSpPr>
          <p:cNvPr id="11" name="Text 9"/>
          <p:cNvSpPr/>
          <p:nvPr/>
        </p:nvSpPr>
        <p:spPr>
          <a:xfrm>
            <a:off x="960120" y="3328416"/>
            <a:ext cx="4846320" cy="384048"/>
          </a:xfrm>
          <a:prstGeom prst="rect">
            <a:avLst/>
          </a:prstGeom>
          <a:noFill/>
          <a:ln/>
        </p:spPr>
        <p:txBody>
          <a:bodyPr wrap="square" lIns="762" tIns="762" rIns="762" bIns="762" rtlCol="0" anchor="t">
            <a:normAutofit/>
          </a:bodyPr>
          <a:lstStyle/>
          <a:p>
            <a:pPr algn="l" indent="0" marL="0">
              <a:buNone/>
            </a:pPr>
            <a:r>
              <a:rPr lang="en-US" sz="1750" b="1" dirty="0">
                <a:solidFill>
                  <a:srgbClr val="24476B"/>
                </a:solidFill>
                <a:latin typeface="Aptos" pitchFamily="34" charset="0"/>
                <a:ea typeface="Aptos" pitchFamily="34" charset="-122"/>
                <a:cs typeface="Aptos" pitchFamily="34" charset="-120"/>
              </a:rPr>
              <a:t>P(d) = exp(β Q_d) / Σ_j exp(β Q_j)</a:t>
            </a:r>
            <a:endParaRPr lang="en-US" sz="1750" dirty="0"/>
          </a:p>
        </p:txBody>
      </p:sp>
      <p:sp>
        <p:nvSpPr>
          <p:cNvPr id="12" name="Text 10"/>
          <p:cNvSpPr/>
          <p:nvPr/>
        </p:nvSpPr>
        <p:spPr>
          <a:xfrm>
            <a:off x="960120" y="4096512"/>
            <a:ext cx="4800600" cy="566928"/>
          </a:xfrm>
          <a:prstGeom prst="rect">
            <a:avLst/>
          </a:prstGeom>
          <a:noFill/>
          <a:ln/>
        </p:spPr>
        <p:txBody>
          <a:bodyPr wrap="square" lIns="762" tIns="762" rIns="762" bIns="762" rtlCol="0" anchor="t">
            <a:normAutofit/>
          </a:bodyPr>
          <a:lstStyle/>
          <a:p>
            <a:pPr algn="l" indent="0" marL="0">
              <a:buNone/>
            </a:pPr>
            <a:r>
              <a:rPr lang="en-US" sz="1350" dirty="0">
                <a:solidFill>
                  <a:srgbClr val="17212B"/>
                </a:solidFill>
                <a:latin typeface="Aptos" pitchFamily="34" charset="0"/>
                <a:ea typeface="Aptos" pitchFamily="34" charset="-122"/>
                <a:cs typeface="Aptos" pitchFamily="34" charset="-120"/>
              </a:rPr>
              <a:t>Only the chosen deck updates. The unchosen deck values stay unchanged on that trial.</a:t>
            </a:r>
            <a:endParaRPr lang="en-US" sz="1350" dirty="0"/>
          </a:p>
        </p:txBody>
      </p:sp>
      <p:sp>
        <p:nvSpPr>
          <p:cNvPr id="13" name="Shape 11"/>
          <p:cNvSpPr/>
          <p:nvPr/>
        </p:nvSpPr>
        <p:spPr>
          <a:xfrm>
            <a:off x="6565392" y="1298448"/>
            <a:ext cx="4709160" cy="4407408"/>
          </a:xfrm>
          <a:prstGeom prst="roundRect">
            <a:avLst>
              <a:gd name="adj" fmla="val 1660"/>
            </a:avLst>
          </a:prstGeom>
          <a:solidFill>
            <a:srgbClr val="DCE8F4"/>
          </a:solidFill>
          <a:ln w="10160">
            <a:solidFill>
              <a:srgbClr val="B7C9DB"/>
            </a:solidFill>
            <a:prstDash val="solid"/>
          </a:ln>
        </p:spPr>
      </p:sp>
      <p:sp>
        <p:nvSpPr>
          <p:cNvPr id="14" name="Text 12"/>
          <p:cNvSpPr/>
          <p:nvPr/>
        </p:nvSpPr>
        <p:spPr>
          <a:xfrm>
            <a:off x="6812280" y="1572768"/>
            <a:ext cx="2194560" cy="256032"/>
          </a:xfrm>
          <a:prstGeom prst="rect">
            <a:avLst/>
          </a:prstGeom>
          <a:noFill/>
          <a:ln/>
        </p:spPr>
        <p:txBody>
          <a:bodyPr wrap="square" lIns="0" tIns="0" rIns="0" bIns="0" rtlCol="0" anchor="t">
            <a:normAutofit/>
          </a:bodyPr>
          <a:lstStyle/>
          <a:p>
            <a:pPr algn="l" indent="0" marL="0">
              <a:buNone/>
            </a:pPr>
            <a:r>
              <a:rPr lang="en-US" sz="1300" b="1" dirty="0">
                <a:solidFill>
                  <a:srgbClr val="24476B"/>
                </a:solidFill>
                <a:latin typeface="Aptos" pitchFamily="34" charset="0"/>
                <a:ea typeface="Aptos" pitchFamily="34" charset="-122"/>
                <a:cs typeface="Aptos" pitchFamily="34" charset="-120"/>
              </a:rPr>
              <a:t>Simple interpretation</a:t>
            </a:r>
            <a:endParaRPr lang="en-US" sz="1300" dirty="0"/>
          </a:p>
        </p:txBody>
      </p:sp>
      <p:sp>
        <p:nvSpPr>
          <p:cNvPr id="15" name="Text 13"/>
          <p:cNvSpPr/>
          <p:nvPr/>
        </p:nvSpPr>
        <p:spPr>
          <a:xfrm>
            <a:off x="6812280" y="1938528"/>
            <a:ext cx="3977640" cy="1234440"/>
          </a:xfrm>
          <a:prstGeom prst="rect">
            <a:avLst/>
          </a:prstGeom>
          <a:noFill/>
          <a:ln/>
        </p:spPr>
        <p:txBody>
          <a:bodyPr wrap="square" lIns="762" tIns="762" rIns="762" bIns="762" rtlCol="0" anchor="t">
            <a:normAutofit/>
          </a:bodyPr>
          <a:lstStyle/>
          <a:p>
            <a:pPr algn="l" indent="0" marL="0">
              <a:buNone/>
            </a:pPr>
            <a:r>
              <a:rPr lang="en-US" sz="1450" dirty="0">
                <a:solidFill>
                  <a:srgbClr val="17212B"/>
                </a:solidFill>
                <a:latin typeface="Aptos" pitchFamily="34" charset="0"/>
                <a:ea typeface="Aptos" pitchFamily="34" charset="-122"/>
                <a:cs typeface="Aptos" pitchFamily="34" charset="-120"/>
              </a:rPr>
              <a:t>Q-learning assumes that humans learn an expected value for each deck from objective net money. A loss is just a negative reward. A gain is a positive reward. The model has no special mechanism for loss aversion or subjective valuation.</a:t>
            </a:r>
            <a:endParaRPr lang="en-US" sz="1450" dirty="0"/>
          </a:p>
        </p:txBody>
      </p:sp>
      <p:sp>
        <p:nvSpPr>
          <p:cNvPr id="16" name="Text 14"/>
          <p:cNvSpPr/>
          <p:nvPr/>
        </p:nvSpPr>
        <p:spPr>
          <a:xfrm>
            <a:off x="6812280" y="3493008"/>
            <a:ext cx="3977640" cy="1097280"/>
          </a:xfrm>
          <a:prstGeom prst="rect">
            <a:avLst/>
          </a:prstGeom>
          <a:noFill/>
          <a:ln/>
        </p:spPr>
        <p:txBody>
          <a:bodyPr wrap="square" lIns="762" tIns="762" rIns="762" bIns="762" rtlCol="0" anchor="t">
            <a:normAutofit/>
          </a:bodyPr>
          <a:lstStyle/>
          <a:p>
            <a:pPr algn="l" indent="0" marL="0">
              <a:buNone/>
            </a:pPr>
            <a:r>
              <a:rPr lang="en-US" sz="1450" dirty="0">
                <a:solidFill>
                  <a:srgbClr val="17212B"/>
                </a:solidFill>
                <a:latin typeface="Aptos" pitchFamily="34" charset="0"/>
                <a:ea typeface="Aptos" pitchFamily="34" charset="-122"/>
                <a:cs typeface="Aptos" pitchFamily="34" charset="-120"/>
              </a:rPr>
              <a:t>Role in project: this is the course-aligned baseline. If it fits well, raw reinforcement learning may be enough. If it fits poorly, richer cognitive assumptions may be needed.</a:t>
            </a:r>
            <a:endParaRPr lang="en-US" sz="1450" dirty="0"/>
          </a:p>
        </p:txBody>
      </p:sp>
      <p:sp>
        <p:nvSpPr>
          <p:cNvPr id="17" name="Text 15"/>
          <p:cNvSpPr/>
          <p:nvPr/>
        </p:nvSpPr>
        <p:spPr>
          <a:xfrm>
            <a:off x="530352" y="6565392"/>
            <a:ext cx="11109960" cy="164592"/>
          </a:xfrm>
          <a:prstGeom prst="rect">
            <a:avLst/>
          </a:prstGeom>
          <a:noFill/>
          <a:ln/>
        </p:spPr>
        <p:txBody>
          <a:bodyPr wrap="square" lIns="0" tIns="0" rIns="0" bIns="0" rtlCol="0" anchor="t">
            <a:normAutofit/>
          </a:bodyPr>
          <a:lstStyle/>
          <a:p>
            <a:pPr algn="l" indent="0" marL="0">
              <a:buNone/>
            </a:pPr>
            <a:r>
              <a:rPr lang="en-US" sz="650" dirty="0">
                <a:solidFill>
                  <a:srgbClr val="59636E"/>
                </a:solidFill>
                <a:latin typeface="Aptos" pitchFamily="34" charset="0"/>
                <a:ea typeface="Aptos" pitchFamily="34" charset="-122"/>
                <a:cs typeface="Aptos" pitchFamily="34" charset="-120"/>
              </a:rPr>
              <a:t>Q-learning here is the one-state/action-value form: four actions = decks A/B/C/D.</a:t>
            </a:r>
            <a:endParaRPr lang="en-US" sz="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C"/>
        </a:solidFill>
      </p:bgPr>
    </p:bg>
    <p:spTree>
      <p:nvGrpSpPr>
        <p:cNvPr id="1" name=""/>
        <p:cNvGrpSpPr/>
        <p:nvPr/>
      </p:nvGrpSpPr>
      <p:grpSpPr>
        <a:xfrm>
          <a:off x="0" y="0"/>
          <a:ext cx="0" cy="0"/>
          <a:chOff x="0" y="0"/>
          <a:chExt cx="0" cy="0"/>
        </a:xfrm>
      </p:grpSpPr>
      <p:sp>
        <p:nvSpPr>
          <p:cNvPr id="2" name="Text 0"/>
          <p:cNvSpPr/>
          <p:nvPr/>
        </p:nvSpPr>
        <p:spPr>
          <a:xfrm>
            <a:off x="502920" y="256032"/>
            <a:ext cx="9692640" cy="438912"/>
          </a:xfrm>
          <a:prstGeom prst="rect">
            <a:avLst/>
          </a:prstGeom>
          <a:noFill/>
          <a:ln/>
        </p:spPr>
        <p:txBody>
          <a:bodyPr wrap="square" lIns="0" tIns="0" rIns="0" bIns="0" rtlCol="0" anchor="ctr">
            <a:normAutofit/>
          </a:bodyPr>
          <a:lstStyle/>
          <a:p>
            <a:pPr indent="0" marL="0">
              <a:buNone/>
            </a:pPr>
            <a:r>
              <a:rPr lang="en-US" sz="2600" b="1" dirty="0">
                <a:solidFill>
                  <a:srgbClr val="17212B"/>
                </a:solidFill>
                <a:latin typeface="Aptos Display" pitchFamily="34" charset="0"/>
                <a:ea typeface="Aptos Display" pitchFamily="34" charset="-122"/>
                <a:cs typeface="Aptos Display" pitchFamily="34" charset="-120"/>
              </a:rPr>
              <a:t>Q-learning terms: what each value means</a:t>
            </a:r>
            <a:endParaRPr lang="en-US" sz="2600" dirty="0"/>
          </a:p>
        </p:txBody>
      </p:sp>
      <p:sp>
        <p:nvSpPr>
          <p:cNvPr id="3" name="Text 1"/>
          <p:cNvSpPr/>
          <p:nvPr/>
        </p:nvSpPr>
        <p:spPr>
          <a:xfrm>
            <a:off x="530352" y="758952"/>
            <a:ext cx="9875520" cy="256032"/>
          </a:xfrm>
          <a:prstGeom prst="rect">
            <a:avLst/>
          </a:prstGeom>
          <a:noFill/>
          <a:ln/>
        </p:spPr>
        <p:txBody>
          <a:bodyPr wrap="square" lIns="0" tIns="0" rIns="0" bIns="0" rtlCol="0" anchor="ctr">
            <a:normAutofit/>
          </a:bodyPr>
          <a:lstStyle/>
          <a:p>
            <a:pPr indent="0" marL="0">
              <a:buNone/>
            </a:pPr>
            <a:r>
              <a:rPr lang="en-US" sz="1150" dirty="0">
                <a:solidFill>
                  <a:srgbClr val="59636E"/>
                </a:solidFill>
                <a:latin typeface="Aptos" pitchFamily="34" charset="0"/>
                <a:ea typeface="Aptos" pitchFamily="34" charset="-122"/>
                <a:cs typeface="Aptos" pitchFamily="34" charset="-120"/>
              </a:rPr>
              <a:t>Every parameter has a role and is estimated from the participant’s choices</a:t>
            </a:r>
            <a:endParaRPr lang="en-US" sz="1150" dirty="0"/>
          </a:p>
        </p:txBody>
      </p:sp>
      <p:sp>
        <p:nvSpPr>
          <p:cNvPr id="4" name="Text 2"/>
          <p:cNvSpPr/>
          <p:nvPr/>
        </p:nvSpPr>
        <p:spPr>
          <a:xfrm>
            <a:off x="11109960" y="256032"/>
            <a:ext cx="566928" cy="292608"/>
          </a:xfrm>
          <a:prstGeom prst="rect">
            <a:avLst/>
          </a:prstGeom>
          <a:noFill/>
          <a:ln/>
        </p:spPr>
        <p:txBody>
          <a:bodyPr wrap="square" lIns="0" tIns="0" rIns="0" bIns="0" rtlCol="0" anchor="ctr"/>
          <a:lstStyle/>
          <a:p>
            <a:pPr algn="r" indent="0" marL="0">
              <a:buNone/>
            </a:pPr>
            <a:r>
              <a:rPr lang="en-US" sz="1300" b="1" dirty="0">
                <a:solidFill>
                  <a:srgbClr val="24476B"/>
                </a:solidFill>
              </a:rPr>
              <a:t>08</a:t>
            </a:r>
            <a:endParaRPr lang="en-US" sz="1300" dirty="0"/>
          </a:p>
        </p:txBody>
      </p:sp>
      <p:sp>
        <p:nvSpPr>
          <p:cNvPr id="5" name="Shape 3"/>
          <p:cNvSpPr/>
          <p:nvPr/>
        </p:nvSpPr>
        <p:spPr>
          <a:xfrm>
            <a:off x="502920" y="987552"/>
            <a:ext cx="11155680" cy="0"/>
          </a:xfrm>
          <a:prstGeom prst="line">
            <a:avLst/>
          </a:prstGeom>
          <a:noFill/>
          <a:ln w="7620">
            <a:solidFill>
              <a:srgbClr val="C8BFAE"/>
            </a:solidFill>
            <a:prstDash val="solid"/>
          </a:ln>
        </p:spPr>
      </p:sp>
      <p:sp>
        <p:nvSpPr>
          <p:cNvPr id="6" name="Shape 4"/>
          <p:cNvSpPr/>
          <p:nvPr/>
        </p:nvSpPr>
        <p:spPr>
          <a:xfrm>
            <a:off x="713232" y="1298448"/>
            <a:ext cx="10789920" cy="987552"/>
          </a:xfrm>
          <a:prstGeom prst="roundRect">
            <a:avLst>
              <a:gd name="adj" fmla="val 7407"/>
            </a:avLst>
          </a:prstGeom>
          <a:solidFill>
            <a:srgbClr val="FFFFFF"/>
          </a:solidFill>
          <a:ln w="10160">
            <a:solidFill>
              <a:srgbClr val="C8BFAE"/>
            </a:solidFill>
            <a:prstDash val="solid"/>
          </a:ln>
        </p:spPr>
      </p:sp>
      <p:sp>
        <p:nvSpPr>
          <p:cNvPr id="7" name="Text 5"/>
          <p:cNvSpPr/>
          <p:nvPr/>
        </p:nvSpPr>
        <p:spPr>
          <a:xfrm>
            <a:off x="960120" y="1463040"/>
            <a:ext cx="1005840" cy="256032"/>
          </a:xfrm>
          <a:prstGeom prst="rect">
            <a:avLst/>
          </a:prstGeom>
          <a:noFill/>
          <a:ln/>
        </p:spPr>
        <p:txBody>
          <a:bodyPr wrap="square" lIns="762" tIns="762" rIns="762" bIns="762" rtlCol="0" anchor="t">
            <a:normAutofit/>
          </a:bodyPr>
          <a:lstStyle/>
          <a:p>
            <a:pPr algn="ctr" indent="0" marL="0">
              <a:buNone/>
            </a:pPr>
            <a:r>
              <a:rPr lang="en-US" sz="1800" b="1" dirty="0">
                <a:solidFill>
                  <a:srgbClr val="24476B"/>
                </a:solidFill>
                <a:latin typeface="Aptos" pitchFamily="34" charset="0"/>
                <a:ea typeface="Aptos" pitchFamily="34" charset="-122"/>
                <a:cs typeface="Aptos" pitchFamily="34" charset="-120"/>
              </a:rPr>
              <a:t>Q_d(t)</a:t>
            </a:r>
            <a:endParaRPr lang="en-US" sz="1800" dirty="0"/>
          </a:p>
        </p:txBody>
      </p:sp>
      <p:sp>
        <p:nvSpPr>
          <p:cNvPr id="8" name="Text 6"/>
          <p:cNvSpPr/>
          <p:nvPr/>
        </p:nvSpPr>
        <p:spPr>
          <a:xfrm>
            <a:off x="2148840" y="1444752"/>
            <a:ext cx="2148840" cy="256032"/>
          </a:xfrm>
          <a:prstGeom prst="rect">
            <a:avLst/>
          </a:prstGeom>
          <a:noFill/>
          <a:ln/>
        </p:spPr>
        <p:txBody>
          <a:bodyPr wrap="square" lIns="762" tIns="762" rIns="762" bIns="762" rtlCol="0" anchor="t">
            <a:normAutofit/>
          </a:bodyPr>
          <a:lstStyle/>
          <a:p>
            <a:pPr algn="l" indent="0" marL="0">
              <a:buNone/>
            </a:pPr>
            <a:r>
              <a:rPr lang="en-US" sz="1350" b="1" dirty="0">
                <a:solidFill>
                  <a:srgbClr val="17212B"/>
                </a:solidFill>
                <a:latin typeface="Aptos" pitchFamily="34" charset="0"/>
                <a:ea typeface="Aptos" pitchFamily="34" charset="-122"/>
                <a:cs typeface="Aptos" pitchFamily="34" charset="-120"/>
              </a:rPr>
              <a:t>Learned value of deck d</a:t>
            </a:r>
            <a:endParaRPr lang="en-US" sz="1350" dirty="0"/>
          </a:p>
        </p:txBody>
      </p:sp>
      <p:sp>
        <p:nvSpPr>
          <p:cNvPr id="9" name="Text 7"/>
          <p:cNvSpPr/>
          <p:nvPr/>
        </p:nvSpPr>
        <p:spPr>
          <a:xfrm>
            <a:off x="4498848" y="1426464"/>
            <a:ext cx="6537960" cy="502920"/>
          </a:xfrm>
          <a:prstGeom prst="rect">
            <a:avLst/>
          </a:prstGeom>
          <a:noFill/>
          <a:ln/>
        </p:spPr>
        <p:txBody>
          <a:bodyPr wrap="square" lIns="762" tIns="762" rIns="762" bIns="762" rtlCol="0" anchor="t">
            <a:normAutofit/>
          </a:bodyPr>
          <a:lstStyle/>
          <a:p>
            <a:pPr algn="l" indent="0" marL="0">
              <a:buNone/>
            </a:pPr>
            <a:r>
              <a:rPr lang="en-US" sz="1250" dirty="0">
                <a:solidFill>
                  <a:srgbClr val="17212B"/>
                </a:solidFill>
                <a:latin typeface="Aptos" pitchFamily="34" charset="0"/>
                <a:ea typeface="Aptos" pitchFamily="34" charset="-122"/>
                <a:cs typeface="Aptos" pitchFamily="34" charset="-120"/>
              </a:rPr>
              <a:t>This is the model’s current estimate of how good a deck is. It is not observed directly; it is reconstructed from the person’s past choices and outcomes.</a:t>
            </a:r>
            <a:endParaRPr lang="en-US" sz="1250" dirty="0"/>
          </a:p>
        </p:txBody>
      </p:sp>
      <p:sp>
        <p:nvSpPr>
          <p:cNvPr id="10" name="Shape 8"/>
          <p:cNvSpPr/>
          <p:nvPr/>
        </p:nvSpPr>
        <p:spPr>
          <a:xfrm>
            <a:off x="713232" y="2414016"/>
            <a:ext cx="10789920" cy="987552"/>
          </a:xfrm>
          <a:prstGeom prst="roundRect">
            <a:avLst>
              <a:gd name="adj" fmla="val 7407"/>
            </a:avLst>
          </a:prstGeom>
          <a:solidFill>
            <a:srgbClr val="F3F1E9"/>
          </a:solidFill>
          <a:ln w="10160">
            <a:solidFill>
              <a:srgbClr val="C8BFAE"/>
            </a:solidFill>
            <a:prstDash val="solid"/>
          </a:ln>
        </p:spPr>
      </p:sp>
      <p:sp>
        <p:nvSpPr>
          <p:cNvPr id="11" name="Text 9"/>
          <p:cNvSpPr/>
          <p:nvPr/>
        </p:nvSpPr>
        <p:spPr>
          <a:xfrm>
            <a:off x="960120" y="2578608"/>
            <a:ext cx="1005840" cy="256032"/>
          </a:xfrm>
          <a:prstGeom prst="rect">
            <a:avLst/>
          </a:prstGeom>
          <a:noFill/>
          <a:ln/>
        </p:spPr>
        <p:txBody>
          <a:bodyPr wrap="square" lIns="762" tIns="762" rIns="762" bIns="762" rtlCol="0" anchor="t">
            <a:normAutofit/>
          </a:bodyPr>
          <a:lstStyle/>
          <a:p>
            <a:pPr algn="ctr" indent="0" marL="0">
              <a:buNone/>
            </a:pPr>
            <a:r>
              <a:rPr lang="en-US" sz="1800" b="1" dirty="0">
                <a:solidFill>
                  <a:srgbClr val="24476B"/>
                </a:solidFill>
                <a:latin typeface="Aptos" pitchFamily="34" charset="0"/>
                <a:ea typeface="Aptos" pitchFamily="34" charset="-122"/>
                <a:cs typeface="Aptos" pitchFamily="34" charset="-120"/>
              </a:rPr>
              <a:t>α</a:t>
            </a:r>
            <a:endParaRPr lang="en-US" sz="1800" dirty="0"/>
          </a:p>
        </p:txBody>
      </p:sp>
      <p:sp>
        <p:nvSpPr>
          <p:cNvPr id="12" name="Text 10"/>
          <p:cNvSpPr/>
          <p:nvPr/>
        </p:nvSpPr>
        <p:spPr>
          <a:xfrm>
            <a:off x="2148840" y="2560320"/>
            <a:ext cx="2148840" cy="256032"/>
          </a:xfrm>
          <a:prstGeom prst="rect">
            <a:avLst/>
          </a:prstGeom>
          <a:noFill/>
          <a:ln/>
        </p:spPr>
        <p:txBody>
          <a:bodyPr wrap="square" lIns="762" tIns="762" rIns="762" bIns="762" rtlCol="0" anchor="t">
            <a:normAutofit/>
          </a:bodyPr>
          <a:lstStyle/>
          <a:p>
            <a:pPr algn="l" indent="0" marL="0">
              <a:buNone/>
            </a:pPr>
            <a:r>
              <a:rPr lang="en-US" sz="1350" b="1" dirty="0">
                <a:solidFill>
                  <a:srgbClr val="17212B"/>
                </a:solidFill>
                <a:latin typeface="Aptos" pitchFamily="34" charset="0"/>
                <a:ea typeface="Aptos" pitchFamily="34" charset="-122"/>
                <a:cs typeface="Aptos" pitchFamily="34" charset="-120"/>
              </a:rPr>
              <a:t>Learning rate</a:t>
            </a:r>
            <a:endParaRPr lang="en-US" sz="1350" dirty="0"/>
          </a:p>
        </p:txBody>
      </p:sp>
      <p:sp>
        <p:nvSpPr>
          <p:cNvPr id="13" name="Text 11"/>
          <p:cNvSpPr/>
          <p:nvPr/>
        </p:nvSpPr>
        <p:spPr>
          <a:xfrm>
            <a:off x="4498848" y="2542032"/>
            <a:ext cx="6537960" cy="502920"/>
          </a:xfrm>
          <a:prstGeom prst="rect">
            <a:avLst/>
          </a:prstGeom>
          <a:noFill/>
          <a:ln/>
        </p:spPr>
        <p:txBody>
          <a:bodyPr wrap="square" lIns="762" tIns="762" rIns="762" bIns="762" rtlCol="0" anchor="t">
            <a:normAutofit/>
          </a:bodyPr>
          <a:lstStyle/>
          <a:p>
            <a:pPr algn="l" indent="0" marL="0">
              <a:buNone/>
            </a:pPr>
            <a:r>
              <a:rPr lang="en-US" sz="1250" dirty="0">
                <a:solidFill>
                  <a:srgbClr val="17212B"/>
                </a:solidFill>
                <a:latin typeface="Aptos" pitchFamily="34" charset="0"/>
                <a:ea typeface="Aptos" pitchFamily="34" charset="-122"/>
                <a:cs typeface="Aptos" pitchFamily="34" charset="-120"/>
              </a:rPr>
              <a:t>Controls how much a new outcome changes the deck value. A high α means recent outcomes dominate; a low α means learning is slower and more stable.</a:t>
            </a:r>
            <a:endParaRPr lang="en-US" sz="1250" dirty="0"/>
          </a:p>
        </p:txBody>
      </p:sp>
      <p:sp>
        <p:nvSpPr>
          <p:cNvPr id="14" name="Shape 12"/>
          <p:cNvSpPr/>
          <p:nvPr/>
        </p:nvSpPr>
        <p:spPr>
          <a:xfrm>
            <a:off x="713232" y="3529584"/>
            <a:ext cx="10789920" cy="987552"/>
          </a:xfrm>
          <a:prstGeom prst="roundRect">
            <a:avLst>
              <a:gd name="adj" fmla="val 7407"/>
            </a:avLst>
          </a:prstGeom>
          <a:solidFill>
            <a:srgbClr val="FFFFFF"/>
          </a:solidFill>
          <a:ln w="10160">
            <a:solidFill>
              <a:srgbClr val="C8BFAE"/>
            </a:solidFill>
            <a:prstDash val="solid"/>
          </a:ln>
        </p:spPr>
      </p:sp>
      <p:sp>
        <p:nvSpPr>
          <p:cNvPr id="15" name="Text 13"/>
          <p:cNvSpPr/>
          <p:nvPr/>
        </p:nvSpPr>
        <p:spPr>
          <a:xfrm>
            <a:off x="960120" y="3694176"/>
            <a:ext cx="1005840" cy="256032"/>
          </a:xfrm>
          <a:prstGeom prst="rect">
            <a:avLst/>
          </a:prstGeom>
          <a:noFill/>
          <a:ln/>
        </p:spPr>
        <p:txBody>
          <a:bodyPr wrap="square" lIns="762" tIns="762" rIns="762" bIns="762" rtlCol="0" anchor="t">
            <a:normAutofit/>
          </a:bodyPr>
          <a:lstStyle/>
          <a:p>
            <a:pPr algn="ctr" indent="0" marL="0">
              <a:buNone/>
            </a:pPr>
            <a:r>
              <a:rPr lang="en-US" sz="1800" b="1" dirty="0">
                <a:solidFill>
                  <a:srgbClr val="24476B"/>
                </a:solidFill>
                <a:latin typeface="Aptos" pitchFamily="34" charset="0"/>
                <a:ea typeface="Aptos" pitchFamily="34" charset="-122"/>
                <a:cs typeface="Aptos" pitchFamily="34" charset="-120"/>
              </a:rPr>
              <a:t>r_t</a:t>
            </a:r>
            <a:endParaRPr lang="en-US" sz="1800" dirty="0"/>
          </a:p>
        </p:txBody>
      </p:sp>
      <p:sp>
        <p:nvSpPr>
          <p:cNvPr id="16" name="Text 14"/>
          <p:cNvSpPr/>
          <p:nvPr/>
        </p:nvSpPr>
        <p:spPr>
          <a:xfrm>
            <a:off x="2148840" y="3675888"/>
            <a:ext cx="2148840" cy="256032"/>
          </a:xfrm>
          <a:prstGeom prst="rect">
            <a:avLst/>
          </a:prstGeom>
          <a:noFill/>
          <a:ln/>
        </p:spPr>
        <p:txBody>
          <a:bodyPr wrap="square" lIns="762" tIns="762" rIns="762" bIns="762" rtlCol="0" anchor="t">
            <a:normAutofit/>
          </a:bodyPr>
          <a:lstStyle/>
          <a:p>
            <a:pPr algn="l" indent="0" marL="0">
              <a:buNone/>
            </a:pPr>
            <a:r>
              <a:rPr lang="en-US" sz="1350" b="1" dirty="0">
                <a:solidFill>
                  <a:srgbClr val="17212B"/>
                </a:solidFill>
                <a:latin typeface="Aptos" pitchFamily="34" charset="0"/>
                <a:ea typeface="Aptos" pitchFamily="34" charset="-122"/>
                <a:cs typeface="Aptos" pitchFamily="34" charset="-120"/>
              </a:rPr>
              <a:t>Net outcome</a:t>
            </a:r>
            <a:endParaRPr lang="en-US" sz="1350" dirty="0"/>
          </a:p>
        </p:txBody>
      </p:sp>
      <p:sp>
        <p:nvSpPr>
          <p:cNvPr id="17" name="Text 15"/>
          <p:cNvSpPr/>
          <p:nvPr/>
        </p:nvSpPr>
        <p:spPr>
          <a:xfrm>
            <a:off x="4498848" y="3657600"/>
            <a:ext cx="6537960" cy="502920"/>
          </a:xfrm>
          <a:prstGeom prst="rect">
            <a:avLst/>
          </a:prstGeom>
          <a:noFill/>
          <a:ln/>
        </p:spPr>
        <p:txBody>
          <a:bodyPr wrap="square" lIns="762" tIns="762" rIns="762" bIns="762" rtlCol="0" anchor="t">
            <a:normAutofit/>
          </a:bodyPr>
          <a:lstStyle/>
          <a:p>
            <a:pPr algn="l" indent="0" marL="0">
              <a:buNone/>
            </a:pPr>
            <a:r>
              <a:rPr lang="en-US" sz="1250" dirty="0">
                <a:solidFill>
                  <a:srgbClr val="17212B"/>
                </a:solidFill>
                <a:latin typeface="Aptos" pitchFamily="34" charset="0"/>
                <a:ea typeface="Aptos" pitchFamily="34" charset="-122"/>
                <a:cs typeface="Aptos" pitchFamily="34" charset="-120"/>
              </a:rPr>
              <a:t>The objective feedback on the trial: gain minus loss. In this baseline, losses are treated as negative numbers with no extra psychological weighting.</a:t>
            </a:r>
            <a:endParaRPr lang="en-US" sz="1250" dirty="0"/>
          </a:p>
        </p:txBody>
      </p:sp>
      <p:sp>
        <p:nvSpPr>
          <p:cNvPr id="18" name="Shape 16"/>
          <p:cNvSpPr/>
          <p:nvPr/>
        </p:nvSpPr>
        <p:spPr>
          <a:xfrm>
            <a:off x="713232" y="4645152"/>
            <a:ext cx="10789920" cy="987552"/>
          </a:xfrm>
          <a:prstGeom prst="roundRect">
            <a:avLst>
              <a:gd name="adj" fmla="val 7407"/>
            </a:avLst>
          </a:prstGeom>
          <a:solidFill>
            <a:srgbClr val="F3F1E9"/>
          </a:solidFill>
          <a:ln w="10160">
            <a:solidFill>
              <a:srgbClr val="C8BFAE"/>
            </a:solidFill>
            <a:prstDash val="solid"/>
          </a:ln>
        </p:spPr>
      </p:sp>
      <p:sp>
        <p:nvSpPr>
          <p:cNvPr id="19" name="Text 17"/>
          <p:cNvSpPr/>
          <p:nvPr/>
        </p:nvSpPr>
        <p:spPr>
          <a:xfrm>
            <a:off x="960120" y="4809744"/>
            <a:ext cx="1005840" cy="256032"/>
          </a:xfrm>
          <a:prstGeom prst="rect">
            <a:avLst/>
          </a:prstGeom>
          <a:noFill/>
          <a:ln/>
        </p:spPr>
        <p:txBody>
          <a:bodyPr wrap="square" lIns="762" tIns="762" rIns="762" bIns="762" rtlCol="0" anchor="t">
            <a:normAutofit/>
          </a:bodyPr>
          <a:lstStyle/>
          <a:p>
            <a:pPr algn="ctr" indent="0" marL="0">
              <a:buNone/>
            </a:pPr>
            <a:r>
              <a:rPr lang="en-US" sz="1800" b="1" dirty="0">
                <a:solidFill>
                  <a:srgbClr val="24476B"/>
                </a:solidFill>
                <a:latin typeface="Aptos" pitchFamily="34" charset="0"/>
                <a:ea typeface="Aptos" pitchFamily="34" charset="-122"/>
                <a:cs typeface="Aptos" pitchFamily="34" charset="-120"/>
              </a:rPr>
              <a:t>β</a:t>
            </a:r>
            <a:endParaRPr lang="en-US" sz="1800" dirty="0"/>
          </a:p>
        </p:txBody>
      </p:sp>
      <p:sp>
        <p:nvSpPr>
          <p:cNvPr id="20" name="Text 18"/>
          <p:cNvSpPr/>
          <p:nvPr/>
        </p:nvSpPr>
        <p:spPr>
          <a:xfrm>
            <a:off x="2148840" y="4791456"/>
            <a:ext cx="2148840" cy="256032"/>
          </a:xfrm>
          <a:prstGeom prst="rect">
            <a:avLst/>
          </a:prstGeom>
          <a:noFill/>
          <a:ln/>
        </p:spPr>
        <p:txBody>
          <a:bodyPr wrap="square" lIns="762" tIns="762" rIns="762" bIns="762" rtlCol="0" anchor="t">
            <a:normAutofit/>
          </a:bodyPr>
          <a:lstStyle/>
          <a:p>
            <a:pPr algn="l" indent="0" marL="0">
              <a:buNone/>
            </a:pPr>
            <a:r>
              <a:rPr lang="en-US" sz="1350" b="1" dirty="0">
                <a:solidFill>
                  <a:srgbClr val="17212B"/>
                </a:solidFill>
                <a:latin typeface="Aptos" pitchFamily="34" charset="0"/>
                <a:ea typeface="Aptos" pitchFamily="34" charset="-122"/>
                <a:cs typeface="Aptos" pitchFamily="34" charset="-120"/>
              </a:rPr>
              <a:t>Choice sensitivity</a:t>
            </a:r>
            <a:endParaRPr lang="en-US" sz="1350" dirty="0"/>
          </a:p>
        </p:txBody>
      </p:sp>
      <p:sp>
        <p:nvSpPr>
          <p:cNvPr id="21" name="Text 19"/>
          <p:cNvSpPr/>
          <p:nvPr/>
        </p:nvSpPr>
        <p:spPr>
          <a:xfrm>
            <a:off x="4498848" y="4773168"/>
            <a:ext cx="6537960" cy="502920"/>
          </a:xfrm>
          <a:prstGeom prst="rect">
            <a:avLst/>
          </a:prstGeom>
          <a:noFill/>
          <a:ln/>
        </p:spPr>
        <p:txBody>
          <a:bodyPr wrap="square" lIns="762" tIns="762" rIns="762" bIns="762" rtlCol="0" anchor="t">
            <a:normAutofit/>
          </a:bodyPr>
          <a:lstStyle/>
          <a:p>
            <a:pPr algn="l" indent="0" marL="0">
              <a:buNone/>
            </a:pPr>
            <a:r>
              <a:rPr lang="en-US" sz="1250" dirty="0">
                <a:solidFill>
                  <a:srgbClr val="17212B"/>
                </a:solidFill>
                <a:latin typeface="Aptos" pitchFamily="34" charset="0"/>
                <a:ea typeface="Aptos" pitchFamily="34" charset="-122"/>
                <a:cs typeface="Aptos" pitchFamily="34" charset="-120"/>
              </a:rPr>
              <a:t>Controls how strongly choices follow the learned values. High β means the model almost always chooses the highest-value deck; low β means choices are noisier.</a:t>
            </a:r>
            <a:endParaRPr lang="en-US" sz="1250" dirty="0"/>
          </a:p>
        </p:txBody>
      </p:sp>
      <p:sp>
        <p:nvSpPr>
          <p:cNvPr id="22" name="Shape 20"/>
          <p:cNvSpPr/>
          <p:nvPr/>
        </p:nvSpPr>
        <p:spPr>
          <a:xfrm>
            <a:off x="713232" y="5870448"/>
            <a:ext cx="10789920" cy="420624"/>
          </a:xfrm>
          <a:prstGeom prst="roundRect">
            <a:avLst>
              <a:gd name="adj" fmla="val 17391"/>
            </a:avLst>
          </a:prstGeom>
          <a:solidFill>
            <a:srgbClr val="E0EFE8"/>
          </a:solidFill>
          <a:ln w="10160">
            <a:solidFill>
              <a:srgbClr val="C7DECF"/>
            </a:solidFill>
            <a:prstDash val="solid"/>
          </a:ln>
        </p:spPr>
      </p:sp>
      <p:sp>
        <p:nvSpPr>
          <p:cNvPr id="23" name="Text 21"/>
          <p:cNvSpPr/>
          <p:nvPr/>
        </p:nvSpPr>
        <p:spPr>
          <a:xfrm>
            <a:off x="941832" y="5980176"/>
            <a:ext cx="10058400" cy="164592"/>
          </a:xfrm>
          <a:prstGeom prst="rect">
            <a:avLst/>
          </a:prstGeom>
          <a:noFill/>
          <a:ln/>
        </p:spPr>
        <p:txBody>
          <a:bodyPr wrap="square" lIns="762" tIns="762" rIns="762" bIns="762" rtlCol="0" anchor="t">
            <a:normAutofit/>
          </a:bodyPr>
          <a:lstStyle/>
          <a:p>
            <a:pPr algn="l" indent="0" marL="0">
              <a:buNone/>
            </a:pPr>
            <a:r>
              <a:rPr lang="en-US" sz="1150" b="1" dirty="0">
                <a:solidFill>
                  <a:srgbClr val="2F6F5E"/>
                </a:solidFill>
                <a:latin typeface="Aptos" pitchFamily="34" charset="0"/>
                <a:ea typeface="Aptos" pitchFamily="34" charset="-122"/>
                <a:cs typeface="Aptos" pitchFamily="34" charset="-120"/>
              </a:rPr>
              <a:t>How values are chosen: α and β are fitted per subject by maximizing the probability of that subject’s actual sequence of deck choices.</a:t>
            </a:r>
            <a:endParaRPr lang="en-US" sz="1150" dirty="0"/>
          </a:p>
        </p:txBody>
      </p:sp>
      <p:sp>
        <p:nvSpPr>
          <p:cNvPr id="24" name="Text 22"/>
          <p:cNvSpPr/>
          <p:nvPr/>
        </p:nvSpPr>
        <p:spPr>
          <a:xfrm>
            <a:off x="530352" y="6565392"/>
            <a:ext cx="11109960" cy="164592"/>
          </a:xfrm>
          <a:prstGeom prst="rect">
            <a:avLst/>
          </a:prstGeom>
          <a:noFill/>
          <a:ln/>
        </p:spPr>
        <p:txBody>
          <a:bodyPr wrap="square" lIns="0" tIns="0" rIns="0" bIns="0" rtlCol="0" anchor="t">
            <a:normAutofit/>
          </a:bodyPr>
          <a:lstStyle/>
          <a:p>
            <a:pPr algn="l" indent="0" marL="0">
              <a:buNone/>
            </a:pPr>
            <a:r>
              <a:rPr lang="en-US" sz="650" dirty="0">
                <a:solidFill>
                  <a:srgbClr val="59636E"/>
                </a:solidFill>
                <a:latin typeface="Aptos" pitchFamily="34" charset="0"/>
                <a:ea typeface="Aptos" pitchFamily="34" charset="-122"/>
                <a:cs typeface="Aptos" pitchFamily="34" charset="-120"/>
              </a:rPr>
              <a:t>Term explanations are intentionally model-specific: the same symbol can mean different things in different models.</a:t>
            </a:r>
            <a:endParaRPr lang="en-US" sz="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C"/>
        </a:solidFill>
      </p:bgPr>
    </p:bg>
    <p:spTree>
      <p:nvGrpSpPr>
        <p:cNvPr id="1" name=""/>
        <p:cNvGrpSpPr/>
        <p:nvPr/>
      </p:nvGrpSpPr>
      <p:grpSpPr>
        <a:xfrm>
          <a:off x="0" y="0"/>
          <a:ext cx="0" cy="0"/>
          <a:chOff x="0" y="0"/>
          <a:chExt cx="0" cy="0"/>
        </a:xfrm>
      </p:grpSpPr>
      <p:sp>
        <p:nvSpPr>
          <p:cNvPr id="2" name="Text 0"/>
          <p:cNvSpPr/>
          <p:nvPr/>
        </p:nvSpPr>
        <p:spPr>
          <a:xfrm>
            <a:off x="502920" y="256032"/>
            <a:ext cx="9692640" cy="438912"/>
          </a:xfrm>
          <a:prstGeom prst="rect">
            <a:avLst/>
          </a:prstGeom>
          <a:noFill/>
          <a:ln/>
        </p:spPr>
        <p:txBody>
          <a:bodyPr wrap="square" lIns="0" tIns="0" rIns="0" bIns="0" rtlCol="0" anchor="ctr">
            <a:normAutofit/>
          </a:bodyPr>
          <a:lstStyle/>
          <a:p>
            <a:pPr indent="0" marL="0">
              <a:buNone/>
            </a:pPr>
            <a:r>
              <a:rPr lang="en-US" sz="2600" b="1" dirty="0">
                <a:solidFill>
                  <a:srgbClr val="17212B"/>
                </a:solidFill>
                <a:latin typeface="Aptos Display" pitchFamily="34" charset="0"/>
                <a:ea typeface="Aptos Display" pitchFamily="34" charset="-122"/>
                <a:cs typeface="Aptos Display" pitchFamily="34" charset="-120"/>
              </a:rPr>
              <a:t>Model 2: PVL-Delta</a:t>
            </a:r>
            <a:endParaRPr lang="en-US" sz="2600" dirty="0"/>
          </a:p>
        </p:txBody>
      </p:sp>
      <p:sp>
        <p:nvSpPr>
          <p:cNvPr id="3" name="Text 1"/>
          <p:cNvSpPr/>
          <p:nvPr/>
        </p:nvSpPr>
        <p:spPr>
          <a:xfrm>
            <a:off x="530352" y="758952"/>
            <a:ext cx="9875520" cy="256032"/>
          </a:xfrm>
          <a:prstGeom prst="rect">
            <a:avLst/>
          </a:prstGeom>
          <a:noFill/>
          <a:ln/>
        </p:spPr>
        <p:txBody>
          <a:bodyPr wrap="square" lIns="0" tIns="0" rIns="0" bIns="0" rtlCol="0" anchor="ctr">
            <a:normAutofit/>
          </a:bodyPr>
          <a:lstStyle/>
          <a:p>
            <a:pPr indent="0" marL="0">
              <a:buNone/>
            </a:pPr>
            <a:r>
              <a:rPr lang="en-US" sz="1150" dirty="0">
                <a:solidFill>
                  <a:srgbClr val="59636E"/>
                </a:solidFill>
                <a:latin typeface="Aptos" pitchFamily="34" charset="0"/>
                <a:ea typeface="Aptos" pitchFamily="34" charset="-122"/>
                <a:cs typeface="Aptos" pitchFamily="34" charset="-120"/>
              </a:rPr>
              <a:t>A TD-like model that first transforms money into subjective utility</a:t>
            </a:r>
            <a:endParaRPr lang="en-US" sz="1150" dirty="0"/>
          </a:p>
        </p:txBody>
      </p:sp>
      <p:sp>
        <p:nvSpPr>
          <p:cNvPr id="4" name="Text 2"/>
          <p:cNvSpPr/>
          <p:nvPr/>
        </p:nvSpPr>
        <p:spPr>
          <a:xfrm>
            <a:off x="11109960" y="256032"/>
            <a:ext cx="566928" cy="292608"/>
          </a:xfrm>
          <a:prstGeom prst="rect">
            <a:avLst/>
          </a:prstGeom>
          <a:noFill/>
          <a:ln/>
        </p:spPr>
        <p:txBody>
          <a:bodyPr wrap="square" lIns="0" tIns="0" rIns="0" bIns="0" rtlCol="0" anchor="ctr"/>
          <a:lstStyle/>
          <a:p>
            <a:pPr algn="r" indent="0" marL="0">
              <a:buNone/>
            </a:pPr>
            <a:r>
              <a:rPr lang="en-US" sz="1300" b="1" dirty="0">
                <a:solidFill>
                  <a:srgbClr val="24476B"/>
                </a:solidFill>
              </a:rPr>
              <a:t>09</a:t>
            </a:r>
            <a:endParaRPr lang="en-US" sz="1300" dirty="0"/>
          </a:p>
        </p:txBody>
      </p:sp>
      <p:sp>
        <p:nvSpPr>
          <p:cNvPr id="5" name="Shape 3"/>
          <p:cNvSpPr/>
          <p:nvPr/>
        </p:nvSpPr>
        <p:spPr>
          <a:xfrm>
            <a:off x="502920" y="987552"/>
            <a:ext cx="11155680" cy="0"/>
          </a:xfrm>
          <a:prstGeom prst="line">
            <a:avLst/>
          </a:prstGeom>
          <a:noFill/>
          <a:ln w="7620">
            <a:solidFill>
              <a:srgbClr val="C8BFAE"/>
            </a:solidFill>
            <a:prstDash val="solid"/>
          </a:ln>
        </p:spPr>
      </p:sp>
      <p:sp>
        <p:nvSpPr>
          <p:cNvPr id="6" name="Shape 4"/>
          <p:cNvSpPr/>
          <p:nvPr/>
        </p:nvSpPr>
        <p:spPr>
          <a:xfrm>
            <a:off x="777240" y="1417320"/>
            <a:ext cx="2057400" cy="777240"/>
          </a:xfrm>
          <a:prstGeom prst="roundRect">
            <a:avLst>
              <a:gd name="adj" fmla="val 9412"/>
            </a:avLst>
          </a:prstGeom>
          <a:solidFill>
            <a:srgbClr val="FFFFFF"/>
          </a:solidFill>
          <a:ln w="10160">
            <a:solidFill>
              <a:srgbClr val="C8BFAE"/>
            </a:solidFill>
            <a:prstDash val="solid"/>
          </a:ln>
        </p:spPr>
      </p:sp>
      <p:sp>
        <p:nvSpPr>
          <p:cNvPr id="7" name="Text 5"/>
          <p:cNvSpPr/>
          <p:nvPr/>
        </p:nvSpPr>
        <p:spPr>
          <a:xfrm>
            <a:off x="960120" y="1609344"/>
            <a:ext cx="1645920" cy="347472"/>
          </a:xfrm>
          <a:prstGeom prst="rect">
            <a:avLst/>
          </a:prstGeom>
          <a:noFill/>
          <a:ln/>
        </p:spPr>
        <p:txBody>
          <a:bodyPr wrap="square" lIns="762" tIns="762" rIns="762" bIns="762" rtlCol="0" anchor="t">
            <a:normAutofit/>
          </a:bodyPr>
          <a:lstStyle/>
          <a:p>
            <a:pPr algn="ctr" indent="0" marL="0">
              <a:buNone/>
            </a:pPr>
            <a:r>
              <a:rPr lang="en-US" sz="1600" b="1" dirty="0">
                <a:solidFill>
                  <a:srgbClr val="24476B"/>
                </a:solidFill>
                <a:latin typeface="Aptos" pitchFamily="34" charset="0"/>
                <a:ea typeface="Aptos" pitchFamily="34" charset="-122"/>
                <a:cs typeface="Aptos" pitchFamily="34" charset="-120"/>
              </a:rPr>
              <a:t>objective</a:t>
            </a:r>
            <a:endParaRPr lang="en-US" sz="1600" dirty="0"/>
          </a:p>
          <a:p>
            <a:pPr algn="ctr" indent="0" marL="0">
              <a:buNone/>
            </a:pPr>
            <a:r>
              <a:rPr lang="en-US" sz="1600" b="1" dirty="0">
                <a:solidFill>
                  <a:srgbClr val="24476B"/>
                </a:solidFill>
                <a:latin typeface="Aptos" pitchFamily="34" charset="0"/>
                <a:ea typeface="Aptos" pitchFamily="34" charset="-122"/>
                <a:cs typeface="Aptos" pitchFamily="34" charset="-120"/>
              </a:rPr>
              <a:t>outcome</a:t>
            </a:r>
            <a:endParaRPr lang="en-US" sz="1600" dirty="0"/>
          </a:p>
        </p:txBody>
      </p:sp>
      <p:sp>
        <p:nvSpPr>
          <p:cNvPr id="8" name="Shape 6"/>
          <p:cNvSpPr/>
          <p:nvPr/>
        </p:nvSpPr>
        <p:spPr>
          <a:xfrm>
            <a:off x="2834640" y="1810512"/>
            <a:ext cx="594360" cy="0"/>
          </a:xfrm>
          <a:prstGeom prst="line">
            <a:avLst/>
          </a:prstGeom>
          <a:noFill/>
          <a:ln w="16510">
            <a:solidFill>
              <a:srgbClr val="24476B"/>
            </a:solidFill>
            <a:prstDash val="solid"/>
            <a:headEnd type="none"/>
            <a:tailEnd type="triangle"/>
          </a:ln>
        </p:spPr>
      </p:sp>
      <p:sp>
        <p:nvSpPr>
          <p:cNvPr id="9" name="Shape 7"/>
          <p:cNvSpPr/>
          <p:nvPr/>
        </p:nvSpPr>
        <p:spPr>
          <a:xfrm>
            <a:off x="3429000" y="1417320"/>
            <a:ext cx="2148840" cy="777240"/>
          </a:xfrm>
          <a:prstGeom prst="roundRect">
            <a:avLst>
              <a:gd name="adj" fmla="val 9412"/>
            </a:avLst>
          </a:prstGeom>
          <a:solidFill>
            <a:srgbClr val="F6E7C8"/>
          </a:solidFill>
          <a:ln w="10160">
            <a:solidFill>
              <a:srgbClr val="E1C889"/>
            </a:solidFill>
            <a:prstDash val="solid"/>
          </a:ln>
        </p:spPr>
      </p:sp>
      <p:sp>
        <p:nvSpPr>
          <p:cNvPr id="10" name="Text 8"/>
          <p:cNvSpPr/>
          <p:nvPr/>
        </p:nvSpPr>
        <p:spPr>
          <a:xfrm>
            <a:off x="3621024" y="1609344"/>
            <a:ext cx="1755648" cy="347472"/>
          </a:xfrm>
          <a:prstGeom prst="rect">
            <a:avLst/>
          </a:prstGeom>
          <a:noFill/>
          <a:ln/>
        </p:spPr>
        <p:txBody>
          <a:bodyPr wrap="square" lIns="762" tIns="762" rIns="762" bIns="762" rtlCol="0" anchor="t">
            <a:normAutofit/>
          </a:bodyPr>
          <a:lstStyle/>
          <a:p>
            <a:pPr algn="ctr" indent="0" marL="0">
              <a:buNone/>
            </a:pPr>
            <a:r>
              <a:rPr lang="en-US" sz="1600" b="1" dirty="0">
                <a:solidFill>
                  <a:srgbClr val="A86B13"/>
                </a:solidFill>
                <a:latin typeface="Aptos" pitchFamily="34" charset="0"/>
                <a:ea typeface="Aptos" pitchFamily="34" charset="-122"/>
                <a:cs typeface="Aptos" pitchFamily="34" charset="-120"/>
              </a:rPr>
              <a:t>subjective</a:t>
            </a:r>
            <a:endParaRPr lang="en-US" sz="1600" dirty="0"/>
          </a:p>
          <a:p>
            <a:pPr algn="ctr" indent="0" marL="0">
              <a:buNone/>
            </a:pPr>
            <a:r>
              <a:rPr lang="en-US" sz="1600" b="1" dirty="0">
                <a:solidFill>
                  <a:srgbClr val="A86B13"/>
                </a:solidFill>
                <a:latin typeface="Aptos" pitchFamily="34" charset="0"/>
                <a:ea typeface="Aptos" pitchFamily="34" charset="-122"/>
                <a:cs typeface="Aptos" pitchFamily="34" charset="-120"/>
              </a:rPr>
              <a:t>utility</a:t>
            </a:r>
            <a:endParaRPr lang="en-US" sz="1600" dirty="0"/>
          </a:p>
        </p:txBody>
      </p:sp>
      <p:sp>
        <p:nvSpPr>
          <p:cNvPr id="11" name="Shape 9"/>
          <p:cNvSpPr/>
          <p:nvPr/>
        </p:nvSpPr>
        <p:spPr>
          <a:xfrm>
            <a:off x="5577840" y="1810512"/>
            <a:ext cx="594360" cy="0"/>
          </a:xfrm>
          <a:prstGeom prst="line">
            <a:avLst/>
          </a:prstGeom>
          <a:noFill/>
          <a:ln w="16510">
            <a:solidFill>
              <a:srgbClr val="24476B"/>
            </a:solidFill>
            <a:prstDash val="solid"/>
            <a:headEnd type="none"/>
            <a:tailEnd type="triangle"/>
          </a:ln>
        </p:spPr>
      </p:sp>
      <p:sp>
        <p:nvSpPr>
          <p:cNvPr id="12" name="Shape 10"/>
          <p:cNvSpPr/>
          <p:nvPr/>
        </p:nvSpPr>
        <p:spPr>
          <a:xfrm>
            <a:off x="6172200" y="1417320"/>
            <a:ext cx="2148840" cy="777240"/>
          </a:xfrm>
          <a:prstGeom prst="roundRect">
            <a:avLst>
              <a:gd name="adj" fmla="val 9412"/>
            </a:avLst>
          </a:prstGeom>
          <a:solidFill>
            <a:srgbClr val="E0EFE8"/>
          </a:solidFill>
          <a:ln w="10160">
            <a:solidFill>
              <a:srgbClr val="C7DECF"/>
            </a:solidFill>
            <a:prstDash val="solid"/>
          </a:ln>
        </p:spPr>
      </p:sp>
      <p:sp>
        <p:nvSpPr>
          <p:cNvPr id="13" name="Text 11"/>
          <p:cNvSpPr/>
          <p:nvPr/>
        </p:nvSpPr>
        <p:spPr>
          <a:xfrm>
            <a:off x="6364224" y="1609344"/>
            <a:ext cx="1737360" cy="347472"/>
          </a:xfrm>
          <a:prstGeom prst="rect">
            <a:avLst/>
          </a:prstGeom>
          <a:noFill/>
          <a:ln/>
        </p:spPr>
        <p:txBody>
          <a:bodyPr wrap="square" lIns="762" tIns="762" rIns="762" bIns="762" rtlCol="0" anchor="t">
            <a:normAutofit/>
          </a:bodyPr>
          <a:lstStyle/>
          <a:p>
            <a:pPr algn="ctr" indent="0" marL="0">
              <a:buNone/>
            </a:pPr>
            <a:r>
              <a:rPr lang="en-US" sz="1600" b="1" dirty="0">
                <a:solidFill>
                  <a:srgbClr val="2F6F5E"/>
                </a:solidFill>
                <a:latin typeface="Aptos" pitchFamily="34" charset="0"/>
                <a:ea typeface="Aptos" pitchFamily="34" charset="-122"/>
                <a:cs typeface="Aptos" pitchFamily="34" charset="-120"/>
              </a:rPr>
              <a:t>delta</a:t>
            </a:r>
            <a:endParaRPr lang="en-US" sz="1600" dirty="0"/>
          </a:p>
          <a:p>
            <a:pPr algn="ctr" indent="0" marL="0">
              <a:buNone/>
            </a:pPr>
            <a:r>
              <a:rPr lang="en-US" sz="1600" b="1" dirty="0">
                <a:solidFill>
                  <a:srgbClr val="2F6F5E"/>
                </a:solidFill>
                <a:latin typeface="Aptos" pitchFamily="34" charset="0"/>
                <a:ea typeface="Aptos" pitchFamily="34" charset="-122"/>
                <a:cs typeface="Aptos" pitchFamily="34" charset="-120"/>
              </a:rPr>
              <a:t>update</a:t>
            </a:r>
            <a:endParaRPr lang="en-US" sz="1600" dirty="0"/>
          </a:p>
        </p:txBody>
      </p:sp>
      <p:sp>
        <p:nvSpPr>
          <p:cNvPr id="14" name="Shape 12"/>
          <p:cNvSpPr/>
          <p:nvPr/>
        </p:nvSpPr>
        <p:spPr>
          <a:xfrm>
            <a:off x="8321040" y="1810512"/>
            <a:ext cx="594360" cy="0"/>
          </a:xfrm>
          <a:prstGeom prst="line">
            <a:avLst/>
          </a:prstGeom>
          <a:noFill/>
          <a:ln w="16510">
            <a:solidFill>
              <a:srgbClr val="24476B"/>
            </a:solidFill>
            <a:prstDash val="solid"/>
            <a:headEnd type="none"/>
            <a:tailEnd type="triangle"/>
          </a:ln>
        </p:spPr>
      </p:sp>
      <p:sp>
        <p:nvSpPr>
          <p:cNvPr id="15" name="Shape 13"/>
          <p:cNvSpPr/>
          <p:nvPr/>
        </p:nvSpPr>
        <p:spPr>
          <a:xfrm>
            <a:off x="8915400" y="1417320"/>
            <a:ext cx="2148840" cy="777240"/>
          </a:xfrm>
          <a:prstGeom prst="roundRect">
            <a:avLst>
              <a:gd name="adj" fmla="val 9412"/>
            </a:avLst>
          </a:prstGeom>
          <a:solidFill>
            <a:srgbClr val="DCE8F4"/>
          </a:solidFill>
          <a:ln w="10160">
            <a:solidFill>
              <a:srgbClr val="B7C9DB"/>
            </a:solidFill>
            <a:prstDash val="solid"/>
          </a:ln>
        </p:spPr>
      </p:sp>
      <p:sp>
        <p:nvSpPr>
          <p:cNvPr id="16" name="Text 14"/>
          <p:cNvSpPr/>
          <p:nvPr/>
        </p:nvSpPr>
        <p:spPr>
          <a:xfrm>
            <a:off x="9107424" y="1609344"/>
            <a:ext cx="1755648" cy="347472"/>
          </a:xfrm>
          <a:prstGeom prst="rect">
            <a:avLst/>
          </a:prstGeom>
          <a:noFill/>
          <a:ln/>
        </p:spPr>
        <p:txBody>
          <a:bodyPr wrap="square" lIns="762" tIns="762" rIns="762" bIns="762" rtlCol="0" anchor="t">
            <a:normAutofit/>
          </a:bodyPr>
          <a:lstStyle/>
          <a:p>
            <a:pPr algn="ctr" indent="0" marL="0">
              <a:buNone/>
            </a:pPr>
            <a:r>
              <a:rPr lang="en-US" sz="1600" b="1" dirty="0">
                <a:solidFill>
                  <a:srgbClr val="24476B"/>
                </a:solidFill>
                <a:latin typeface="Aptos" pitchFamily="34" charset="0"/>
                <a:ea typeface="Aptos" pitchFamily="34" charset="-122"/>
                <a:cs typeface="Aptos" pitchFamily="34" charset="-120"/>
              </a:rPr>
              <a:t>choice</a:t>
            </a:r>
            <a:endParaRPr lang="en-US" sz="1600" dirty="0"/>
          </a:p>
          <a:p>
            <a:pPr algn="ctr" indent="0" marL="0">
              <a:buNone/>
            </a:pPr>
            <a:r>
              <a:rPr lang="en-US" sz="1600" b="1" dirty="0">
                <a:solidFill>
                  <a:srgbClr val="24476B"/>
                </a:solidFill>
                <a:latin typeface="Aptos" pitchFamily="34" charset="0"/>
                <a:ea typeface="Aptos" pitchFamily="34" charset="-122"/>
                <a:cs typeface="Aptos" pitchFamily="34" charset="-120"/>
              </a:rPr>
              <a:t>probability</a:t>
            </a:r>
            <a:endParaRPr lang="en-US" sz="1600" dirty="0"/>
          </a:p>
        </p:txBody>
      </p:sp>
      <p:sp>
        <p:nvSpPr>
          <p:cNvPr id="17" name="Shape 15"/>
          <p:cNvSpPr/>
          <p:nvPr/>
        </p:nvSpPr>
        <p:spPr>
          <a:xfrm>
            <a:off x="777240" y="2788920"/>
            <a:ext cx="5074920" cy="2240280"/>
          </a:xfrm>
          <a:prstGeom prst="roundRect">
            <a:avLst>
              <a:gd name="adj" fmla="val 3265"/>
            </a:avLst>
          </a:prstGeom>
          <a:solidFill>
            <a:srgbClr val="FFFFFF"/>
          </a:solidFill>
          <a:ln w="10160">
            <a:solidFill>
              <a:srgbClr val="C8BFAE"/>
            </a:solidFill>
            <a:prstDash val="solid"/>
          </a:ln>
        </p:spPr>
      </p:sp>
      <p:sp>
        <p:nvSpPr>
          <p:cNvPr id="18" name="Text 16"/>
          <p:cNvSpPr/>
          <p:nvPr/>
        </p:nvSpPr>
        <p:spPr>
          <a:xfrm>
            <a:off x="1024128" y="3044952"/>
            <a:ext cx="2560320" cy="256032"/>
          </a:xfrm>
          <a:prstGeom prst="rect">
            <a:avLst/>
          </a:prstGeom>
          <a:noFill/>
          <a:ln/>
        </p:spPr>
        <p:txBody>
          <a:bodyPr wrap="square" lIns="0" tIns="0" rIns="0" bIns="0" rtlCol="0" anchor="t">
            <a:normAutofit/>
          </a:bodyPr>
          <a:lstStyle/>
          <a:p>
            <a:pPr algn="l" indent="0" marL="0">
              <a:buNone/>
            </a:pPr>
            <a:r>
              <a:rPr lang="en-US" sz="1300" b="1" dirty="0">
                <a:solidFill>
                  <a:srgbClr val="A86B13"/>
                </a:solidFill>
                <a:latin typeface="Aptos" pitchFamily="34" charset="0"/>
                <a:ea typeface="Aptos" pitchFamily="34" charset="-122"/>
                <a:cs typeface="Aptos" pitchFamily="34" charset="-120"/>
              </a:rPr>
              <a:t>Subjective utility step</a:t>
            </a:r>
            <a:endParaRPr lang="en-US" sz="1300" dirty="0"/>
          </a:p>
        </p:txBody>
      </p:sp>
      <p:sp>
        <p:nvSpPr>
          <p:cNvPr id="19" name="Text 17"/>
          <p:cNvSpPr/>
          <p:nvPr/>
        </p:nvSpPr>
        <p:spPr>
          <a:xfrm>
            <a:off x="1024128" y="3456432"/>
            <a:ext cx="4480560" cy="621792"/>
          </a:xfrm>
          <a:prstGeom prst="rect">
            <a:avLst/>
          </a:prstGeom>
          <a:noFill/>
          <a:ln/>
        </p:spPr>
        <p:txBody>
          <a:bodyPr wrap="square" lIns="762" tIns="762" rIns="762" bIns="762" rtlCol="0" anchor="t">
            <a:normAutofit/>
          </a:bodyPr>
          <a:lstStyle/>
          <a:p>
            <a:pPr algn="l" indent="0" marL="0">
              <a:buNone/>
            </a:pPr>
            <a:r>
              <a:rPr lang="en-US" sz="1700" b="1" dirty="0">
                <a:solidFill>
                  <a:srgbClr val="A86B13"/>
                </a:solidFill>
                <a:latin typeface="Aptos" pitchFamily="34" charset="0"/>
                <a:ea typeface="Aptos" pitchFamily="34" charset="-122"/>
                <a:cs typeface="Aptos" pitchFamily="34" charset="-120"/>
              </a:rPr>
              <a:t>u(x) = x^α                         if x ≥ 0</a:t>
            </a:r>
            <a:endParaRPr lang="en-US" sz="1700" dirty="0"/>
          </a:p>
          <a:p>
            <a:pPr algn="l" indent="0" marL="0">
              <a:buNone/>
            </a:pPr>
            <a:r>
              <a:rPr lang="en-US" sz="1700" b="1" dirty="0">
                <a:solidFill>
                  <a:srgbClr val="A86B13"/>
                </a:solidFill>
                <a:latin typeface="Aptos" pitchFamily="34" charset="0"/>
                <a:ea typeface="Aptos" pitchFamily="34" charset="-122"/>
                <a:cs typeface="Aptos" pitchFamily="34" charset="-120"/>
              </a:rPr>
              <a:t>u(x) = −λ |x|^α                  if x &lt; 0</a:t>
            </a:r>
            <a:endParaRPr lang="en-US" sz="1700" dirty="0"/>
          </a:p>
        </p:txBody>
      </p:sp>
      <p:sp>
        <p:nvSpPr>
          <p:cNvPr id="20" name="Text 18"/>
          <p:cNvSpPr/>
          <p:nvPr/>
        </p:nvSpPr>
        <p:spPr>
          <a:xfrm>
            <a:off x="1024128" y="4343400"/>
            <a:ext cx="4343400" cy="475488"/>
          </a:xfrm>
          <a:prstGeom prst="rect">
            <a:avLst/>
          </a:prstGeom>
          <a:noFill/>
          <a:ln/>
        </p:spPr>
        <p:txBody>
          <a:bodyPr wrap="square" lIns="762" tIns="762" rIns="762" bIns="762" rtlCol="0" anchor="t">
            <a:normAutofit/>
          </a:bodyPr>
          <a:lstStyle/>
          <a:p>
            <a:pPr algn="l" indent="0" marL="0">
              <a:buNone/>
            </a:pPr>
            <a:r>
              <a:rPr lang="en-US" sz="1280" dirty="0">
                <a:solidFill>
                  <a:srgbClr val="17212B"/>
                </a:solidFill>
                <a:latin typeface="Aptos" pitchFamily="34" charset="0"/>
                <a:ea typeface="Aptos" pitchFamily="34" charset="-122"/>
                <a:cs typeface="Aptos" pitchFamily="34" charset="-120"/>
              </a:rPr>
              <a:t>This means the model does not assume that objective money is psychologically linear. Gains and losses can be distorted before learning occurs.</a:t>
            </a:r>
            <a:endParaRPr lang="en-US" sz="1280" dirty="0"/>
          </a:p>
        </p:txBody>
      </p:sp>
      <p:sp>
        <p:nvSpPr>
          <p:cNvPr id="21" name="Shape 19"/>
          <p:cNvSpPr/>
          <p:nvPr/>
        </p:nvSpPr>
        <p:spPr>
          <a:xfrm>
            <a:off x="6172200" y="2788920"/>
            <a:ext cx="5074920" cy="2240280"/>
          </a:xfrm>
          <a:prstGeom prst="roundRect">
            <a:avLst>
              <a:gd name="adj" fmla="val 3265"/>
            </a:avLst>
          </a:prstGeom>
          <a:solidFill>
            <a:srgbClr val="FFFFFF"/>
          </a:solidFill>
          <a:ln w="10160">
            <a:solidFill>
              <a:srgbClr val="C8BFAE"/>
            </a:solidFill>
            <a:prstDash val="solid"/>
          </a:ln>
        </p:spPr>
      </p:sp>
      <p:sp>
        <p:nvSpPr>
          <p:cNvPr id="22" name="Text 20"/>
          <p:cNvSpPr/>
          <p:nvPr/>
        </p:nvSpPr>
        <p:spPr>
          <a:xfrm>
            <a:off x="6419088" y="3044952"/>
            <a:ext cx="2377440" cy="256032"/>
          </a:xfrm>
          <a:prstGeom prst="rect">
            <a:avLst/>
          </a:prstGeom>
          <a:noFill/>
          <a:ln/>
        </p:spPr>
        <p:txBody>
          <a:bodyPr wrap="square" lIns="0" tIns="0" rIns="0" bIns="0" rtlCol="0" anchor="t">
            <a:normAutofit/>
          </a:bodyPr>
          <a:lstStyle/>
          <a:p>
            <a:pPr algn="l" indent="0" marL="0">
              <a:buNone/>
            </a:pPr>
            <a:r>
              <a:rPr lang="en-US" sz="1300" b="1" dirty="0">
                <a:solidFill>
                  <a:srgbClr val="2F6F5E"/>
                </a:solidFill>
                <a:latin typeface="Aptos" pitchFamily="34" charset="0"/>
                <a:ea typeface="Aptos" pitchFamily="34" charset="-122"/>
                <a:cs typeface="Aptos" pitchFamily="34" charset="-120"/>
              </a:rPr>
              <a:t>Delta update step</a:t>
            </a:r>
            <a:endParaRPr lang="en-US" sz="1300" dirty="0"/>
          </a:p>
        </p:txBody>
      </p:sp>
      <p:sp>
        <p:nvSpPr>
          <p:cNvPr id="23" name="Text 21"/>
          <p:cNvSpPr/>
          <p:nvPr/>
        </p:nvSpPr>
        <p:spPr>
          <a:xfrm>
            <a:off x="6419088" y="3493008"/>
            <a:ext cx="4480560" cy="384048"/>
          </a:xfrm>
          <a:prstGeom prst="rect">
            <a:avLst/>
          </a:prstGeom>
          <a:noFill/>
          <a:ln/>
        </p:spPr>
        <p:txBody>
          <a:bodyPr wrap="square" lIns="762" tIns="762" rIns="762" bIns="762" rtlCol="0" anchor="t">
            <a:normAutofit/>
          </a:bodyPr>
          <a:lstStyle/>
          <a:p>
            <a:pPr algn="l" indent="0" marL="0">
              <a:buNone/>
            </a:pPr>
            <a:r>
              <a:rPr lang="en-US" sz="1700" b="1" dirty="0">
                <a:solidFill>
                  <a:srgbClr val="2F6F5E"/>
                </a:solidFill>
                <a:latin typeface="Aptos" pitchFamily="34" charset="0"/>
                <a:ea typeface="Aptos" pitchFamily="34" charset="-122"/>
                <a:cs typeface="Aptos" pitchFamily="34" charset="-120"/>
              </a:rPr>
              <a:t>V_d(t+1) = V_d(t) + A [ u_t − V_d(t) ]</a:t>
            </a:r>
            <a:endParaRPr lang="en-US" sz="1700" dirty="0"/>
          </a:p>
        </p:txBody>
      </p:sp>
      <p:sp>
        <p:nvSpPr>
          <p:cNvPr id="24" name="Text 22"/>
          <p:cNvSpPr/>
          <p:nvPr/>
        </p:nvSpPr>
        <p:spPr>
          <a:xfrm>
            <a:off x="6419088" y="4206240"/>
            <a:ext cx="4343400" cy="621792"/>
          </a:xfrm>
          <a:prstGeom prst="rect">
            <a:avLst/>
          </a:prstGeom>
          <a:noFill/>
          <a:ln/>
        </p:spPr>
        <p:txBody>
          <a:bodyPr wrap="square" lIns="762" tIns="762" rIns="762" bIns="762" rtlCol="0" anchor="t">
            <a:normAutofit/>
          </a:bodyPr>
          <a:lstStyle/>
          <a:p>
            <a:pPr algn="l" indent="0" marL="0">
              <a:buNone/>
            </a:pPr>
            <a:r>
              <a:rPr lang="en-US" sz="1280" dirty="0">
                <a:solidFill>
                  <a:srgbClr val="17212B"/>
                </a:solidFill>
                <a:latin typeface="Aptos" pitchFamily="34" charset="0"/>
                <a:ea typeface="Aptos" pitchFamily="34" charset="-122"/>
                <a:cs typeface="Aptos" pitchFamily="34" charset="-120"/>
              </a:rPr>
              <a:t>This is similar to TD learning: the deck value is updated by a prediction error. The difference is that the prediction error uses subjective utility, not raw reward.</a:t>
            </a:r>
            <a:endParaRPr lang="en-US" sz="1280" dirty="0"/>
          </a:p>
        </p:txBody>
      </p:sp>
      <p:sp>
        <p:nvSpPr>
          <p:cNvPr id="25" name="Text 23"/>
          <p:cNvSpPr/>
          <p:nvPr/>
        </p:nvSpPr>
        <p:spPr>
          <a:xfrm>
            <a:off x="530352" y="6565392"/>
            <a:ext cx="11109960" cy="164592"/>
          </a:xfrm>
          <a:prstGeom prst="rect">
            <a:avLst/>
          </a:prstGeom>
          <a:noFill/>
          <a:ln/>
        </p:spPr>
        <p:txBody>
          <a:bodyPr wrap="square" lIns="0" tIns="0" rIns="0" bIns="0" rtlCol="0" anchor="t">
            <a:normAutofit/>
          </a:bodyPr>
          <a:lstStyle/>
          <a:p>
            <a:pPr algn="l" indent="0" marL="0">
              <a:buNone/>
            </a:pPr>
            <a:r>
              <a:rPr lang="en-US" sz="650" dirty="0">
                <a:solidFill>
                  <a:srgbClr val="59636E"/>
                </a:solidFill>
                <a:latin typeface="Aptos" pitchFamily="34" charset="0"/>
                <a:ea typeface="Aptos" pitchFamily="34" charset="-122"/>
                <a:cs typeface="Aptos" pitchFamily="34" charset="-120"/>
              </a:rPr>
              <a:t>PVL-Delta parameters in hBayesDM: A learning rate, alpha outcome sensitivity, lambda loss aversion, cons response consistency.</a:t>
            </a:r>
            <a:endParaRPr lang="en-US" sz="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C"/>
        </a:solidFill>
      </p:bgPr>
    </p:bg>
    <p:spTree>
      <p:nvGrpSpPr>
        <p:cNvPr id="1" name=""/>
        <p:cNvGrpSpPr/>
        <p:nvPr/>
      </p:nvGrpSpPr>
      <p:grpSpPr>
        <a:xfrm>
          <a:off x="0" y="0"/>
          <a:ext cx="0" cy="0"/>
          <a:chOff x="0" y="0"/>
          <a:chExt cx="0" cy="0"/>
        </a:xfrm>
      </p:grpSpPr>
      <p:sp>
        <p:nvSpPr>
          <p:cNvPr id="2" name="Text 0"/>
          <p:cNvSpPr/>
          <p:nvPr/>
        </p:nvSpPr>
        <p:spPr>
          <a:xfrm>
            <a:off x="502920" y="256032"/>
            <a:ext cx="9692640" cy="438912"/>
          </a:xfrm>
          <a:prstGeom prst="rect">
            <a:avLst/>
          </a:prstGeom>
          <a:noFill/>
          <a:ln/>
        </p:spPr>
        <p:txBody>
          <a:bodyPr wrap="square" lIns="0" tIns="0" rIns="0" bIns="0" rtlCol="0" anchor="ctr">
            <a:normAutofit/>
          </a:bodyPr>
          <a:lstStyle/>
          <a:p>
            <a:pPr indent="0" marL="0">
              <a:buNone/>
            </a:pPr>
            <a:r>
              <a:rPr lang="en-US" sz="2600" b="1" dirty="0">
                <a:solidFill>
                  <a:srgbClr val="17212B"/>
                </a:solidFill>
                <a:latin typeface="Aptos Display" pitchFamily="34" charset="0"/>
                <a:ea typeface="Aptos Display" pitchFamily="34" charset="-122"/>
                <a:cs typeface="Aptos Display" pitchFamily="34" charset="-120"/>
              </a:rPr>
              <a:t>PVL-Delta terms: what each value means</a:t>
            </a:r>
            <a:endParaRPr lang="en-US" sz="2600" dirty="0"/>
          </a:p>
        </p:txBody>
      </p:sp>
      <p:sp>
        <p:nvSpPr>
          <p:cNvPr id="3" name="Text 1"/>
          <p:cNvSpPr/>
          <p:nvPr/>
        </p:nvSpPr>
        <p:spPr>
          <a:xfrm>
            <a:off x="530352" y="758952"/>
            <a:ext cx="9875520" cy="256032"/>
          </a:xfrm>
          <a:prstGeom prst="rect">
            <a:avLst/>
          </a:prstGeom>
          <a:noFill/>
          <a:ln/>
        </p:spPr>
        <p:txBody>
          <a:bodyPr wrap="square" lIns="0" tIns="0" rIns="0" bIns="0" rtlCol="0" anchor="ctr">
            <a:normAutofit/>
          </a:bodyPr>
          <a:lstStyle/>
          <a:p>
            <a:pPr indent="0" marL="0">
              <a:buNone/>
            </a:pPr>
            <a:r>
              <a:rPr lang="en-US" sz="1150" dirty="0">
                <a:solidFill>
                  <a:srgbClr val="59636E"/>
                </a:solidFill>
                <a:latin typeface="Aptos" pitchFamily="34" charset="0"/>
                <a:ea typeface="Aptos" pitchFamily="34" charset="-122"/>
                <a:cs typeface="Aptos" pitchFamily="34" charset="-120"/>
              </a:rPr>
              <a:t>The model adds psychological assumptions about gains, losses, and choice consistency</a:t>
            </a:r>
            <a:endParaRPr lang="en-US" sz="1150" dirty="0"/>
          </a:p>
        </p:txBody>
      </p:sp>
      <p:sp>
        <p:nvSpPr>
          <p:cNvPr id="4" name="Text 2"/>
          <p:cNvSpPr/>
          <p:nvPr/>
        </p:nvSpPr>
        <p:spPr>
          <a:xfrm>
            <a:off x="11109960" y="256032"/>
            <a:ext cx="566928" cy="292608"/>
          </a:xfrm>
          <a:prstGeom prst="rect">
            <a:avLst/>
          </a:prstGeom>
          <a:noFill/>
          <a:ln/>
        </p:spPr>
        <p:txBody>
          <a:bodyPr wrap="square" lIns="0" tIns="0" rIns="0" bIns="0" rtlCol="0" anchor="ctr"/>
          <a:lstStyle/>
          <a:p>
            <a:pPr algn="r" indent="0" marL="0">
              <a:buNone/>
            </a:pPr>
            <a:r>
              <a:rPr lang="en-US" sz="1300" b="1" dirty="0">
                <a:solidFill>
                  <a:srgbClr val="24476B"/>
                </a:solidFill>
              </a:rPr>
              <a:t>10</a:t>
            </a:r>
            <a:endParaRPr lang="en-US" sz="1300" dirty="0"/>
          </a:p>
        </p:txBody>
      </p:sp>
      <p:sp>
        <p:nvSpPr>
          <p:cNvPr id="5" name="Shape 3"/>
          <p:cNvSpPr/>
          <p:nvPr/>
        </p:nvSpPr>
        <p:spPr>
          <a:xfrm>
            <a:off x="502920" y="987552"/>
            <a:ext cx="11155680" cy="0"/>
          </a:xfrm>
          <a:prstGeom prst="line">
            <a:avLst/>
          </a:prstGeom>
          <a:noFill/>
          <a:ln w="7620">
            <a:solidFill>
              <a:srgbClr val="C8BFAE"/>
            </a:solidFill>
            <a:prstDash val="solid"/>
          </a:ln>
        </p:spPr>
      </p:sp>
      <p:sp>
        <p:nvSpPr>
          <p:cNvPr id="6" name="Shape 4"/>
          <p:cNvSpPr/>
          <p:nvPr/>
        </p:nvSpPr>
        <p:spPr>
          <a:xfrm>
            <a:off x="658368" y="1234440"/>
            <a:ext cx="10881360" cy="804672"/>
          </a:xfrm>
          <a:prstGeom prst="roundRect">
            <a:avLst>
              <a:gd name="adj" fmla="val 9091"/>
            </a:avLst>
          </a:prstGeom>
          <a:solidFill>
            <a:srgbClr val="FFFFFF"/>
          </a:solidFill>
          <a:ln w="10160">
            <a:solidFill>
              <a:srgbClr val="C8BFAE"/>
            </a:solidFill>
            <a:prstDash val="solid"/>
          </a:ln>
        </p:spPr>
      </p:sp>
      <p:sp>
        <p:nvSpPr>
          <p:cNvPr id="7" name="Text 5"/>
          <p:cNvSpPr/>
          <p:nvPr/>
        </p:nvSpPr>
        <p:spPr>
          <a:xfrm>
            <a:off x="859536" y="1362456"/>
            <a:ext cx="1097280" cy="201168"/>
          </a:xfrm>
          <a:prstGeom prst="rect">
            <a:avLst/>
          </a:prstGeom>
          <a:noFill/>
          <a:ln/>
        </p:spPr>
        <p:txBody>
          <a:bodyPr wrap="square" lIns="762" tIns="762" rIns="762" bIns="762" rtlCol="0" anchor="t">
            <a:normAutofit/>
          </a:bodyPr>
          <a:lstStyle/>
          <a:p>
            <a:pPr algn="ctr" indent="0" marL="0">
              <a:buNone/>
            </a:pPr>
            <a:r>
              <a:rPr lang="en-US" sz="1600" b="1" dirty="0">
                <a:solidFill>
                  <a:srgbClr val="A86B13"/>
                </a:solidFill>
                <a:latin typeface="Aptos" pitchFamily="34" charset="0"/>
                <a:ea typeface="Aptos" pitchFamily="34" charset="-122"/>
                <a:cs typeface="Aptos" pitchFamily="34" charset="-120"/>
              </a:rPr>
              <a:t>V_d(t)</a:t>
            </a:r>
            <a:endParaRPr lang="en-US" sz="1600" dirty="0"/>
          </a:p>
        </p:txBody>
      </p:sp>
      <p:sp>
        <p:nvSpPr>
          <p:cNvPr id="8" name="Text 6"/>
          <p:cNvSpPr/>
          <p:nvPr/>
        </p:nvSpPr>
        <p:spPr>
          <a:xfrm>
            <a:off x="2148840" y="1353312"/>
            <a:ext cx="2084832" cy="201168"/>
          </a:xfrm>
          <a:prstGeom prst="rect">
            <a:avLst/>
          </a:prstGeom>
          <a:noFill/>
          <a:ln/>
        </p:spPr>
        <p:txBody>
          <a:bodyPr wrap="square" lIns="762" tIns="762" rIns="762" bIns="762" rtlCol="0" anchor="t">
            <a:normAutofit/>
          </a:bodyPr>
          <a:lstStyle/>
          <a:p>
            <a:pPr algn="l" indent="0" marL="0">
              <a:buNone/>
            </a:pPr>
            <a:r>
              <a:rPr lang="en-US" sz="1280" b="1" dirty="0">
                <a:solidFill>
                  <a:srgbClr val="17212B"/>
                </a:solidFill>
                <a:latin typeface="Aptos" pitchFamily="34" charset="0"/>
                <a:ea typeface="Aptos" pitchFamily="34" charset="-122"/>
                <a:cs typeface="Aptos" pitchFamily="34" charset="-120"/>
              </a:rPr>
              <a:t>Expected utility of deck d</a:t>
            </a:r>
            <a:endParaRPr lang="en-US" sz="1280" dirty="0"/>
          </a:p>
        </p:txBody>
      </p:sp>
      <p:sp>
        <p:nvSpPr>
          <p:cNvPr id="9" name="Text 7"/>
          <p:cNvSpPr/>
          <p:nvPr/>
        </p:nvSpPr>
        <p:spPr>
          <a:xfrm>
            <a:off x="4434840" y="1325880"/>
            <a:ext cx="6629400" cy="384048"/>
          </a:xfrm>
          <a:prstGeom prst="rect">
            <a:avLst/>
          </a:prstGeom>
          <a:noFill/>
          <a:ln/>
        </p:spPr>
        <p:txBody>
          <a:bodyPr wrap="square" lIns="762" tIns="762" rIns="762" bIns="762" rtlCol="0" anchor="t">
            <a:normAutofit/>
          </a:bodyPr>
          <a:lstStyle/>
          <a:p>
            <a:pPr algn="l" indent="0" marL="0">
              <a:buNone/>
            </a:pPr>
            <a:r>
              <a:rPr lang="en-US" sz="1120" dirty="0">
                <a:solidFill>
                  <a:srgbClr val="17212B"/>
                </a:solidFill>
                <a:latin typeface="Aptos" pitchFamily="34" charset="0"/>
                <a:ea typeface="Aptos" pitchFamily="34" charset="-122"/>
                <a:cs typeface="Aptos" pitchFamily="34" charset="-120"/>
              </a:rPr>
              <a:t>Like Q_d in Q-learning, but it tracks subjective utility rather than objective net money. It is the model’s learned psychological value for a deck.</a:t>
            </a:r>
            <a:endParaRPr lang="en-US" sz="1120" dirty="0"/>
          </a:p>
        </p:txBody>
      </p:sp>
      <p:sp>
        <p:nvSpPr>
          <p:cNvPr id="10" name="Shape 8"/>
          <p:cNvSpPr/>
          <p:nvPr/>
        </p:nvSpPr>
        <p:spPr>
          <a:xfrm>
            <a:off x="658368" y="2130552"/>
            <a:ext cx="10881360" cy="804672"/>
          </a:xfrm>
          <a:prstGeom prst="roundRect">
            <a:avLst>
              <a:gd name="adj" fmla="val 9091"/>
            </a:avLst>
          </a:prstGeom>
          <a:solidFill>
            <a:srgbClr val="F3F1E9"/>
          </a:solidFill>
          <a:ln w="10160">
            <a:solidFill>
              <a:srgbClr val="C8BFAE"/>
            </a:solidFill>
            <a:prstDash val="solid"/>
          </a:ln>
        </p:spPr>
      </p:sp>
      <p:sp>
        <p:nvSpPr>
          <p:cNvPr id="11" name="Text 9"/>
          <p:cNvSpPr/>
          <p:nvPr/>
        </p:nvSpPr>
        <p:spPr>
          <a:xfrm>
            <a:off x="859536" y="2258568"/>
            <a:ext cx="1097280" cy="201168"/>
          </a:xfrm>
          <a:prstGeom prst="rect">
            <a:avLst/>
          </a:prstGeom>
          <a:noFill/>
          <a:ln/>
        </p:spPr>
        <p:txBody>
          <a:bodyPr wrap="square" lIns="762" tIns="762" rIns="762" bIns="762" rtlCol="0" anchor="t">
            <a:normAutofit/>
          </a:bodyPr>
          <a:lstStyle/>
          <a:p>
            <a:pPr algn="ctr" indent="0" marL="0">
              <a:buNone/>
            </a:pPr>
            <a:r>
              <a:rPr lang="en-US" sz="1600" b="1" dirty="0">
                <a:solidFill>
                  <a:srgbClr val="A86B13"/>
                </a:solidFill>
                <a:latin typeface="Aptos" pitchFamily="34" charset="0"/>
                <a:ea typeface="Aptos" pitchFamily="34" charset="-122"/>
                <a:cs typeface="Aptos" pitchFamily="34" charset="-120"/>
              </a:rPr>
              <a:t>A</a:t>
            </a:r>
            <a:endParaRPr lang="en-US" sz="1600" dirty="0"/>
          </a:p>
        </p:txBody>
      </p:sp>
      <p:sp>
        <p:nvSpPr>
          <p:cNvPr id="12" name="Text 10"/>
          <p:cNvSpPr/>
          <p:nvPr/>
        </p:nvSpPr>
        <p:spPr>
          <a:xfrm>
            <a:off x="2148840" y="2249424"/>
            <a:ext cx="2084832" cy="201168"/>
          </a:xfrm>
          <a:prstGeom prst="rect">
            <a:avLst/>
          </a:prstGeom>
          <a:noFill/>
          <a:ln/>
        </p:spPr>
        <p:txBody>
          <a:bodyPr wrap="square" lIns="762" tIns="762" rIns="762" bIns="762" rtlCol="0" anchor="t">
            <a:normAutofit/>
          </a:bodyPr>
          <a:lstStyle/>
          <a:p>
            <a:pPr algn="l" indent="0" marL="0">
              <a:buNone/>
            </a:pPr>
            <a:r>
              <a:rPr lang="en-US" sz="1280" b="1" dirty="0">
                <a:solidFill>
                  <a:srgbClr val="17212B"/>
                </a:solidFill>
                <a:latin typeface="Aptos" pitchFamily="34" charset="0"/>
                <a:ea typeface="Aptos" pitchFamily="34" charset="-122"/>
                <a:cs typeface="Aptos" pitchFamily="34" charset="-120"/>
              </a:rPr>
              <a:t>Updating rate</a:t>
            </a:r>
            <a:endParaRPr lang="en-US" sz="1280" dirty="0"/>
          </a:p>
        </p:txBody>
      </p:sp>
      <p:sp>
        <p:nvSpPr>
          <p:cNvPr id="13" name="Text 11"/>
          <p:cNvSpPr/>
          <p:nvPr/>
        </p:nvSpPr>
        <p:spPr>
          <a:xfrm>
            <a:off x="4434840" y="2221992"/>
            <a:ext cx="6629400" cy="384048"/>
          </a:xfrm>
          <a:prstGeom prst="rect">
            <a:avLst/>
          </a:prstGeom>
          <a:noFill/>
          <a:ln/>
        </p:spPr>
        <p:txBody>
          <a:bodyPr wrap="square" lIns="762" tIns="762" rIns="762" bIns="762" rtlCol="0" anchor="t">
            <a:normAutofit/>
          </a:bodyPr>
          <a:lstStyle/>
          <a:p>
            <a:pPr algn="l" indent="0" marL="0">
              <a:buNone/>
            </a:pPr>
            <a:r>
              <a:rPr lang="en-US" sz="1120" dirty="0">
                <a:solidFill>
                  <a:srgbClr val="17212B"/>
                </a:solidFill>
                <a:latin typeface="Aptos" pitchFamily="34" charset="0"/>
                <a:ea typeface="Aptos" pitchFamily="34" charset="-122"/>
                <a:cs typeface="Aptos" pitchFamily="34" charset="-120"/>
              </a:rPr>
              <a:t>Same role as a learning rate. High A means the latest subjective outcome strongly changes deck value; low A means values change slowly.</a:t>
            </a:r>
            <a:endParaRPr lang="en-US" sz="1120" dirty="0"/>
          </a:p>
        </p:txBody>
      </p:sp>
      <p:sp>
        <p:nvSpPr>
          <p:cNvPr id="14" name="Shape 12"/>
          <p:cNvSpPr/>
          <p:nvPr/>
        </p:nvSpPr>
        <p:spPr>
          <a:xfrm>
            <a:off x="658368" y="3026664"/>
            <a:ext cx="10881360" cy="804672"/>
          </a:xfrm>
          <a:prstGeom prst="roundRect">
            <a:avLst>
              <a:gd name="adj" fmla="val 9091"/>
            </a:avLst>
          </a:prstGeom>
          <a:solidFill>
            <a:srgbClr val="FFFFFF"/>
          </a:solidFill>
          <a:ln w="10160">
            <a:solidFill>
              <a:srgbClr val="C8BFAE"/>
            </a:solidFill>
            <a:prstDash val="solid"/>
          </a:ln>
        </p:spPr>
      </p:sp>
      <p:sp>
        <p:nvSpPr>
          <p:cNvPr id="15" name="Text 13"/>
          <p:cNvSpPr/>
          <p:nvPr/>
        </p:nvSpPr>
        <p:spPr>
          <a:xfrm>
            <a:off x="859536" y="3154680"/>
            <a:ext cx="1097280" cy="201168"/>
          </a:xfrm>
          <a:prstGeom prst="rect">
            <a:avLst/>
          </a:prstGeom>
          <a:noFill/>
          <a:ln/>
        </p:spPr>
        <p:txBody>
          <a:bodyPr wrap="square" lIns="762" tIns="762" rIns="762" bIns="762" rtlCol="0" anchor="t">
            <a:normAutofit/>
          </a:bodyPr>
          <a:lstStyle/>
          <a:p>
            <a:pPr algn="ctr" indent="0" marL="0">
              <a:buNone/>
            </a:pPr>
            <a:r>
              <a:rPr lang="en-US" sz="1600" b="1" dirty="0">
                <a:solidFill>
                  <a:srgbClr val="A86B13"/>
                </a:solidFill>
                <a:latin typeface="Aptos" pitchFamily="34" charset="0"/>
                <a:ea typeface="Aptos" pitchFamily="34" charset="-122"/>
                <a:cs typeface="Aptos" pitchFamily="34" charset="-120"/>
              </a:rPr>
              <a:t>α</a:t>
            </a:r>
            <a:endParaRPr lang="en-US" sz="1600" dirty="0"/>
          </a:p>
        </p:txBody>
      </p:sp>
      <p:sp>
        <p:nvSpPr>
          <p:cNvPr id="16" name="Text 14"/>
          <p:cNvSpPr/>
          <p:nvPr/>
        </p:nvSpPr>
        <p:spPr>
          <a:xfrm>
            <a:off x="2148840" y="3145536"/>
            <a:ext cx="2084832" cy="201168"/>
          </a:xfrm>
          <a:prstGeom prst="rect">
            <a:avLst/>
          </a:prstGeom>
          <a:noFill/>
          <a:ln/>
        </p:spPr>
        <p:txBody>
          <a:bodyPr wrap="square" lIns="762" tIns="762" rIns="762" bIns="762" rtlCol="0" anchor="t">
            <a:normAutofit/>
          </a:bodyPr>
          <a:lstStyle/>
          <a:p>
            <a:pPr algn="l" indent="0" marL="0">
              <a:buNone/>
            </a:pPr>
            <a:r>
              <a:rPr lang="en-US" sz="1280" b="1" dirty="0">
                <a:solidFill>
                  <a:srgbClr val="17212B"/>
                </a:solidFill>
                <a:latin typeface="Aptos" pitchFamily="34" charset="0"/>
                <a:ea typeface="Aptos" pitchFamily="34" charset="-122"/>
                <a:cs typeface="Aptos" pitchFamily="34" charset="-120"/>
              </a:rPr>
              <a:t>Outcome sensitivity</a:t>
            </a:r>
            <a:endParaRPr lang="en-US" sz="1280" dirty="0"/>
          </a:p>
        </p:txBody>
      </p:sp>
      <p:sp>
        <p:nvSpPr>
          <p:cNvPr id="17" name="Text 15"/>
          <p:cNvSpPr/>
          <p:nvPr/>
        </p:nvSpPr>
        <p:spPr>
          <a:xfrm>
            <a:off x="4434840" y="3118104"/>
            <a:ext cx="6629400" cy="384048"/>
          </a:xfrm>
          <a:prstGeom prst="rect">
            <a:avLst/>
          </a:prstGeom>
          <a:noFill/>
          <a:ln/>
        </p:spPr>
        <p:txBody>
          <a:bodyPr wrap="square" lIns="762" tIns="762" rIns="762" bIns="762" rtlCol="0" anchor="t">
            <a:normAutofit/>
          </a:bodyPr>
          <a:lstStyle/>
          <a:p>
            <a:pPr algn="l" indent="0" marL="0">
              <a:buNone/>
            </a:pPr>
            <a:r>
              <a:rPr lang="en-US" sz="1120" dirty="0">
                <a:solidFill>
                  <a:srgbClr val="17212B"/>
                </a:solidFill>
                <a:latin typeface="Aptos" pitchFamily="34" charset="0"/>
                <a:ea typeface="Aptos" pitchFamily="34" charset="-122"/>
                <a:cs typeface="Aptos" pitchFamily="34" charset="-120"/>
              </a:rPr>
              <a:t>Controls how strongly outcome magnitude matters. If α is lower, large outcomes are psychologically compressed rather than treated linearly.</a:t>
            </a:r>
            <a:endParaRPr lang="en-US" sz="1120" dirty="0"/>
          </a:p>
        </p:txBody>
      </p:sp>
      <p:sp>
        <p:nvSpPr>
          <p:cNvPr id="18" name="Shape 16"/>
          <p:cNvSpPr/>
          <p:nvPr/>
        </p:nvSpPr>
        <p:spPr>
          <a:xfrm>
            <a:off x="658368" y="3922776"/>
            <a:ext cx="10881360" cy="804672"/>
          </a:xfrm>
          <a:prstGeom prst="roundRect">
            <a:avLst>
              <a:gd name="adj" fmla="val 9091"/>
            </a:avLst>
          </a:prstGeom>
          <a:solidFill>
            <a:srgbClr val="F3F1E9"/>
          </a:solidFill>
          <a:ln w="10160">
            <a:solidFill>
              <a:srgbClr val="C8BFAE"/>
            </a:solidFill>
            <a:prstDash val="solid"/>
          </a:ln>
        </p:spPr>
      </p:sp>
      <p:sp>
        <p:nvSpPr>
          <p:cNvPr id="19" name="Text 17"/>
          <p:cNvSpPr/>
          <p:nvPr/>
        </p:nvSpPr>
        <p:spPr>
          <a:xfrm>
            <a:off x="859536" y="4050792"/>
            <a:ext cx="1097280" cy="201168"/>
          </a:xfrm>
          <a:prstGeom prst="rect">
            <a:avLst/>
          </a:prstGeom>
          <a:noFill/>
          <a:ln/>
        </p:spPr>
        <p:txBody>
          <a:bodyPr wrap="square" lIns="762" tIns="762" rIns="762" bIns="762" rtlCol="0" anchor="t">
            <a:normAutofit/>
          </a:bodyPr>
          <a:lstStyle/>
          <a:p>
            <a:pPr algn="ctr" indent="0" marL="0">
              <a:buNone/>
            </a:pPr>
            <a:r>
              <a:rPr lang="en-US" sz="1600" b="1" dirty="0">
                <a:solidFill>
                  <a:srgbClr val="A86B13"/>
                </a:solidFill>
                <a:latin typeface="Aptos" pitchFamily="34" charset="0"/>
                <a:ea typeface="Aptos" pitchFamily="34" charset="-122"/>
                <a:cs typeface="Aptos" pitchFamily="34" charset="-120"/>
              </a:rPr>
              <a:t>λ</a:t>
            </a:r>
            <a:endParaRPr lang="en-US" sz="1600" dirty="0"/>
          </a:p>
        </p:txBody>
      </p:sp>
      <p:sp>
        <p:nvSpPr>
          <p:cNvPr id="20" name="Text 18"/>
          <p:cNvSpPr/>
          <p:nvPr/>
        </p:nvSpPr>
        <p:spPr>
          <a:xfrm>
            <a:off x="2148840" y="4041648"/>
            <a:ext cx="2084832" cy="201168"/>
          </a:xfrm>
          <a:prstGeom prst="rect">
            <a:avLst/>
          </a:prstGeom>
          <a:noFill/>
          <a:ln/>
        </p:spPr>
        <p:txBody>
          <a:bodyPr wrap="square" lIns="762" tIns="762" rIns="762" bIns="762" rtlCol="0" anchor="t">
            <a:normAutofit/>
          </a:bodyPr>
          <a:lstStyle/>
          <a:p>
            <a:pPr algn="l" indent="0" marL="0">
              <a:buNone/>
            </a:pPr>
            <a:r>
              <a:rPr lang="en-US" sz="1280" b="1" dirty="0">
                <a:solidFill>
                  <a:srgbClr val="17212B"/>
                </a:solidFill>
                <a:latin typeface="Aptos" pitchFamily="34" charset="0"/>
                <a:ea typeface="Aptos" pitchFamily="34" charset="-122"/>
                <a:cs typeface="Aptos" pitchFamily="34" charset="-120"/>
              </a:rPr>
              <a:t>Loss aversion</a:t>
            </a:r>
            <a:endParaRPr lang="en-US" sz="1280" dirty="0"/>
          </a:p>
        </p:txBody>
      </p:sp>
      <p:sp>
        <p:nvSpPr>
          <p:cNvPr id="21" name="Text 19"/>
          <p:cNvSpPr/>
          <p:nvPr/>
        </p:nvSpPr>
        <p:spPr>
          <a:xfrm>
            <a:off x="4434840" y="4014216"/>
            <a:ext cx="6629400" cy="384048"/>
          </a:xfrm>
          <a:prstGeom prst="rect">
            <a:avLst/>
          </a:prstGeom>
          <a:noFill/>
          <a:ln/>
        </p:spPr>
        <p:txBody>
          <a:bodyPr wrap="square" lIns="762" tIns="762" rIns="762" bIns="762" rtlCol="0" anchor="t">
            <a:normAutofit/>
          </a:bodyPr>
          <a:lstStyle/>
          <a:p>
            <a:pPr algn="l" indent="0" marL="0">
              <a:buNone/>
            </a:pPr>
            <a:r>
              <a:rPr lang="en-US" sz="1120" dirty="0">
                <a:solidFill>
                  <a:srgbClr val="17212B"/>
                </a:solidFill>
                <a:latin typeface="Aptos" pitchFamily="34" charset="0"/>
                <a:ea typeface="Aptos" pitchFamily="34" charset="-122"/>
                <a:cs typeface="Aptos" pitchFamily="34" charset="-120"/>
              </a:rPr>
              <a:t>Controls how much losses count relative to gains. High λ means losses have stronger psychological impact than equivalent gains.</a:t>
            </a:r>
            <a:endParaRPr lang="en-US" sz="1120" dirty="0"/>
          </a:p>
        </p:txBody>
      </p:sp>
      <p:sp>
        <p:nvSpPr>
          <p:cNvPr id="22" name="Shape 20"/>
          <p:cNvSpPr/>
          <p:nvPr/>
        </p:nvSpPr>
        <p:spPr>
          <a:xfrm>
            <a:off x="658368" y="4818888"/>
            <a:ext cx="10881360" cy="804672"/>
          </a:xfrm>
          <a:prstGeom prst="roundRect">
            <a:avLst>
              <a:gd name="adj" fmla="val 9091"/>
            </a:avLst>
          </a:prstGeom>
          <a:solidFill>
            <a:srgbClr val="FFFFFF"/>
          </a:solidFill>
          <a:ln w="10160">
            <a:solidFill>
              <a:srgbClr val="C8BFAE"/>
            </a:solidFill>
            <a:prstDash val="solid"/>
          </a:ln>
        </p:spPr>
      </p:sp>
      <p:sp>
        <p:nvSpPr>
          <p:cNvPr id="23" name="Text 21"/>
          <p:cNvSpPr/>
          <p:nvPr/>
        </p:nvSpPr>
        <p:spPr>
          <a:xfrm>
            <a:off x="859536" y="4946904"/>
            <a:ext cx="1097280" cy="201168"/>
          </a:xfrm>
          <a:prstGeom prst="rect">
            <a:avLst/>
          </a:prstGeom>
          <a:noFill/>
          <a:ln/>
        </p:spPr>
        <p:txBody>
          <a:bodyPr wrap="square" lIns="762" tIns="762" rIns="762" bIns="762" rtlCol="0" anchor="t">
            <a:normAutofit/>
          </a:bodyPr>
          <a:lstStyle/>
          <a:p>
            <a:pPr algn="ctr" indent="0" marL="0">
              <a:buNone/>
            </a:pPr>
            <a:r>
              <a:rPr lang="en-US" sz="1600" b="1" dirty="0">
                <a:solidFill>
                  <a:srgbClr val="A86B13"/>
                </a:solidFill>
                <a:latin typeface="Aptos" pitchFamily="34" charset="0"/>
                <a:ea typeface="Aptos" pitchFamily="34" charset="-122"/>
                <a:cs typeface="Aptos" pitchFamily="34" charset="-120"/>
              </a:rPr>
              <a:t>cons / θ</a:t>
            </a:r>
            <a:endParaRPr lang="en-US" sz="1600" dirty="0"/>
          </a:p>
        </p:txBody>
      </p:sp>
      <p:sp>
        <p:nvSpPr>
          <p:cNvPr id="24" name="Text 22"/>
          <p:cNvSpPr/>
          <p:nvPr/>
        </p:nvSpPr>
        <p:spPr>
          <a:xfrm>
            <a:off x="2148840" y="4937760"/>
            <a:ext cx="2084832" cy="201168"/>
          </a:xfrm>
          <a:prstGeom prst="rect">
            <a:avLst/>
          </a:prstGeom>
          <a:noFill/>
          <a:ln/>
        </p:spPr>
        <p:txBody>
          <a:bodyPr wrap="square" lIns="762" tIns="762" rIns="762" bIns="762" rtlCol="0" anchor="t">
            <a:normAutofit/>
          </a:bodyPr>
          <a:lstStyle/>
          <a:p>
            <a:pPr algn="l" indent="0" marL="0">
              <a:buNone/>
            </a:pPr>
            <a:r>
              <a:rPr lang="en-US" sz="1280" b="1" dirty="0">
                <a:solidFill>
                  <a:srgbClr val="17212B"/>
                </a:solidFill>
                <a:latin typeface="Aptos" pitchFamily="34" charset="0"/>
                <a:ea typeface="Aptos" pitchFamily="34" charset="-122"/>
                <a:cs typeface="Aptos" pitchFamily="34" charset="-120"/>
              </a:rPr>
              <a:t>Response consistency</a:t>
            </a:r>
            <a:endParaRPr lang="en-US" sz="1280" dirty="0"/>
          </a:p>
        </p:txBody>
      </p:sp>
      <p:sp>
        <p:nvSpPr>
          <p:cNvPr id="25" name="Text 23"/>
          <p:cNvSpPr/>
          <p:nvPr/>
        </p:nvSpPr>
        <p:spPr>
          <a:xfrm>
            <a:off x="4434840" y="4910328"/>
            <a:ext cx="6629400" cy="384048"/>
          </a:xfrm>
          <a:prstGeom prst="rect">
            <a:avLst/>
          </a:prstGeom>
          <a:noFill/>
          <a:ln/>
        </p:spPr>
        <p:txBody>
          <a:bodyPr wrap="square" lIns="762" tIns="762" rIns="762" bIns="762" rtlCol="0" anchor="t">
            <a:normAutofit/>
          </a:bodyPr>
          <a:lstStyle/>
          <a:p>
            <a:pPr algn="l" indent="0" marL="0">
              <a:buNone/>
            </a:pPr>
            <a:r>
              <a:rPr lang="en-US" sz="1120" dirty="0">
                <a:solidFill>
                  <a:srgbClr val="17212B"/>
                </a:solidFill>
                <a:latin typeface="Aptos" pitchFamily="34" charset="0"/>
                <a:ea typeface="Aptos" pitchFamily="34" charset="-122"/>
                <a:cs typeface="Aptos" pitchFamily="34" charset="-120"/>
              </a:rPr>
              <a:t>Controls how deterministically the subject chooses the highest-valued deck. Low consistency means more stochastic choices.</a:t>
            </a:r>
            <a:endParaRPr lang="en-US" sz="1120" dirty="0"/>
          </a:p>
        </p:txBody>
      </p:sp>
      <p:sp>
        <p:nvSpPr>
          <p:cNvPr id="26" name="Shape 24"/>
          <p:cNvSpPr/>
          <p:nvPr/>
        </p:nvSpPr>
        <p:spPr>
          <a:xfrm>
            <a:off x="658368" y="5879592"/>
            <a:ext cx="10881360" cy="402336"/>
          </a:xfrm>
          <a:prstGeom prst="roundRect">
            <a:avLst>
              <a:gd name="adj" fmla="val 18182"/>
            </a:avLst>
          </a:prstGeom>
          <a:solidFill>
            <a:srgbClr val="E0EFE8"/>
          </a:solidFill>
          <a:ln w="10160">
            <a:solidFill>
              <a:srgbClr val="C7DECF"/>
            </a:solidFill>
            <a:prstDash val="solid"/>
          </a:ln>
        </p:spPr>
      </p:sp>
      <p:sp>
        <p:nvSpPr>
          <p:cNvPr id="27" name="Text 25"/>
          <p:cNvSpPr/>
          <p:nvPr/>
        </p:nvSpPr>
        <p:spPr>
          <a:xfrm>
            <a:off x="868680" y="5980176"/>
            <a:ext cx="10149840" cy="164592"/>
          </a:xfrm>
          <a:prstGeom prst="rect">
            <a:avLst/>
          </a:prstGeom>
          <a:noFill/>
          <a:ln/>
        </p:spPr>
        <p:txBody>
          <a:bodyPr wrap="square" lIns="762" tIns="762" rIns="762" bIns="762" rtlCol="0" anchor="t">
            <a:normAutofit/>
          </a:bodyPr>
          <a:lstStyle/>
          <a:p>
            <a:pPr algn="l" indent="0" marL="0">
              <a:buNone/>
            </a:pPr>
            <a:r>
              <a:rPr lang="en-US" sz="1100" b="1" dirty="0">
                <a:solidFill>
                  <a:srgbClr val="2F6F5E"/>
                </a:solidFill>
                <a:latin typeface="Aptos" pitchFamily="34" charset="0"/>
                <a:ea typeface="Aptos" pitchFamily="34" charset="-122"/>
                <a:cs typeface="Aptos" pitchFamily="34" charset="-120"/>
              </a:rPr>
              <a:t>How values are chosen: A, α, λ, and cons/θ are estimated from choices, usually per participant. They are not fixed by the researcher unless a simplified analysis intentionally constrains them.</a:t>
            </a:r>
            <a:endParaRPr lang="en-US" sz="1100" dirty="0"/>
          </a:p>
        </p:txBody>
      </p:sp>
      <p:sp>
        <p:nvSpPr>
          <p:cNvPr id="28" name="Text 26"/>
          <p:cNvSpPr/>
          <p:nvPr/>
        </p:nvSpPr>
        <p:spPr>
          <a:xfrm>
            <a:off x="530352" y="6565392"/>
            <a:ext cx="11109960" cy="164592"/>
          </a:xfrm>
          <a:prstGeom prst="rect">
            <a:avLst/>
          </a:prstGeom>
          <a:noFill/>
          <a:ln/>
        </p:spPr>
        <p:txBody>
          <a:bodyPr wrap="square" lIns="0" tIns="0" rIns="0" bIns="0" rtlCol="0" anchor="t">
            <a:normAutofit/>
          </a:bodyPr>
          <a:lstStyle/>
          <a:p>
            <a:pPr algn="l" indent="0" marL="0">
              <a:buNone/>
            </a:pPr>
            <a:r>
              <a:rPr lang="en-US" sz="650" dirty="0">
                <a:solidFill>
                  <a:srgbClr val="59636E"/>
                </a:solidFill>
                <a:latin typeface="Aptos" pitchFamily="34" charset="0"/>
                <a:ea typeface="Aptos" pitchFamily="34" charset="-122"/>
                <a:cs typeface="Aptos" pitchFamily="34" charset="-120"/>
              </a:rPr>
              <a:t>PVL-Delta is not “better” by definition; it has more psychological mechanisms, so we penalize extra parameters when comparing models.</a:t>
            </a:r>
            <a:endParaRPr lang="en-US" sz="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C"/>
        </a:solidFill>
      </p:bgPr>
    </p:bg>
    <p:spTree>
      <p:nvGrpSpPr>
        <p:cNvPr id="1" name=""/>
        <p:cNvGrpSpPr/>
        <p:nvPr/>
      </p:nvGrpSpPr>
      <p:grpSpPr>
        <a:xfrm>
          <a:off x="0" y="0"/>
          <a:ext cx="0" cy="0"/>
          <a:chOff x="0" y="0"/>
          <a:chExt cx="0" cy="0"/>
        </a:xfrm>
      </p:grpSpPr>
      <p:sp>
        <p:nvSpPr>
          <p:cNvPr id="2" name="Text 0"/>
          <p:cNvSpPr/>
          <p:nvPr/>
        </p:nvSpPr>
        <p:spPr>
          <a:xfrm>
            <a:off x="502920" y="256032"/>
            <a:ext cx="9692640" cy="438912"/>
          </a:xfrm>
          <a:prstGeom prst="rect">
            <a:avLst/>
          </a:prstGeom>
          <a:noFill/>
          <a:ln/>
        </p:spPr>
        <p:txBody>
          <a:bodyPr wrap="square" lIns="0" tIns="0" rIns="0" bIns="0" rtlCol="0" anchor="ctr">
            <a:normAutofit/>
          </a:bodyPr>
          <a:lstStyle/>
          <a:p>
            <a:pPr indent="0" marL="0">
              <a:buNone/>
            </a:pPr>
            <a:r>
              <a:rPr lang="en-US" sz="2600" b="1" dirty="0">
                <a:solidFill>
                  <a:srgbClr val="17212B"/>
                </a:solidFill>
                <a:latin typeface="Aptos Display" pitchFamily="34" charset="0"/>
                <a:ea typeface="Aptos Display" pitchFamily="34" charset="-122"/>
                <a:cs typeface="Aptos Display" pitchFamily="34" charset="-120"/>
              </a:rPr>
              <a:t>Q-learning vs PVL-Delta</a:t>
            </a:r>
            <a:endParaRPr lang="en-US" sz="2600" dirty="0"/>
          </a:p>
        </p:txBody>
      </p:sp>
      <p:sp>
        <p:nvSpPr>
          <p:cNvPr id="3" name="Text 1"/>
          <p:cNvSpPr/>
          <p:nvPr/>
        </p:nvSpPr>
        <p:spPr>
          <a:xfrm>
            <a:off x="530352" y="758952"/>
            <a:ext cx="9875520" cy="256032"/>
          </a:xfrm>
          <a:prstGeom prst="rect">
            <a:avLst/>
          </a:prstGeom>
          <a:noFill/>
          <a:ln/>
        </p:spPr>
        <p:txBody>
          <a:bodyPr wrap="square" lIns="0" tIns="0" rIns="0" bIns="0" rtlCol="0" anchor="ctr">
            <a:normAutofit/>
          </a:bodyPr>
          <a:lstStyle/>
          <a:p>
            <a:pPr indent="0" marL="0">
              <a:buNone/>
            </a:pPr>
            <a:r>
              <a:rPr lang="en-US" sz="1150" dirty="0">
                <a:solidFill>
                  <a:srgbClr val="59636E"/>
                </a:solidFill>
                <a:latin typeface="Aptos" pitchFamily="34" charset="0"/>
                <a:ea typeface="Aptos" pitchFamily="34" charset="-122"/>
                <a:cs typeface="Aptos" pitchFamily="34" charset="-120"/>
              </a:rPr>
              <a:t>Same broad learning logic, different psychological assumptions</a:t>
            </a:r>
            <a:endParaRPr lang="en-US" sz="1150" dirty="0"/>
          </a:p>
        </p:txBody>
      </p:sp>
      <p:sp>
        <p:nvSpPr>
          <p:cNvPr id="4" name="Text 2"/>
          <p:cNvSpPr/>
          <p:nvPr/>
        </p:nvSpPr>
        <p:spPr>
          <a:xfrm>
            <a:off x="11109960" y="256032"/>
            <a:ext cx="566928" cy="292608"/>
          </a:xfrm>
          <a:prstGeom prst="rect">
            <a:avLst/>
          </a:prstGeom>
          <a:noFill/>
          <a:ln/>
        </p:spPr>
        <p:txBody>
          <a:bodyPr wrap="square" lIns="0" tIns="0" rIns="0" bIns="0" rtlCol="0" anchor="ctr"/>
          <a:lstStyle/>
          <a:p>
            <a:pPr algn="r" indent="0" marL="0">
              <a:buNone/>
            </a:pPr>
            <a:r>
              <a:rPr lang="en-US" sz="1300" b="1" dirty="0">
                <a:solidFill>
                  <a:srgbClr val="24476B"/>
                </a:solidFill>
              </a:rPr>
              <a:t>11</a:t>
            </a:r>
            <a:endParaRPr lang="en-US" sz="1300" dirty="0"/>
          </a:p>
        </p:txBody>
      </p:sp>
      <p:sp>
        <p:nvSpPr>
          <p:cNvPr id="5" name="Shape 3"/>
          <p:cNvSpPr/>
          <p:nvPr/>
        </p:nvSpPr>
        <p:spPr>
          <a:xfrm>
            <a:off x="502920" y="987552"/>
            <a:ext cx="11155680" cy="0"/>
          </a:xfrm>
          <a:prstGeom prst="line">
            <a:avLst/>
          </a:prstGeom>
          <a:noFill/>
          <a:ln w="7620">
            <a:solidFill>
              <a:srgbClr val="C8BFAE"/>
            </a:solidFill>
            <a:prstDash val="solid"/>
          </a:ln>
        </p:spPr>
      </p:sp>
      <p:sp>
        <p:nvSpPr>
          <p:cNvPr id="6" name="Shape 4"/>
          <p:cNvSpPr/>
          <p:nvPr/>
        </p:nvSpPr>
        <p:spPr>
          <a:xfrm>
            <a:off x="713232" y="1325880"/>
            <a:ext cx="4892040" cy="4297680"/>
          </a:xfrm>
          <a:prstGeom prst="roundRect">
            <a:avLst>
              <a:gd name="adj" fmla="val 1702"/>
            </a:avLst>
          </a:prstGeom>
          <a:solidFill>
            <a:srgbClr val="FFFFFF"/>
          </a:solidFill>
          <a:ln w="10160">
            <a:solidFill>
              <a:srgbClr val="C8BFAE"/>
            </a:solidFill>
            <a:prstDash val="solid"/>
          </a:ln>
        </p:spPr>
      </p:sp>
      <p:sp>
        <p:nvSpPr>
          <p:cNvPr id="7" name="Text 5"/>
          <p:cNvSpPr/>
          <p:nvPr/>
        </p:nvSpPr>
        <p:spPr>
          <a:xfrm>
            <a:off x="969264" y="1600200"/>
            <a:ext cx="4370832" cy="329184"/>
          </a:xfrm>
          <a:prstGeom prst="rect">
            <a:avLst/>
          </a:prstGeom>
          <a:noFill/>
          <a:ln/>
        </p:spPr>
        <p:txBody>
          <a:bodyPr wrap="square" lIns="762" tIns="762" rIns="762" bIns="762" rtlCol="0" anchor="t">
            <a:normAutofit/>
          </a:bodyPr>
          <a:lstStyle/>
          <a:p>
            <a:pPr algn="ctr" indent="0" marL="0">
              <a:buNone/>
            </a:pPr>
            <a:r>
              <a:rPr lang="en-US" sz="2200" b="1" dirty="0">
                <a:solidFill>
                  <a:srgbClr val="24476B"/>
                </a:solidFill>
                <a:latin typeface="Aptos" pitchFamily="34" charset="0"/>
                <a:ea typeface="Aptos" pitchFamily="34" charset="-122"/>
                <a:cs typeface="Aptos" pitchFamily="34" charset="-120"/>
              </a:rPr>
              <a:t>Q-learning</a:t>
            </a:r>
            <a:endParaRPr lang="en-US" sz="2200" dirty="0"/>
          </a:p>
        </p:txBody>
      </p:sp>
      <p:sp>
        <p:nvSpPr>
          <p:cNvPr id="8" name="Text 6"/>
          <p:cNvSpPr/>
          <p:nvPr/>
        </p:nvSpPr>
        <p:spPr>
          <a:xfrm>
            <a:off x="1033272" y="2148840"/>
            <a:ext cx="4114800" cy="228600"/>
          </a:xfrm>
          <a:prstGeom prst="rect">
            <a:avLst/>
          </a:prstGeom>
          <a:noFill/>
          <a:ln/>
        </p:spPr>
        <p:txBody>
          <a:bodyPr wrap="square" lIns="762" tIns="762" rIns="762" bIns="762" rtlCol="0" anchor="t">
            <a:normAutofit/>
          </a:bodyPr>
          <a:lstStyle/>
          <a:p>
            <a:pPr algn="l" indent="0" marL="0">
              <a:buNone/>
            </a:pPr>
            <a:r>
              <a:rPr lang="en-US" sz="1250" b="1" dirty="0">
                <a:solidFill>
                  <a:srgbClr val="2F6F5E"/>
                </a:solidFill>
                <a:latin typeface="Aptos" pitchFamily="34" charset="0"/>
                <a:ea typeface="Aptos" pitchFamily="34" charset="-122"/>
                <a:cs typeface="Aptos" pitchFamily="34" charset="-120"/>
              </a:rPr>
              <a:t>What is similar to TD?</a:t>
            </a:r>
            <a:endParaRPr lang="en-US" sz="1250" dirty="0"/>
          </a:p>
        </p:txBody>
      </p:sp>
      <p:sp>
        <p:nvSpPr>
          <p:cNvPr id="9" name="Text 7"/>
          <p:cNvSpPr/>
          <p:nvPr/>
        </p:nvSpPr>
        <p:spPr>
          <a:xfrm>
            <a:off x="1033272" y="2487168"/>
            <a:ext cx="4160520" cy="566928"/>
          </a:xfrm>
          <a:prstGeom prst="rect">
            <a:avLst/>
          </a:prstGeom>
          <a:noFill/>
          <a:ln/>
        </p:spPr>
        <p:txBody>
          <a:bodyPr wrap="square" lIns="762" tIns="762" rIns="762" bIns="762" rtlCol="0" anchor="t">
            <a:normAutofit/>
          </a:bodyPr>
          <a:lstStyle/>
          <a:p>
            <a:pPr algn="l" indent="0" marL="0">
              <a:buNone/>
            </a:pPr>
            <a:r>
              <a:rPr lang="en-US" sz="1300" dirty="0">
                <a:solidFill>
                  <a:srgbClr val="17212B"/>
                </a:solidFill>
                <a:latin typeface="Aptos" pitchFamily="34" charset="0"/>
                <a:ea typeface="Aptos" pitchFamily="34" charset="-122"/>
                <a:cs typeface="Aptos" pitchFamily="34" charset="-120"/>
              </a:rPr>
              <a:t>It updates a stored value using prediction error. The chosen deck value moves toward the observed outcome.</a:t>
            </a:r>
            <a:endParaRPr lang="en-US" sz="1300" dirty="0"/>
          </a:p>
        </p:txBody>
      </p:sp>
      <p:sp>
        <p:nvSpPr>
          <p:cNvPr id="10" name="Text 8"/>
          <p:cNvSpPr/>
          <p:nvPr/>
        </p:nvSpPr>
        <p:spPr>
          <a:xfrm>
            <a:off x="1033272" y="3337560"/>
            <a:ext cx="4206240" cy="228600"/>
          </a:xfrm>
          <a:prstGeom prst="rect">
            <a:avLst/>
          </a:prstGeom>
          <a:noFill/>
          <a:ln/>
        </p:spPr>
        <p:txBody>
          <a:bodyPr wrap="square" lIns="762" tIns="762" rIns="762" bIns="762" rtlCol="0" anchor="t">
            <a:normAutofit/>
          </a:bodyPr>
          <a:lstStyle/>
          <a:p>
            <a:pPr algn="l" indent="0" marL="0">
              <a:buNone/>
            </a:pPr>
            <a:r>
              <a:rPr lang="en-US" sz="1250" b="1" dirty="0">
                <a:solidFill>
                  <a:srgbClr val="9C3D2E"/>
                </a:solidFill>
                <a:latin typeface="Aptos" pitchFamily="34" charset="0"/>
                <a:ea typeface="Aptos" pitchFamily="34" charset="-122"/>
                <a:cs typeface="Aptos" pitchFamily="34" charset="-120"/>
              </a:rPr>
              <a:t>What is different from PVL-Delta?</a:t>
            </a:r>
            <a:endParaRPr lang="en-US" sz="1250" dirty="0"/>
          </a:p>
        </p:txBody>
      </p:sp>
      <p:sp>
        <p:nvSpPr>
          <p:cNvPr id="11" name="Text 9"/>
          <p:cNvSpPr/>
          <p:nvPr/>
        </p:nvSpPr>
        <p:spPr>
          <a:xfrm>
            <a:off x="1033272" y="3675888"/>
            <a:ext cx="4160520" cy="566928"/>
          </a:xfrm>
          <a:prstGeom prst="rect">
            <a:avLst/>
          </a:prstGeom>
          <a:noFill/>
          <a:ln/>
        </p:spPr>
        <p:txBody>
          <a:bodyPr wrap="square" lIns="762" tIns="762" rIns="762" bIns="762" rtlCol="0" anchor="t">
            <a:normAutofit/>
          </a:bodyPr>
          <a:lstStyle/>
          <a:p>
            <a:pPr algn="l" indent="0" marL="0">
              <a:buNone/>
            </a:pPr>
            <a:r>
              <a:rPr lang="en-US" sz="1300" dirty="0">
                <a:solidFill>
                  <a:srgbClr val="17212B"/>
                </a:solidFill>
                <a:latin typeface="Aptos" pitchFamily="34" charset="0"/>
                <a:ea typeface="Aptos" pitchFamily="34" charset="-122"/>
                <a:cs typeface="Aptos" pitchFamily="34" charset="-120"/>
              </a:rPr>
              <a:t>It uses objective net outcome. A loss is simply a negative reward, so +100 and −100 are symmetric except for sign.</a:t>
            </a:r>
            <a:endParaRPr lang="en-US" sz="1300" dirty="0"/>
          </a:p>
        </p:txBody>
      </p:sp>
      <p:sp>
        <p:nvSpPr>
          <p:cNvPr id="12" name="Shape 10"/>
          <p:cNvSpPr/>
          <p:nvPr/>
        </p:nvSpPr>
        <p:spPr>
          <a:xfrm>
            <a:off x="6291072" y="1325880"/>
            <a:ext cx="4892040" cy="4297680"/>
          </a:xfrm>
          <a:prstGeom prst="roundRect">
            <a:avLst>
              <a:gd name="adj" fmla="val 1702"/>
            </a:avLst>
          </a:prstGeom>
          <a:solidFill>
            <a:srgbClr val="FFFFFF"/>
          </a:solidFill>
          <a:ln w="10160">
            <a:solidFill>
              <a:srgbClr val="C8BFAE"/>
            </a:solidFill>
            <a:prstDash val="solid"/>
          </a:ln>
        </p:spPr>
      </p:sp>
      <p:sp>
        <p:nvSpPr>
          <p:cNvPr id="13" name="Text 11"/>
          <p:cNvSpPr/>
          <p:nvPr/>
        </p:nvSpPr>
        <p:spPr>
          <a:xfrm>
            <a:off x="6547104" y="1600200"/>
            <a:ext cx="4370832" cy="329184"/>
          </a:xfrm>
          <a:prstGeom prst="rect">
            <a:avLst/>
          </a:prstGeom>
          <a:noFill/>
          <a:ln/>
        </p:spPr>
        <p:txBody>
          <a:bodyPr wrap="square" lIns="762" tIns="762" rIns="762" bIns="762" rtlCol="0" anchor="t">
            <a:normAutofit/>
          </a:bodyPr>
          <a:lstStyle/>
          <a:p>
            <a:pPr algn="ctr" indent="0" marL="0">
              <a:buNone/>
            </a:pPr>
            <a:r>
              <a:rPr lang="en-US" sz="2200" b="1" dirty="0">
                <a:solidFill>
                  <a:srgbClr val="A86B13"/>
                </a:solidFill>
                <a:latin typeface="Aptos" pitchFamily="34" charset="0"/>
                <a:ea typeface="Aptos" pitchFamily="34" charset="-122"/>
                <a:cs typeface="Aptos" pitchFamily="34" charset="-120"/>
              </a:rPr>
              <a:t>PVL-Delta</a:t>
            </a:r>
            <a:endParaRPr lang="en-US" sz="2200" dirty="0"/>
          </a:p>
        </p:txBody>
      </p:sp>
      <p:sp>
        <p:nvSpPr>
          <p:cNvPr id="14" name="Text 12"/>
          <p:cNvSpPr/>
          <p:nvPr/>
        </p:nvSpPr>
        <p:spPr>
          <a:xfrm>
            <a:off x="6611112" y="2148840"/>
            <a:ext cx="4114800" cy="228600"/>
          </a:xfrm>
          <a:prstGeom prst="rect">
            <a:avLst/>
          </a:prstGeom>
          <a:noFill/>
          <a:ln/>
        </p:spPr>
        <p:txBody>
          <a:bodyPr wrap="square" lIns="762" tIns="762" rIns="762" bIns="762" rtlCol="0" anchor="t">
            <a:normAutofit/>
          </a:bodyPr>
          <a:lstStyle/>
          <a:p>
            <a:pPr algn="l" indent="0" marL="0">
              <a:buNone/>
            </a:pPr>
            <a:r>
              <a:rPr lang="en-US" sz="1250" b="1" dirty="0">
                <a:solidFill>
                  <a:srgbClr val="2F6F5E"/>
                </a:solidFill>
                <a:latin typeface="Aptos" pitchFamily="34" charset="0"/>
                <a:ea typeface="Aptos" pitchFamily="34" charset="-122"/>
                <a:cs typeface="Aptos" pitchFamily="34" charset="-120"/>
              </a:rPr>
              <a:t>What is similar to TD?</a:t>
            </a:r>
            <a:endParaRPr lang="en-US" sz="1250" dirty="0"/>
          </a:p>
        </p:txBody>
      </p:sp>
      <p:sp>
        <p:nvSpPr>
          <p:cNvPr id="15" name="Text 13"/>
          <p:cNvSpPr/>
          <p:nvPr/>
        </p:nvSpPr>
        <p:spPr>
          <a:xfrm>
            <a:off x="6611112" y="2487168"/>
            <a:ext cx="4160520" cy="566928"/>
          </a:xfrm>
          <a:prstGeom prst="rect">
            <a:avLst/>
          </a:prstGeom>
          <a:noFill/>
          <a:ln/>
        </p:spPr>
        <p:txBody>
          <a:bodyPr wrap="square" lIns="762" tIns="762" rIns="762" bIns="762" rtlCol="0" anchor="t">
            <a:normAutofit/>
          </a:bodyPr>
          <a:lstStyle/>
          <a:p>
            <a:pPr algn="l" indent="0" marL="0">
              <a:buNone/>
            </a:pPr>
            <a:r>
              <a:rPr lang="en-US" sz="1300" dirty="0">
                <a:solidFill>
                  <a:srgbClr val="17212B"/>
                </a:solidFill>
                <a:latin typeface="Aptos" pitchFamily="34" charset="0"/>
                <a:ea typeface="Aptos" pitchFamily="34" charset="-122"/>
                <a:cs typeface="Aptos" pitchFamily="34" charset="-120"/>
              </a:rPr>
              <a:t>It still updates deck values with a prediction-error rule. This keeps the learning structure close to TD/delta learning.</a:t>
            </a:r>
            <a:endParaRPr lang="en-US" sz="1300" dirty="0"/>
          </a:p>
        </p:txBody>
      </p:sp>
      <p:sp>
        <p:nvSpPr>
          <p:cNvPr id="16" name="Text 14"/>
          <p:cNvSpPr/>
          <p:nvPr/>
        </p:nvSpPr>
        <p:spPr>
          <a:xfrm>
            <a:off x="6611112" y="3337560"/>
            <a:ext cx="4206240" cy="228600"/>
          </a:xfrm>
          <a:prstGeom prst="rect">
            <a:avLst/>
          </a:prstGeom>
          <a:noFill/>
          <a:ln/>
        </p:spPr>
        <p:txBody>
          <a:bodyPr wrap="square" lIns="762" tIns="762" rIns="762" bIns="762" rtlCol="0" anchor="t">
            <a:normAutofit/>
          </a:bodyPr>
          <a:lstStyle/>
          <a:p>
            <a:pPr algn="l" indent="0" marL="0">
              <a:buNone/>
            </a:pPr>
            <a:r>
              <a:rPr lang="en-US" sz="1250" b="1" dirty="0">
                <a:solidFill>
                  <a:srgbClr val="9C3D2E"/>
                </a:solidFill>
                <a:latin typeface="Aptos" pitchFamily="34" charset="0"/>
                <a:ea typeface="Aptos" pitchFamily="34" charset="-122"/>
                <a:cs typeface="Aptos" pitchFamily="34" charset="-120"/>
              </a:rPr>
              <a:t>What is added?</a:t>
            </a:r>
            <a:endParaRPr lang="en-US" sz="1250" dirty="0"/>
          </a:p>
        </p:txBody>
      </p:sp>
      <p:sp>
        <p:nvSpPr>
          <p:cNvPr id="17" name="Text 15"/>
          <p:cNvSpPr/>
          <p:nvPr/>
        </p:nvSpPr>
        <p:spPr>
          <a:xfrm>
            <a:off x="6611112" y="3675888"/>
            <a:ext cx="4160520" cy="566928"/>
          </a:xfrm>
          <a:prstGeom prst="rect">
            <a:avLst/>
          </a:prstGeom>
          <a:noFill/>
          <a:ln/>
        </p:spPr>
        <p:txBody>
          <a:bodyPr wrap="square" lIns="762" tIns="762" rIns="762" bIns="762" rtlCol="0" anchor="t">
            <a:normAutofit/>
          </a:bodyPr>
          <a:lstStyle/>
          <a:p>
            <a:pPr algn="l" indent="0" marL="0">
              <a:buNone/>
            </a:pPr>
            <a:r>
              <a:rPr lang="en-US" sz="1300" dirty="0">
                <a:solidFill>
                  <a:srgbClr val="17212B"/>
                </a:solidFill>
                <a:latin typeface="Aptos" pitchFamily="34" charset="0"/>
                <a:ea typeface="Aptos" pitchFamily="34" charset="-122"/>
                <a:cs typeface="Aptos" pitchFamily="34" charset="-120"/>
              </a:rPr>
              <a:t>It transforms outcomes into subjective utility first. This allows loss aversion and nonlinear sensitivity to outcome magnitude.</a:t>
            </a:r>
            <a:endParaRPr lang="en-US" sz="1300" dirty="0"/>
          </a:p>
        </p:txBody>
      </p:sp>
      <p:sp>
        <p:nvSpPr>
          <p:cNvPr id="18" name="Text 16"/>
          <p:cNvSpPr/>
          <p:nvPr/>
        </p:nvSpPr>
        <p:spPr>
          <a:xfrm>
            <a:off x="914400" y="5980176"/>
            <a:ext cx="10332720" cy="274320"/>
          </a:xfrm>
          <a:prstGeom prst="rect">
            <a:avLst/>
          </a:prstGeom>
          <a:noFill/>
          <a:ln/>
        </p:spPr>
        <p:txBody>
          <a:bodyPr wrap="square" lIns="762" tIns="762" rIns="762" bIns="762" rtlCol="0" anchor="t">
            <a:normAutofit/>
          </a:bodyPr>
          <a:lstStyle/>
          <a:p>
            <a:pPr algn="ctr" indent="0" marL="0">
              <a:buNone/>
            </a:pPr>
            <a:r>
              <a:rPr lang="en-US" sz="1450" b="1" dirty="0">
                <a:solidFill>
                  <a:srgbClr val="17212B"/>
                </a:solidFill>
                <a:latin typeface="Aptos" pitchFamily="34" charset="0"/>
                <a:ea typeface="Aptos" pitchFamily="34" charset="-122"/>
                <a:cs typeface="Aptos" pitchFamily="34" charset="-120"/>
              </a:rPr>
              <a:t>Model-comparison logic: if PVL-Delta predicts choices substantially better, the extra subjective-valuation mechanism is empirically useful.</a:t>
            </a:r>
            <a:endParaRPr lang="en-US" sz="1450" dirty="0"/>
          </a:p>
        </p:txBody>
      </p:sp>
      <p:sp>
        <p:nvSpPr>
          <p:cNvPr id="19" name="Text 17"/>
          <p:cNvSpPr/>
          <p:nvPr/>
        </p:nvSpPr>
        <p:spPr>
          <a:xfrm>
            <a:off x="530352" y="6565392"/>
            <a:ext cx="11109960" cy="164592"/>
          </a:xfrm>
          <a:prstGeom prst="rect">
            <a:avLst/>
          </a:prstGeom>
          <a:noFill/>
          <a:ln/>
        </p:spPr>
        <p:txBody>
          <a:bodyPr wrap="square" lIns="0" tIns="0" rIns="0" bIns="0" rtlCol="0" anchor="t">
            <a:normAutofit/>
          </a:bodyPr>
          <a:lstStyle/>
          <a:p>
            <a:pPr algn="l" indent="0" marL="0">
              <a:buNone/>
            </a:pPr>
            <a:r>
              <a:rPr lang="en-US" sz="650" dirty="0">
                <a:solidFill>
                  <a:srgbClr val="59636E"/>
                </a:solidFill>
                <a:latin typeface="Aptos" pitchFamily="34" charset="0"/>
                <a:ea typeface="Aptos" pitchFamily="34" charset="-122"/>
                <a:cs typeface="Aptos" pitchFamily="34" charset="-120"/>
              </a:rPr>
              <a:t>This slide is the main bridge between course material and the model extension.</a:t>
            </a:r>
            <a:endParaRPr lang="en-US" sz="6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C"/>
        </a:solidFill>
      </p:bgPr>
    </p:bg>
    <p:spTree>
      <p:nvGrpSpPr>
        <p:cNvPr id="1" name=""/>
        <p:cNvGrpSpPr/>
        <p:nvPr/>
      </p:nvGrpSpPr>
      <p:grpSpPr>
        <a:xfrm>
          <a:off x="0" y="0"/>
          <a:ext cx="0" cy="0"/>
          <a:chOff x="0" y="0"/>
          <a:chExt cx="0" cy="0"/>
        </a:xfrm>
      </p:grpSpPr>
      <p:sp>
        <p:nvSpPr>
          <p:cNvPr id="2" name="Text 0"/>
          <p:cNvSpPr/>
          <p:nvPr/>
        </p:nvSpPr>
        <p:spPr>
          <a:xfrm>
            <a:off x="502920" y="256032"/>
            <a:ext cx="9692640" cy="438912"/>
          </a:xfrm>
          <a:prstGeom prst="rect">
            <a:avLst/>
          </a:prstGeom>
          <a:noFill/>
          <a:ln/>
        </p:spPr>
        <p:txBody>
          <a:bodyPr wrap="square" lIns="0" tIns="0" rIns="0" bIns="0" rtlCol="0" anchor="ctr">
            <a:normAutofit/>
          </a:bodyPr>
          <a:lstStyle/>
          <a:p>
            <a:pPr indent="0" marL="0">
              <a:buNone/>
            </a:pPr>
            <a:r>
              <a:rPr lang="en-US" sz="2600" b="1" dirty="0">
                <a:solidFill>
                  <a:srgbClr val="17212B"/>
                </a:solidFill>
                <a:latin typeface="Aptos Display" pitchFamily="34" charset="0"/>
                <a:ea typeface="Aptos Display" pitchFamily="34" charset="-122"/>
                <a:cs typeface="Aptos Display" pitchFamily="34" charset="-120"/>
              </a:rPr>
              <a:t>How the models will be fitted and compared</a:t>
            </a:r>
            <a:endParaRPr lang="en-US" sz="2600" dirty="0"/>
          </a:p>
        </p:txBody>
      </p:sp>
      <p:sp>
        <p:nvSpPr>
          <p:cNvPr id="3" name="Text 1"/>
          <p:cNvSpPr/>
          <p:nvPr/>
        </p:nvSpPr>
        <p:spPr>
          <a:xfrm>
            <a:off x="530352" y="758952"/>
            <a:ext cx="9875520" cy="256032"/>
          </a:xfrm>
          <a:prstGeom prst="rect">
            <a:avLst/>
          </a:prstGeom>
          <a:noFill/>
          <a:ln/>
        </p:spPr>
        <p:txBody>
          <a:bodyPr wrap="square" lIns="0" tIns="0" rIns="0" bIns="0" rtlCol="0" anchor="ctr">
            <a:normAutofit/>
          </a:bodyPr>
          <a:lstStyle/>
          <a:p>
            <a:pPr indent="0" marL="0">
              <a:buNone/>
            </a:pPr>
            <a:r>
              <a:rPr lang="en-US" sz="1150" dirty="0">
                <a:solidFill>
                  <a:srgbClr val="59636E"/>
                </a:solidFill>
                <a:latin typeface="Aptos" pitchFamily="34" charset="0"/>
                <a:ea typeface="Aptos" pitchFamily="34" charset="-122"/>
                <a:cs typeface="Aptos" pitchFamily="34" charset="-120"/>
              </a:rPr>
              <a:t>The analysis tests predictive fit, not just visual similarity</a:t>
            </a:r>
            <a:endParaRPr lang="en-US" sz="1150" dirty="0"/>
          </a:p>
        </p:txBody>
      </p:sp>
      <p:sp>
        <p:nvSpPr>
          <p:cNvPr id="4" name="Text 2"/>
          <p:cNvSpPr/>
          <p:nvPr/>
        </p:nvSpPr>
        <p:spPr>
          <a:xfrm>
            <a:off x="11109960" y="256032"/>
            <a:ext cx="566928" cy="292608"/>
          </a:xfrm>
          <a:prstGeom prst="rect">
            <a:avLst/>
          </a:prstGeom>
          <a:noFill/>
          <a:ln/>
        </p:spPr>
        <p:txBody>
          <a:bodyPr wrap="square" lIns="0" tIns="0" rIns="0" bIns="0" rtlCol="0" anchor="ctr"/>
          <a:lstStyle/>
          <a:p>
            <a:pPr algn="r" indent="0" marL="0">
              <a:buNone/>
            </a:pPr>
            <a:r>
              <a:rPr lang="en-US" sz="1300" b="1" dirty="0">
                <a:solidFill>
                  <a:srgbClr val="24476B"/>
                </a:solidFill>
              </a:rPr>
              <a:t>12</a:t>
            </a:r>
            <a:endParaRPr lang="en-US" sz="1300" dirty="0"/>
          </a:p>
        </p:txBody>
      </p:sp>
      <p:sp>
        <p:nvSpPr>
          <p:cNvPr id="5" name="Shape 3"/>
          <p:cNvSpPr/>
          <p:nvPr/>
        </p:nvSpPr>
        <p:spPr>
          <a:xfrm>
            <a:off x="502920" y="987552"/>
            <a:ext cx="11155680" cy="0"/>
          </a:xfrm>
          <a:prstGeom prst="line">
            <a:avLst/>
          </a:prstGeom>
          <a:noFill/>
          <a:ln w="7620">
            <a:solidFill>
              <a:srgbClr val="C8BFAE"/>
            </a:solidFill>
            <a:prstDash val="solid"/>
          </a:ln>
        </p:spPr>
      </p:sp>
      <p:sp>
        <p:nvSpPr>
          <p:cNvPr id="6" name="Shape 4"/>
          <p:cNvSpPr/>
          <p:nvPr/>
        </p:nvSpPr>
        <p:spPr>
          <a:xfrm>
            <a:off x="713232" y="1234440"/>
            <a:ext cx="5257800" cy="4434840"/>
          </a:xfrm>
          <a:prstGeom prst="roundRect">
            <a:avLst>
              <a:gd name="adj" fmla="val 1649"/>
            </a:avLst>
          </a:prstGeom>
          <a:solidFill>
            <a:srgbClr val="FFFFFF"/>
          </a:solidFill>
          <a:ln w="10160">
            <a:solidFill>
              <a:srgbClr val="C8BFAE"/>
            </a:solidFill>
            <a:prstDash val="solid"/>
          </a:ln>
        </p:spPr>
      </p:sp>
      <p:sp>
        <p:nvSpPr>
          <p:cNvPr id="7" name="Text 5"/>
          <p:cNvSpPr/>
          <p:nvPr/>
        </p:nvSpPr>
        <p:spPr>
          <a:xfrm>
            <a:off x="960120" y="1508760"/>
            <a:ext cx="2103120" cy="256032"/>
          </a:xfrm>
          <a:prstGeom prst="rect">
            <a:avLst/>
          </a:prstGeom>
          <a:noFill/>
          <a:ln/>
        </p:spPr>
        <p:txBody>
          <a:bodyPr wrap="square" lIns="0" tIns="0" rIns="0" bIns="0" rtlCol="0" anchor="t">
            <a:normAutofit/>
          </a:bodyPr>
          <a:lstStyle/>
          <a:p>
            <a:pPr algn="l" indent="0" marL="0">
              <a:buNone/>
            </a:pPr>
            <a:r>
              <a:rPr lang="en-US" sz="1300" b="1" dirty="0">
                <a:solidFill>
                  <a:srgbClr val="24476B"/>
                </a:solidFill>
                <a:latin typeface="Aptos" pitchFamily="34" charset="0"/>
                <a:ea typeface="Aptos" pitchFamily="34" charset="-122"/>
                <a:cs typeface="Aptos" pitchFamily="34" charset="-120"/>
              </a:rPr>
              <a:t>Fitting objective</a:t>
            </a:r>
            <a:endParaRPr lang="en-US" sz="1300" dirty="0"/>
          </a:p>
        </p:txBody>
      </p:sp>
      <p:sp>
        <p:nvSpPr>
          <p:cNvPr id="8" name="Text 6"/>
          <p:cNvSpPr/>
          <p:nvPr/>
        </p:nvSpPr>
        <p:spPr>
          <a:xfrm>
            <a:off x="960120" y="1874520"/>
            <a:ext cx="4526280" cy="859536"/>
          </a:xfrm>
          <a:prstGeom prst="rect">
            <a:avLst/>
          </a:prstGeom>
          <a:noFill/>
          <a:ln/>
        </p:spPr>
        <p:txBody>
          <a:bodyPr wrap="square" lIns="762" tIns="762" rIns="762" bIns="762" rtlCol="0" anchor="t">
            <a:normAutofit/>
          </a:bodyPr>
          <a:lstStyle/>
          <a:p>
            <a:pPr algn="l" indent="0" marL="0">
              <a:buNone/>
            </a:pPr>
            <a:r>
              <a:rPr lang="en-US" sz="1400" dirty="0">
                <a:solidFill>
                  <a:srgbClr val="17212B"/>
                </a:solidFill>
                <a:latin typeface="Aptos" pitchFamily="34" charset="0"/>
                <a:ea typeface="Aptos" pitchFamily="34" charset="-122"/>
                <a:cs typeface="Aptos" pitchFamily="34" charset="-120"/>
              </a:rPr>
              <a:t>For each trial, the model computes the probability of the deck the participant actually chose. Model fit is the sum of log probabilities across trials.</a:t>
            </a:r>
            <a:endParaRPr lang="en-US" sz="1400" dirty="0"/>
          </a:p>
        </p:txBody>
      </p:sp>
      <p:sp>
        <p:nvSpPr>
          <p:cNvPr id="9" name="Text 7"/>
          <p:cNvSpPr/>
          <p:nvPr/>
        </p:nvSpPr>
        <p:spPr>
          <a:xfrm>
            <a:off x="960120" y="2999232"/>
            <a:ext cx="4526280" cy="310896"/>
          </a:xfrm>
          <a:prstGeom prst="rect">
            <a:avLst/>
          </a:prstGeom>
          <a:noFill/>
          <a:ln/>
        </p:spPr>
        <p:txBody>
          <a:bodyPr wrap="square" lIns="762" tIns="762" rIns="762" bIns="762" rtlCol="0" anchor="t">
            <a:normAutofit/>
          </a:bodyPr>
          <a:lstStyle/>
          <a:p>
            <a:pPr algn="l" indent="0" marL="0">
              <a:buNone/>
            </a:pPr>
            <a:r>
              <a:rPr lang="en-US" sz="1650" b="1" dirty="0">
                <a:solidFill>
                  <a:srgbClr val="24476B"/>
                </a:solidFill>
                <a:latin typeface="Aptos" pitchFamily="34" charset="0"/>
                <a:ea typeface="Aptos" pitchFamily="34" charset="-122"/>
                <a:cs typeface="Aptos" pitchFamily="34" charset="-120"/>
              </a:rPr>
              <a:t>log L = Σ_t log P_model(actual choice_t)</a:t>
            </a:r>
            <a:endParaRPr lang="en-US" sz="1650" dirty="0"/>
          </a:p>
        </p:txBody>
      </p:sp>
      <p:sp>
        <p:nvSpPr>
          <p:cNvPr id="10" name="Text 8"/>
          <p:cNvSpPr/>
          <p:nvPr/>
        </p:nvSpPr>
        <p:spPr>
          <a:xfrm>
            <a:off x="960120" y="3611880"/>
            <a:ext cx="4526280" cy="640080"/>
          </a:xfrm>
          <a:prstGeom prst="rect">
            <a:avLst/>
          </a:prstGeom>
          <a:noFill/>
          <a:ln/>
        </p:spPr>
        <p:txBody>
          <a:bodyPr wrap="square" lIns="762" tIns="762" rIns="762" bIns="762" rtlCol="0" anchor="t">
            <a:normAutofit/>
          </a:bodyPr>
          <a:lstStyle/>
          <a:p>
            <a:pPr algn="l" indent="0" marL="0">
              <a:buNone/>
            </a:pPr>
            <a:r>
              <a:rPr lang="en-US" sz="1280" dirty="0">
                <a:solidFill>
                  <a:srgbClr val="59636E"/>
                </a:solidFill>
                <a:latin typeface="Aptos" pitchFamily="34" charset="0"/>
                <a:ea typeface="Aptos" pitchFamily="34" charset="-122"/>
                <a:cs typeface="Aptos" pitchFamily="34" charset="-120"/>
              </a:rPr>
              <a:t>Log-likelihood: a numerical score. Less negative / higher values mean the model made the observed choices less surprising.</a:t>
            </a:r>
            <a:endParaRPr lang="en-US" sz="1280" dirty="0"/>
          </a:p>
        </p:txBody>
      </p:sp>
      <p:sp>
        <p:nvSpPr>
          <p:cNvPr id="11" name="Shape 9"/>
          <p:cNvSpPr/>
          <p:nvPr/>
        </p:nvSpPr>
        <p:spPr>
          <a:xfrm>
            <a:off x="6263640" y="1234440"/>
            <a:ext cx="5257800" cy="4434840"/>
          </a:xfrm>
          <a:prstGeom prst="roundRect">
            <a:avLst>
              <a:gd name="adj" fmla="val 1649"/>
            </a:avLst>
          </a:prstGeom>
          <a:solidFill>
            <a:srgbClr val="FFFFFF"/>
          </a:solidFill>
          <a:ln w="10160">
            <a:solidFill>
              <a:srgbClr val="C8BFAE"/>
            </a:solidFill>
            <a:prstDash val="solid"/>
          </a:ln>
        </p:spPr>
      </p:sp>
      <p:sp>
        <p:nvSpPr>
          <p:cNvPr id="12" name="Text 10"/>
          <p:cNvSpPr/>
          <p:nvPr/>
        </p:nvSpPr>
        <p:spPr>
          <a:xfrm>
            <a:off x="6510528" y="1508760"/>
            <a:ext cx="2286000" cy="256032"/>
          </a:xfrm>
          <a:prstGeom prst="rect">
            <a:avLst/>
          </a:prstGeom>
          <a:noFill/>
          <a:ln/>
        </p:spPr>
        <p:txBody>
          <a:bodyPr wrap="square" lIns="0" tIns="0" rIns="0" bIns="0" rtlCol="0" anchor="t">
            <a:normAutofit/>
          </a:bodyPr>
          <a:lstStyle/>
          <a:p>
            <a:pPr algn="l" indent="0" marL="0">
              <a:buNone/>
            </a:pPr>
            <a:r>
              <a:rPr lang="en-US" sz="1300" b="1" dirty="0">
                <a:solidFill>
                  <a:srgbClr val="2F6F5E"/>
                </a:solidFill>
                <a:latin typeface="Aptos" pitchFamily="34" charset="0"/>
                <a:ea typeface="Aptos" pitchFamily="34" charset="-122"/>
                <a:cs typeface="Aptos" pitchFamily="34" charset="-120"/>
              </a:rPr>
              <a:t>Model comparison</a:t>
            </a:r>
            <a:endParaRPr lang="en-US" sz="1300" dirty="0"/>
          </a:p>
        </p:txBody>
      </p:sp>
      <p:sp>
        <p:nvSpPr>
          <p:cNvPr id="13" name="Text 11"/>
          <p:cNvSpPr/>
          <p:nvPr/>
        </p:nvSpPr>
        <p:spPr>
          <a:xfrm>
            <a:off x="6510528" y="1874520"/>
            <a:ext cx="4526280" cy="841248"/>
          </a:xfrm>
          <a:prstGeom prst="rect">
            <a:avLst/>
          </a:prstGeom>
          <a:noFill/>
          <a:ln/>
        </p:spPr>
        <p:txBody>
          <a:bodyPr wrap="square" lIns="762" tIns="762" rIns="762" bIns="762" rtlCol="0" anchor="t">
            <a:normAutofit/>
          </a:bodyPr>
          <a:lstStyle/>
          <a:p>
            <a:pPr algn="l" indent="0" marL="0">
              <a:buNone/>
            </a:pPr>
            <a:r>
              <a:rPr lang="en-US" sz="1400" dirty="0">
                <a:solidFill>
                  <a:srgbClr val="17212B"/>
                </a:solidFill>
                <a:latin typeface="Aptos" pitchFamily="34" charset="0"/>
                <a:ea typeface="Aptos" pitchFamily="34" charset="-122"/>
                <a:cs typeface="Aptos" pitchFamily="34" charset="-120"/>
              </a:rPr>
              <a:t>PVL-Delta has more parameters than Q-learning. Therefore, better raw likelihood is not enough; the comparison should penalize extra flexibility.</a:t>
            </a:r>
            <a:endParaRPr lang="en-US" sz="1400" dirty="0"/>
          </a:p>
        </p:txBody>
      </p:sp>
      <p:sp>
        <p:nvSpPr>
          <p:cNvPr id="14" name="Text 12"/>
          <p:cNvSpPr/>
          <p:nvPr/>
        </p:nvSpPr>
        <p:spPr>
          <a:xfrm>
            <a:off x="6510528" y="3035808"/>
            <a:ext cx="4526280" cy="566928"/>
          </a:xfrm>
          <a:prstGeom prst="rect">
            <a:avLst/>
          </a:prstGeom>
          <a:noFill/>
          <a:ln/>
        </p:spPr>
        <p:txBody>
          <a:bodyPr wrap="square" lIns="762" tIns="762" rIns="762" bIns="762" rtlCol="0" anchor="t">
            <a:normAutofit/>
          </a:bodyPr>
          <a:lstStyle/>
          <a:p>
            <a:pPr algn="l" indent="0" marL="0">
              <a:buNone/>
            </a:pPr>
            <a:r>
              <a:rPr lang="en-US" sz="1350" b="1" dirty="0">
                <a:solidFill>
                  <a:srgbClr val="2F6F5E"/>
                </a:solidFill>
                <a:latin typeface="Aptos" pitchFamily="34" charset="0"/>
                <a:ea typeface="Aptos" pitchFamily="34" charset="-122"/>
                <a:cs typeface="Aptos" pitchFamily="34" charset="-120"/>
              </a:rPr>
              <a:t>AIC / BIC: fit criteria that reward predictive accuracy but penalize extra parameters. Lower values are better.</a:t>
            </a:r>
            <a:endParaRPr lang="en-US" sz="1350" dirty="0"/>
          </a:p>
        </p:txBody>
      </p:sp>
      <p:sp>
        <p:nvSpPr>
          <p:cNvPr id="15" name="Text 13"/>
          <p:cNvSpPr/>
          <p:nvPr/>
        </p:nvSpPr>
        <p:spPr>
          <a:xfrm>
            <a:off x="6510528" y="3968496"/>
            <a:ext cx="4526280" cy="566928"/>
          </a:xfrm>
          <a:prstGeom prst="rect">
            <a:avLst/>
          </a:prstGeom>
          <a:noFill/>
          <a:ln/>
        </p:spPr>
        <p:txBody>
          <a:bodyPr wrap="square" lIns="762" tIns="762" rIns="762" bIns="762" rtlCol="0" anchor="t">
            <a:normAutofit/>
          </a:bodyPr>
          <a:lstStyle/>
          <a:p>
            <a:pPr algn="l" indent="0" marL="0">
              <a:buNone/>
            </a:pPr>
            <a:r>
              <a:rPr lang="en-US" sz="1280" dirty="0">
                <a:solidFill>
                  <a:srgbClr val="59636E"/>
                </a:solidFill>
                <a:latin typeface="Aptos" pitchFamily="34" charset="0"/>
                <a:ea typeface="Aptos" pitchFamily="34" charset="-122"/>
                <a:cs typeface="Aptos" pitchFamily="34" charset="-120"/>
              </a:rPr>
              <a:t>Optional: cross-validation, where parameters are fitted on part of a subject’s trials and tested on held-out trials.</a:t>
            </a:r>
            <a:endParaRPr lang="en-US" sz="1280" dirty="0"/>
          </a:p>
        </p:txBody>
      </p:sp>
      <p:sp>
        <p:nvSpPr>
          <p:cNvPr id="16" name="Text 14"/>
          <p:cNvSpPr/>
          <p:nvPr/>
        </p:nvSpPr>
        <p:spPr>
          <a:xfrm>
            <a:off x="530352" y="6565392"/>
            <a:ext cx="11109960" cy="164592"/>
          </a:xfrm>
          <a:prstGeom prst="rect">
            <a:avLst/>
          </a:prstGeom>
          <a:noFill/>
          <a:ln/>
        </p:spPr>
        <p:txBody>
          <a:bodyPr wrap="square" lIns="0" tIns="0" rIns="0" bIns="0" rtlCol="0" anchor="t">
            <a:normAutofit/>
          </a:bodyPr>
          <a:lstStyle/>
          <a:p>
            <a:pPr algn="l" indent="0" marL="0">
              <a:buNone/>
            </a:pPr>
            <a:r>
              <a:rPr lang="en-US" sz="650" dirty="0">
                <a:solidFill>
                  <a:srgbClr val="59636E"/>
                </a:solidFill>
                <a:latin typeface="Aptos" pitchFamily="34" charset="0"/>
                <a:ea typeface="Aptos" pitchFamily="34" charset="-122"/>
                <a:cs typeface="Aptos" pitchFamily="34" charset="-120"/>
              </a:rPr>
              <a:t>Each participant is fitted separately; group-level conclusions come from the distribution of subject-level fits and parameters.</a:t>
            </a:r>
            <a:endParaRPr lang="en-US" sz="6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4EC"/>
        </a:solidFill>
      </p:bgPr>
    </p:bg>
    <p:spTree>
      <p:nvGrpSpPr>
        <p:cNvPr id="1" name=""/>
        <p:cNvGrpSpPr/>
        <p:nvPr/>
      </p:nvGrpSpPr>
      <p:grpSpPr>
        <a:xfrm>
          <a:off x="0" y="0"/>
          <a:ext cx="0" cy="0"/>
          <a:chOff x="0" y="0"/>
          <a:chExt cx="0" cy="0"/>
        </a:xfrm>
      </p:grpSpPr>
      <p:sp>
        <p:nvSpPr>
          <p:cNvPr id="2" name="Text 0"/>
          <p:cNvSpPr/>
          <p:nvPr/>
        </p:nvSpPr>
        <p:spPr>
          <a:xfrm>
            <a:off x="502920" y="256032"/>
            <a:ext cx="9692640" cy="438912"/>
          </a:xfrm>
          <a:prstGeom prst="rect">
            <a:avLst/>
          </a:prstGeom>
          <a:noFill/>
          <a:ln/>
        </p:spPr>
        <p:txBody>
          <a:bodyPr wrap="square" lIns="0" tIns="0" rIns="0" bIns="0" rtlCol="0" anchor="ctr">
            <a:normAutofit/>
          </a:bodyPr>
          <a:lstStyle/>
          <a:p>
            <a:pPr indent="0" marL="0">
              <a:buNone/>
            </a:pPr>
            <a:r>
              <a:rPr lang="en-US" sz="2600" b="1" dirty="0">
                <a:solidFill>
                  <a:srgbClr val="17212B"/>
                </a:solidFill>
                <a:latin typeface="Aptos Display" pitchFamily="34" charset="0"/>
                <a:ea typeface="Aptos Display" pitchFamily="34" charset="-122"/>
                <a:cs typeface="Aptos Display" pitchFamily="34" charset="-120"/>
              </a:rPr>
              <a:t>Planned results and discussion points</a:t>
            </a:r>
            <a:endParaRPr lang="en-US" sz="2600" dirty="0"/>
          </a:p>
        </p:txBody>
      </p:sp>
      <p:sp>
        <p:nvSpPr>
          <p:cNvPr id="3" name="Text 1"/>
          <p:cNvSpPr/>
          <p:nvPr/>
        </p:nvSpPr>
        <p:spPr>
          <a:xfrm>
            <a:off x="530352" y="758952"/>
            <a:ext cx="9875520" cy="256032"/>
          </a:xfrm>
          <a:prstGeom prst="rect">
            <a:avLst/>
          </a:prstGeom>
          <a:noFill/>
          <a:ln/>
        </p:spPr>
        <p:txBody>
          <a:bodyPr wrap="square" lIns="0" tIns="0" rIns="0" bIns="0" rtlCol="0" anchor="ctr">
            <a:normAutofit/>
          </a:bodyPr>
          <a:lstStyle/>
          <a:p>
            <a:pPr indent="0" marL="0">
              <a:buNone/>
            </a:pPr>
            <a:r>
              <a:rPr lang="en-US" sz="1150" dirty="0">
                <a:solidFill>
                  <a:srgbClr val="59636E"/>
                </a:solidFill>
                <a:latin typeface="Aptos" pitchFamily="34" charset="0"/>
                <a:ea typeface="Aptos" pitchFamily="34" charset="-122"/>
                <a:cs typeface="Aptos" pitchFamily="34" charset="-120"/>
              </a:rPr>
              <a:t>What I expect to present after running the analysis</a:t>
            </a:r>
            <a:endParaRPr lang="en-US" sz="1150" dirty="0"/>
          </a:p>
        </p:txBody>
      </p:sp>
      <p:sp>
        <p:nvSpPr>
          <p:cNvPr id="4" name="Text 2"/>
          <p:cNvSpPr/>
          <p:nvPr/>
        </p:nvSpPr>
        <p:spPr>
          <a:xfrm>
            <a:off x="11109960" y="256032"/>
            <a:ext cx="566928" cy="292608"/>
          </a:xfrm>
          <a:prstGeom prst="rect">
            <a:avLst/>
          </a:prstGeom>
          <a:noFill/>
          <a:ln/>
        </p:spPr>
        <p:txBody>
          <a:bodyPr wrap="square" lIns="0" tIns="0" rIns="0" bIns="0" rtlCol="0" anchor="ctr"/>
          <a:lstStyle/>
          <a:p>
            <a:pPr algn="r" indent="0" marL="0">
              <a:buNone/>
            </a:pPr>
            <a:r>
              <a:rPr lang="en-US" sz="1300" b="1" dirty="0">
                <a:solidFill>
                  <a:srgbClr val="24476B"/>
                </a:solidFill>
              </a:rPr>
              <a:t>13</a:t>
            </a:r>
            <a:endParaRPr lang="en-US" sz="1300" dirty="0"/>
          </a:p>
        </p:txBody>
      </p:sp>
      <p:sp>
        <p:nvSpPr>
          <p:cNvPr id="5" name="Shape 3"/>
          <p:cNvSpPr/>
          <p:nvPr/>
        </p:nvSpPr>
        <p:spPr>
          <a:xfrm>
            <a:off x="502920" y="987552"/>
            <a:ext cx="11155680" cy="0"/>
          </a:xfrm>
          <a:prstGeom prst="line">
            <a:avLst/>
          </a:prstGeom>
          <a:noFill/>
          <a:ln w="7620">
            <a:solidFill>
              <a:srgbClr val="C8BFAE"/>
            </a:solidFill>
            <a:prstDash val="solid"/>
          </a:ln>
        </p:spPr>
      </p:sp>
      <p:sp>
        <p:nvSpPr>
          <p:cNvPr id="6" name="Shape 4"/>
          <p:cNvSpPr/>
          <p:nvPr/>
        </p:nvSpPr>
        <p:spPr>
          <a:xfrm>
            <a:off x="713232" y="1261872"/>
            <a:ext cx="3429000" cy="4343400"/>
          </a:xfrm>
          <a:prstGeom prst="roundRect">
            <a:avLst>
              <a:gd name="adj" fmla="val 2133"/>
            </a:avLst>
          </a:prstGeom>
          <a:solidFill>
            <a:srgbClr val="FFFFFF"/>
          </a:solidFill>
          <a:ln w="10160">
            <a:solidFill>
              <a:srgbClr val="C8BFAE"/>
            </a:solidFill>
            <a:prstDash val="solid"/>
          </a:ln>
        </p:spPr>
      </p:sp>
      <p:sp>
        <p:nvSpPr>
          <p:cNvPr id="7" name="Text 5"/>
          <p:cNvSpPr/>
          <p:nvPr/>
        </p:nvSpPr>
        <p:spPr>
          <a:xfrm>
            <a:off x="960120" y="1536192"/>
            <a:ext cx="2103120" cy="256032"/>
          </a:xfrm>
          <a:prstGeom prst="rect">
            <a:avLst/>
          </a:prstGeom>
          <a:noFill/>
          <a:ln/>
        </p:spPr>
        <p:txBody>
          <a:bodyPr wrap="square" lIns="0" tIns="0" rIns="0" bIns="0" rtlCol="0" anchor="t">
            <a:normAutofit/>
          </a:bodyPr>
          <a:lstStyle/>
          <a:p>
            <a:pPr algn="l" indent="0" marL="0">
              <a:buNone/>
            </a:pPr>
            <a:r>
              <a:rPr lang="en-US" sz="1300" b="1" dirty="0">
                <a:solidFill>
                  <a:srgbClr val="24476B"/>
                </a:solidFill>
                <a:latin typeface="Aptos" pitchFamily="34" charset="0"/>
                <a:ea typeface="Aptos" pitchFamily="34" charset="-122"/>
                <a:cs typeface="Aptos" pitchFamily="34" charset="-120"/>
              </a:rPr>
              <a:t>Behavior first</a:t>
            </a:r>
            <a:endParaRPr lang="en-US" sz="1300" dirty="0"/>
          </a:p>
        </p:txBody>
      </p:sp>
      <p:sp>
        <p:nvSpPr>
          <p:cNvPr id="8" name="Text 6"/>
          <p:cNvSpPr/>
          <p:nvPr/>
        </p:nvSpPr>
        <p:spPr>
          <a:xfrm>
            <a:off x="960120" y="1901952"/>
            <a:ext cx="2834640" cy="914400"/>
          </a:xfrm>
          <a:prstGeom prst="rect">
            <a:avLst/>
          </a:prstGeom>
          <a:noFill/>
          <a:ln/>
        </p:spPr>
        <p:txBody>
          <a:bodyPr wrap="square" lIns="762" tIns="762" rIns="762" bIns="762" rtlCol="0" anchor="t">
            <a:normAutofit/>
          </a:bodyPr>
          <a:lstStyle/>
          <a:p>
            <a:pPr algn="l" indent="0" marL="0">
              <a:buNone/>
            </a:pPr>
            <a:r>
              <a:rPr lang="en-US" sz="1350" dirty="0">
                <a:solidFill>
                  <a:srgbClr val="17212B"/>
                </a:solidFill>
                <a:latin typeface="Aptos" pitchFamily="34" charset="0"/>
                <a:ea typeface="Aptos" pitchFamily="34" charset="-122"/>
                <a:cs typeface="Aptos" pitchFamily="34" charset="-120"/>
              </a:rPr>
              <a:t>Plot how often participants choose good decks C/D over time. Also check whether they prefer infrequent-loss decks B/D, especially deck B.</a:t>
            </a:r>
            <a:endParaRPr lang="en-US" sz="1350" dirty="0"/>
          </a:p>
        </p:txBody>
      </p:sp>
      <p:sp>
        <p:nvSpPr>
          <p:cNvPr id="9" name="Text 7"/>
          <p:cNvSpPr/>
          <p:nvPr/>
        </p:nvSpPr>
        <p:spPr>
          <a:xfrm>
            <a:off x="960120" y="3163824"/>
            <a:ext cx="2788920" cy="502920"/>
          </a:xfrm>
          <a:prstGeom prst="rect">
            <a:avLst/>
          </a:prstGeom>
          <a:noFill/>
          <a:ln/>
        </p:spPr>
        <p:txBody>
          <a:bodyPr wrap="square" lIns="762" tIns="762" rIns="762" bIns="762" rtlCol="0" anchor="t">
            <a:normAutofit/>
          </a:bodyPr>
          <a:lstStyle/>
          <a:p>
            <a:pPr algn="l" indent="0" marL="0">
              <a:buNone/>
            </a:pPr>
            <a:r>
              <a:rPr lang="en-US" sz="1250" b="1" dirty="0">
                <a:solidFill>
                  <a:srgbClr val="59636E"/>
                </a:solidFill>
                <a:latin typeface="Aptos" pitchFamily="34" charset="0"/>
                <a:ea typeface="Aptos" pitchFamily="34" charset="-122"/>
                <a:cs typeface="Aptos" pitchFamily="34" charset="-120"/>
              </a:rPr>
              <a:t>Purpose: establish the behavioral pattern before fitting models.</a:t>
            </a:r>
            <a:endParaRPr lang="en-US" sz="1250" dirty="0"/>
          </a:p>
        </p:txBody>
      </p:sp>
      <p:sp>
        <p:nvSpPr>
          <p:cNvPr id="10" name="Shape 8"/>
          <p:cNvSpPr/>
          <p:nvPr/>
        </p:nvSpPr>
        <p:spPr>
          <a:xfrm>
            <a:off x="4480560" y="1261872"/>
            <a:ext cx="3429000" cy="4343400"/>
          </a:xfrm>
          <a:prstGeom prst="roundRect">
            <a:avLst>
              <a:gd name="adj" fmla="val 2133"/>
            </a:avLst>
          </a:prstGeom>
          <a:solidFill>
            <a:srgbClr val="FFFFFF"/>
          </a:solidFill>
          <a:ln w="10160">
            <a:solidFill>
              <a:srgbClr val="C8BFAE"/>
            </a:solidFill>
            <a:prstDash val="solid"/>
          </a:ln>
        </p:spPr>
      </p:sp>
      <p:sp>
        <p:nvSpPr>
          <p:cNvPr id="11" name="Text 9"/>
          <p:cNvSpPr/>
          <p:nvPr/>
        </p:nvSpPr>
        <p:spPr>
          <a:xfrm>
            <a:off x="4727448" y="1536192"/>
            <a:ext cx="2468880" cy="256032"/>
          </a:xfrm>
          <a:prstGeom prst="rect">
            <a:avLst/>
          </a:prstGeom>
          <a:noFill/>
          <a:ln/>
        </p:spPr>
        <p:txBody>
          <a:bodyPr wrap="square" lIns="0" tIns="0" rIns="0" bIns="0" rtlCol="0" anchor="t">
            <a:normAutofit/>
          </a:bodyPr>
          <a:lstStyle/>
          <a:p>
            <a:pPr algn="l" indent="0" marL="0">
              <a:buNone/>
            </a:pPr>
            <a:r>
              <a:rPr lang="en-US" sz="1300" b="1" dirty="0">
                <a:solidFill>
                  <a:srgbClr val="2F6F5E"/>
                </a:solidFill>
                <a:latin typeface="Aptos" pitchFamily="34" charset="0"/>
                <a:ea typeface="Aptos" pitchFamily="34" charset="-122"/>
                <a:cs typeface="Aptos" pitchFamily="34" charset="-120"/>
              </a:rPr>
              <a:t>Model comparison</a:t>
            </a:r>
            <a:endParaRPr lang="en-US" sz="1300" dirty="0"/>
          </a:p>
        </p:txBody>
      </p:sp>
      <p:sp>
        <p:nvSpPr>
          <p:cNvPr id="12" name="Text 10"/>
          <p:cNvSpPr/>
          <p:nvPr/>
        </p:nvSpPr>
        <p:spPr>
          <a:xfrm>
            <a:off x="4727448" y="1901952"/>
            <a:ext cx="2834640" cy="841248"/>
          </a:xfrm>
          <a:prstGeom prst="rect">
            <a:avLst/>
          </a:prstGeom>
          <a:noFill/>
          <a:ln/>
        </p:spPr>
        <p:txBody>
          <a:bodyPr wrap="square" lIns="762" tIns="762" rIns="762" bIns="762" rtlCol="0" anchor="t">
            <a:normAutofit/>
          </a:bodyPr>
          <a:lstStyle/>
          <a:p>
            <a:pPr algn="l" indent="0" marL="0">
              <a:buNone/>
            </a:pPr>
            <a:r>
              <a:rPr lang="en-US" sz="1350" dirty="0">
                <a:solidFill>
                  <a:srgbClr val="17212B"/>
                </a:solidFill>
                <a:latin typeface="Aptos" pitchFamily="34" charset="0"/>
                <a:ea typeface="Aptos" pitchFamily="34" charset="-122"/>
                <a:cs typeface="Aptos" pitchFamily="34" charset="-120"/>
              </a:rPr>
              <a:t>Report mean log-likelihood, AIC/BIC, and how many participants are better explained by each model.</a:t>
            </a:r>
            <a:endParaRPr lang="en-US" sz="1350" dirty="0"/>
          </a:p>
        </p:txBody>
      </p:sp>
      <p:sp>
        <p:nvSpPr>
          <p:cNvPr id="13" name="Text 11"/>
          <p:cNvSpPr/>
          <p:nvPr/>
        </p:nvSpPr>
        <p:spPr>
          <a:xfrm>
            <a:off x="4727448" y="3163824"/>
            <a:ext cx="2788920" cy="640080"/>
          </a:xfrm>
          <a:prstGeom prst="rect">
            <a:avLst/>
          </a:prstGeom>
          <a:noFill/>
          <a:ln/>
        </p:spPr>
        <p:txBody>
          <a:bodyPr wrap="square" lIns="762" tIns="762" rIns="762" bIns="762" rtlCol="0" anchor="t">
            <a:normAutofit/>
          </a:bodyPr>
          <a:lstStyle/>
          <a:p>
            <a:pPr algn="l" indent="0" marL="0">
              <a:buNone/>
            </a:pPr>
            <a:r>
              <a:rPr lang="en-US" sz="1250" b="1" dirty="0">
                <a:solidFill>
                  <a:srgbClr val="59636E"/>
                </a:solidFill>
                <a:latin typeface="Aptos" pitchFamily="34" charset="0"/>
                <a:ea typeface="Aptos" pitchFamily="34" charset="-122"/>
                <a:cs typeface="Aptos" pitchFamily="34" charset="-120"/>
              </a:rPr>
              <a:t>Purpose: test whether subjective valuation improves prediction beyond raw reward learning.</a:t>
            </a:r>
            <a:endParaRPr lang="en-US" sz="1250" dirty="0"/>
          </a:p>
        </p:txBody>
      </p:sp>
      <p:sp>
        <p:nvSpPr>
          <p:cNvPr id="14" name="Shape 12"/>
          <p:cNvSpPr/>
          <p:nvPr/>
        </p:nvSpPr>
        <p:spPr>
          <a:xfrm>
            <a:off x="8247888" y="1261872"/>
            <a:ext cx="3154680" cy="4343400"/>
          </a:xfrm>
          <a:prstGeom prst="roundRect">
            <a:avLst>
              <a:gd name="adj" fmla="val 2319"/>
            </a:avLst>
          </a:prstGeom>
          <a:solidFill>
            <a:srgbClr val="FFFFFF"/>
          </a:solidFill>
          <a:ln w="10160">
            <a:solidFill>
              <a:srgbClr val="C8BFAE"/>
            </a:solidFill>
            <a:prstDash val="solid"/>
          </a:ln>
        </p:spPr>
      </p:sp>
      <p:sp>
        <p:nvSpPr>
          <p:cNvPr id="15" name="Text 13"/>
          <p:cNvSpPr/>
          <p:nvPr/>
        </p:nvSpPr>
        <p:spPr>
          <a:xfrm>
            <a:off x="8494776" y="1536192"/>
            <a:ext cx="2286000" cy="256032"/>
          </a:xfrm>
          <a:prstGeom prst="rect">
            <a:avLst/>
          </a:prstGeom>
          <a:noFill/>
          <a:ln/>
        </p:spPr>
        <p:txBody>
          <a:bodyPr wrap="square" lIns="0" tIns="0" rIns="0" bIns="0" rtlCol="0" anchor="t">
            <a:normAutofit/>
          </a:bodyPr>
          <a:lstStyle/>
          <a:p>
            <a:pPr algn="l" indent="0" marL="0">
              <a:buNone/>
            </a:pPr>
            <a:r>
              <a:rPr lang="en-US" sz="1300" b="1" dirty="0">
                <a:solidFill>
                  <a:srgbClr val="A86B13"/>
                </a:solidFill>
                <a:latin typeface="Aptos" pitchFamily="34" charset="0"/>
                <a:ea typeface="Aptos" pitchFamily="34" charset="-122"/>
                <a:cs typeface="Aptos" pitchFamily="34" charset="-120"/>
              </a:rPr>
              <a:t>Class discussion</a:t>
            </a:r>
            <a:endParaRPr lang="en-US" sz="1300" dirty="0"/>
          </a:p>
        </p:txBody>
      </p:sp>
      <p:sp>
        <p:nvSpPr>
          <p:cNvPr id="16" name="Text 14"/>
          <p:cNvSpPr/>
          <p:nvPr/>
        </p:nvSpPr>
        <p:spPr>
          <a:xfrm>
            <a:off x="8494776" y="1901952"/>
            <a:ext cx="2560320" cy="1463040"/>
          </a:xfrm>
          <a:prstGeom prst="rect">
            <a:avLst/>
          </a:prstGeom>
          <a:noFill/>
          <a:ln/>
        </p:spPr>
        <p:txBody>
          <a:bodyPr wrap="square" lIns="762" tIns="762" rIns="762" bIns="762" rtlCol="0" anchor="t">
            <a:normAutofit/>
          </a:bodyPr>
          <a:lstStyle/>
          <a:p>
            <a:pPr algn="l" indent="0" marL="0">
              <a:buNone/>
            </a:pPr>
            <a:r>
              <a:rPr lang="en-US" sz="1300" dirty="0">
                <a:solidFill>
                  <a:srgbClr val="17212B"/>
                </a:solidFill>
                <a:latin typeface="Aptos" pitchFamily="34" charset="0"/>
                <a:ea typeface="Aptos" pitchFamily="34" charset="-122"/>
                <a:cs typeface="Aptos" pitchFamily="34" charset="-120"/>
              </a:rPr>
              <a:t>Are PVL-Delta parameters interpretable as cognitive processes, or only as fit parameters?</a:t>
            </a:r>
            <a:endParaRPr lang="en-US" sz="1300" dirty="0"/>
          </a:p>
          <a:p>
            <a:pPr algn="l" indent="0" marL="0">
              <a:buNone/>
            </a:pPr>
            <a:endParaRPr lang="en-US" sz="1300" dirty="0"/>
          </a:p>
          <a:p>
            <a:pPr algn="l" indent="0" marL="0">
              <a:buNone/>
            </a:pPr>
            <a:r>
              <a:rPr lang="en-US" sz="1300" dirty="0">
                <a:solidFill>
                  <a:srgbClr val="17212B"/>
                </a:solidFill>
                <a:latin typeface="Aptos" pitchFamily="34" charset="0"/>
                <a:ea typeface="Aptos" pitchFamily="34" charset="-122"/>
                <a:cs typeface="Aptos" pitchFamily="34" charset="-120"/>
              </a:rPr>
              <a:t>Is Q-learning too simple, or is simplicity a strength?</a:t>
            </a:r>
            <a:endParaRPr lang="en-US" sz="1300" dirty="0"/>
          </a:p>
        </p:txBody>
      </p:sp>
      <p:sp>
        <p:nvSpPr>
          <p:cNvPr id="17" name="Text 15"/>
          <p:cNvSpPr/>
          <p:nvPr/>
        </p:nvSpPr>
        <p:spPr>
          <a:xfrm>
            <a:off x="8494776" y="3840480"/>
            <a:ext cx="2514600" cy="502920"/>
          </a:xfrm>
          <a:prstGeom prst="rect">
            <a:avLst/>
          </a:prstGeom>
          <a:noFill/>
          <a:ln/>
        </p:spPr>
        <p:txBody>
          <a:bodyPr wrap="square" lIns="762" tIns="762" rIns="762" bIns="762" rtlCol="0" anchor="t">
            <a:normAutofit/>
          </a:bodyPr>
          <a:lstStyle/>
          <a:p>
            <a:pPr algn="l" indent="0" marL="0">
              <a:buNone/>
            </a:pPr>
            <a:r>
              <a:rPr lang="en-US" sz="1250" b="1" dirty="0">
                <a:solidFill>
                  <a:srgbClr val="A86B13"/>
                </a:solidFill>
                <a:latin typeface="Aptos" pitchFamily="34" charset="0"/>
                <a:ea typeface="Aptos" pitchFamily="34" charset="-122"/>
                <a:cs typeface="Aptos" pitchFamily="34" charset="-120"/>
              </a:rPr>
              <a:t>Possible extension later: add a model with directed exploration, such as VSE.</a:t>
            </a:r>
            <a:endParaRPr lang="en-US" sz="1250" dirty="0"/>
          </a:p>
        </p:txBody>
      </p:sp>
      <p:sp>
        <p:nvSpPr>
          <p:cNvPr id="18" name="Text 16"/>
          <p:cNvSpPr/>
          <p:nvPr/>
        </p:nvSpPr>
        <p:spPr>
          <a:xfrm>
            <a:off x="530352" y="6565392"/>
            <a:ext cx="11109960" cy="164592"/>
          </a:xfrm>
          <a:prstGeom prst="rect">
            <a:avLst/>
          </a:prstGeom>
          <a:noFill/>
          <a:ln/>
        </p:spPr>
        <p:txBody>
          <a:bodyPr wrap="square" lIns="0" tIns="0" rIns="0" bIns="0" rtlCol="0" anchor="t">
            <a:normAutofit/>
          </a:bodyPr>
          <a:lstStyle/>
          <a:p>
            <a:pPr algn="l" indent="0" marL="0">
              <a:buNone/>
            </a:pPr>
            <a:r>
              <a:rPr lang="en-US" sz="650" dirty="0">
                <a:solidFill>
                  <a:srgbClr val="59636E"/>
                </a:solidFill>
                <a:latin typeface="Aptos" pitchFamily="34" charset="0"/>
                <a:ea typeface="Aptos" pitchFamily="34" charset="-122"/>
                <a:cs typeface="Aptos" pitchFamily="34" charset="-120"/>
              </a:rPr>
              <a:t>The presentation today is limited to Q-learning vs PVL-Delta; VSE/balance ideas are future discussion with the instructor.</a:t>
            </a:r>
            <a:endParaRPr lang="en-US" sz="6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EC"/>
        </a:solidFill>
      </p:bgPr>
    </p:bg>
    <p:spTree>
      <p:nvGrpSpPr>
        <p:cNvPr id="1" name=""/>
        <p:cNvGrpSpPr/>
        <p:nvPr/>
      </p:nvGrpSpPr>
      <p:grpSpPr>
        <a:xfrm>
          <a:off x="0" y="0"/>
          <a:ext cx="0" cy="0"/>
          <a:chOff x="0" y="0"/>
          <a:chExt cx="0" cy="0"/>
        </a:xfrm>
      </p:grpSpPr>
      <p:sp>
        <p:nvSpPr>
          <p:cNvPr id="2" name="Text 0"/>
          <p:cNvSpPr/>
          <p:nvPr/>
        </p:nvSpPr>
        <p:spPr>
          <a:xfrm>
            <a:off x="502920" y="256032"/>
            <a:ext cx="9692640" cy="438912"/>
          </a:xfrm>
          <a:prstGeom prst="rect">
            <a:avLst/>
          </a:prstGeom>
          <a:noFill/>
          <a:ln/>
        </p:spPr>
        <p:txBody>
          <a:bodyPr wrap="square" lIns="0" tIns="0" rIns="0" bIns="0" rtlCol="0" anchor="ctr">
            <a:normAutofit/>
          </a:bodyPr>
          <a:lstStyle/>
          <a:p>
            <a:pPr indent="0" marL="0">
              <a:buNone/>
            </a:pPr>
            <a:r>
              <a:rPr lang="en-US" sz="2600" b="1" dirty="0">
                <a:solidFill>
                  <a:srgbClr val="17212B"/>
                </a:solidFill>
                <a:latin typeface="Aptos Display" pitchFamily="34" charset="0"/>
                <a:ea typeface="Aptos Display" pitchFamily="34" charset="-122"/>
                <a:cs typeface="Aptos Display" pitchFamily="34" charset="-120"/>
              </a:rPr>
              <a:t>Sources and starting references</a:t>
            </a:r>
            <a:endParaRPr lang="en-US" sz="2600" dirty="0"/>
          </a:p>
        </p:txBody>
      </p:sp>
      <p:sp>
        <p:nvSpPr>
          <p:cNvPr id="3" name="Text 1"/>
          <p:cNvSpPr/>
          <p:nvPr/>
        </p:nvSpPr>
        <p:spPr>
          <a:xfrm>
            <a:off x="530352" y="758952"/>
            <a:ext cx="9875520" cy="256032"/>
          </a:xfrm>
          <a:prstGeom prst="rect">
            <a:avLst/>
          </a:prstGeom>
          <a:noFill/>
          <a:ln/>
        </p:spPr>
        <p:txBody>
          <a:bodyPr wrap="square" lIns="0" tIns="0" rIns="0" bIns="0" rtlCol="0" anchor="ctr">
            <a:normAutofit/>
          </a:bodyPr>
          <a:lstStyle/>
          <a:p>
            <a:pPr indent="0" marL="0">
              <a:buNone/>
            </a:pPr>
            <a:r>
              <a:rPr lang="en-US" sz="1150" dirty="0">
                <a:solidFill>
                  <a:srgbClr val="59636E"/>
                </a:solidFill>
                <a:latin typeface="Aptos" pitchFamily="34" charset="0"/>
                <a:ea typeface="Aptos" pitchFamily="34" charset="-122"/>
                <a:cs typeface="Aptos" pitchFamily="34" charset="-120"/>
              </a:rPr>
              <a:t>Core sources for the proposal and model definitions</a:t>
            </a:r>
            <a:endParaRPr lang="en-US" sz="1150" dirty="0"/>
          </a:p>
        </p:txBody>
      </p:sp>
      <p:sp>
        <p:nvSpPr>
          <p:cNvPr id="4" name="Text 2"/>
          <p:cNvSpPr/>
          <p:nvPr/>
        </p:nvSpPr>
        <p:spPr>
          <a:xfrm>
            <a:off x="11109960" y="256032"/>
            <a:ext cx="566928" cy="292608"/>
          </a:xfrm>
          <a:prstGeom prst="rect">
            <a:avLst/>
          </a:prstGeom>
          <a:noFill/>
          <a:ln/>
        </p:spPr>
        <p:txBody>
          <a:bodyPr wrap="square" lIns="0" tIns="0" rIns="0" bIns="0" rtlCol="0" anchor="ctr"/>
          <a:lstStyle/>
          <a:p>
            <a:pPr algn="r" indent="0" marL="0">
              <a:buNone/>
            </a:pPr>
            <a:r>
              <a:rPr lang="en-US" sz="1300" b="1" dirty="0">
                <a:solidFill>
                  <a:srgbClr val="24476B"/>
                </a:solidFill>
              </a:rPr>
              <a:t>14</a:t>
            </a:r>
            <a:endParaRPr lang="en-US" sz="1300" dirty="0"/>
          </a:p>
        </p:txBody>
      </p:sp>
      <p:sp>
        <p:nvSpPr>
          <p:cNvPr id="5" name="Shape 3"/>
          <p:cNvSpPr/>
          <p:nvPr/>
        </p:nvSpPr>
        <p:spPr>
          <a:xfrm>
            <a:off x="502920" y="987552"/>
            <a:ext cx="11155680" cy="0"/>
          </a:xfrm>
          <a:prstGeom prst="line">
            <a:avLst/>
          </a:prstGeom>
          <a:noFill/>
          <a:ln w="7620">
            <a:solidFill>
              <a:srgbClr val="C8BFAE"/>
            </a:solidFill>
            <a:prstDash val="solid"/>
          </a:ln>
        </p:spPr>
      </p:sp>
      <p:sp>
        <p:nvSpPr>
          <p:cNvPr id="6" name="Shape 4"/>
          <p:cNvSpPr/>
          <p:nvPr/>
        </p:nvSpPr>
        <p:spPr>
          <a:xfrm>
            <a:off x="713232" y="1298448"/>
            <a:ext cx="10771632" cy="4983480"/>
          </a:xfrm>
          <a:prstGeom prst="roundRect">
            <a:avLst>
              <a:gd name="adj" fmla="val 1468"/>
            </a:avLst>
          </a:prstGeom>
          <a:solidFill>
            <a:srgbClr val="FFFFFF"/>
          </a:solidFill>
          <a:ln w="10160">
            <a:solidFill>
              <a:srgbClr val="C8BFAE"/>
            </a:solidFill>
            <a:prstDash val="solid"/>
          </a:ln>
        </p:spPr>
      </p:sp>
      <p:sp>
        <p:nvSpPr>
          <p:cNvPr id="7" name="Text 5"/>
          <p:cNvSpPr/>
          <p:nvPr/>
        </p:nvSpPr>
        <p:spPr>
          <a:xfrm>
            <a:off x="960120" y="1581912"/>
            <a:ext cx="1371600" cy="256032"/>
          </a:xfrm>
          <a:prstGeom prst="rect">
            <a:avLst/>
          </a:prstGeom>
          <a:noFill/>
          <a:ln/>
        </p:spPr>
        <p:txBody>
          <a:bodyPr wrap="square" lIns="0" tIns="0" rIns="0" bIns="0" rtlCol="0" anchor="t">
            <a:normAutofit/>
          </a:bodyPr>
          <a:lstStyle/>
          <a:p>
            <a:pPr algn="l" indent="0" marL="0">
              <a:buNone/>
            </a:pPr>
            <a:r>
              <a:rPr lang="en-US" sz="1300" b="1" dirty="0">
                <a:solidFill>
                  <a:srgbClr val="24476B"/>
                </a:solidFill>
                <a:latin typeface="Aptos" pitchFamily="34" charset="0"/>
                <a:ea typeface="Aptos" pitchFamily="34" charset="-122"/>
                <a:cs typeface="Aptos" pitchFamily="34" charset="-120"/>
              </a:rPr>
              <a:t>Dataset</a:t>
            </a:r>
            <a:endParaRPr lang="en-US" sz="1300" dirty="0"/>
          </a:p>
        </p:txBody>
      </p:sp>
      <p:sp>
        <p:nvSpPr>
          <p:cNvPr id="8" name="Text 6"/>
          <p:cNvSpPr/>
          <p:nvPr/>
        </p:nvSpPr>
        <p:spPr>
          <a:xfrm>
            <a:off x="960120" y="1856232"/>
            <a:ext cx="9829800" cy="621792"/>
          </a:xfrm>
          <a:prstGeom prst="rect">
            <a:avLst/>
          </a:prstGeom>
          <a:noFill/>
          <a:ln/>
        </p:spPr>
        <p:txBody>
          <a:bodyPr wrap="square" lIns="762" tIns="762" rIns="762" bIns="762" rtlCol="0" anchor="t">
            <a:normAutofit/>
          </a:bodyPr>
          <a:lstStyle/>
          <a:p>
            <a:pPr algn="l" indent="0" marL="0">
              <a:buNone/>
            </a:pPr>
            <a:r>
              <a:rPr lang="en-US" sz="1020" dirty="0">
                <a:solidFill>
                  <a:srgbClr val="17212B"/>
                </a:solidFill>
                <a:latin typeface="Aptos" pitchFamily="34" charset="0"/>
                <a:ea typeface="Aptos" pitchFamily="34" charset="-122"/>
                <a:cs typeface="Aptos" pitchFamily="34" charset="-120"/>
              </a:rPr>
              <a:t>Steingroever et al. (2015). Data from 617 Healthy Participants Performing the Iowa Gambling Task: A “Many Labs” Collaboration. Journal of Open Psychology Data.</a:t>
            </a:r>
            <a:endParaRPr lang="en-US" sz="1020" dirty="0"/>
          </a:p>
          <a:p>
            <a:pPr algn="l" indent="0" marL="0">
              <a:buNone/>
            </a:pPr>
            <a:r>
              <a:rPr lang="en-US" sz="1020" dirty="0">
                <a:solidFill>
                  <a:srgbClr val="17212B"/>
                </a:solidFill>
                <a:latin typeface="Aptos" pitchFamily="34" charset="0"/>
                <a:ea typeface="Aptos" pitchFamily="34" charset="-122"/>
                <a:cs typeface="Aptos" pitchFamily="34" charset="-120"/>
              </a:rPr>
              <a:t>https://openpsychologydata.metajnl.com/articles/10.5334/jopd.ak</a:t>
            </a:r>
            <a:endParaRPr lang="en-US" sz="1020" dirty="0"/>
          </a:p>
        </p:txBody>
      </p:sp>
      <p:sp>
        <p:nvSpPr>
          <p:cNvPr id="9" name="Text 7"/>
          <p:cNvSpPr/>
          <p:nvPr/>
        </p:nvSpPr>
        <p:spPr>
          <a:xfrm>
            <a:off x="960120" y="2697480"/>
            <a:ext cx="1645920" cy="256032"/>
          </a:xfrm>
          <a:prstGeom prst="rect">
            <a:avLst/>
          </a:prstGeom>
          <a:noFill/>
          <a:ln/>
        </p:spPr>
        <p:txBody>
          <a:bodyPr wrap="square" lIns="0" tIns="0" rIns="0" bIns="0" rtlCol="0" anchor="t">
            <a:normAutofit/>
          </a:bodyPr>
          <a:lstStyle/>
          <a:p>
            <a:pPr algn="l" indent="0" marL="0">
              <a:buNone/>
            </a:pPr>
            <a:r>
              <a:rPr lang="en-US" sz="1300" b="1" dirty="0">
                <a:solidFill>
                  <a:srgbClr val="24476B"/>
                </a:solidFill>
                <a:latin typeface="Aptos" pitchFamily="34" charset="0"/>
                <a:ea typeface="Aptos" pitchFamily="34" charset="-122"/>
                <a:cs typeface="Aptos" pitchFamily="34" charset="-120"/>
              </a:rPr>
              <a:t>Original task</a:t>
            </a:r>
            <a:endParaRPr lang="en-US" sz="1300" dirty="0"/>
          </a:p>
        </p:txBody>
      </p:sp>
      <p:sp>
        <p:nvSpPr>
          <p:cNvPr id="10" name="Text 8"/>
          <p:cNvSpPr/>
          <p:nvPr/>
        </p:nvSpPr>
        <p:spPr>
          <a:xfrm>
            <a:off x="960120" y="2971800"/>
            <a:ext cx="9829800" cy="329184"/>
          </a:xfrm>
          <a:prstGeom prst="rect">
            <a:avLst/>
          </a:prstGeom>
          <a:noFill/>
          <a:ln/>
        </p:spPr>
        <p:txBody>
          <a:bodyPr wrap="square" lIns="762" tIns="762" rIns="762" bIns="762" rtlCol="0" anchor="t">
            <a:normAutofit/>
          </a:bodyPr>
          <a:lstStyle/>
          <a:p>
            <a:pPr algn="l" indent="0" marL="0">
              <a:buNone/>
            </a:pPr>
            <a:r>
              <a:rPr lang="en-US" sz="1020" dirty="0">
                <a:solidFill>
                  <a:srgbClr val="17212B"/>
                </a:solidFill>
                <a:latin typeface="Aptos" pitchFamily="34" charset="0"/>
                <a:ea typeface="Aptos" pitchFamily="34" charset="-122"/>
                <a:cs typeface="Aptos" pitchFamily="34" charset="-120"/>
              </a:rPr>
              <a:t>Bechara et al. (1994). Insensitivity to future consequences following damage to human prefrontal cortex. Cognition.</a:t>
            </a:r>
            <a:endParaRPr lang="en-US" sz="1020" dirty="0"/>
          </a:p>
        </p:txBody>
      </p:sp>
      <p:sp>
        <p:nvSpPr>
          <p:cNvPr id="11" name="Text 9"/>
          <p:cNvSpPr/>
          <p:nvPr/>
        </p:nvSpPr>
        <p:spPr>
          <a:xfrm>
            <a:off x="960120" y="3502152"/>
            <a:ext cx="2194560" cy="256032"/>
          </a:xfrm>
          <a:prstGeom prst="rect">
            <a:avLst/>
          </a:prstGeom>
          <a:noFill/>
          <a:ln/>
        </p:spPr>
        <p:txBody>
          <a:bodyPr wrap="square" lIns="0" tIns="0" rIns="0" bIns="0" rtlCol="0" anchor="t">
            <a:normAutofit/>
          </a:bodyPr>
          <a:lstStyle/>
          <a:p>
            <a:pPr algn="l" indent="0" marL="0">
              <a:buNone/>
            </a:pPr>
            <a:r>
              <a:rPr lang="en-US" sz="1300" b="1" dirty="0">
                <a:solidFill>
                  <a:srgbClr val="24476B"/>
                </a:solidFill>
                <a:latin typeface="Aptos" pitchFamily="34" charset="0"/>
                <a:ea typeface="Aptos" pitchFamily="34" charset="-122"/>
                <a:cs typeface="Aptos" pitchFamily="34" charset="-120"/>
              </a:rPr>
              <a:t>PVL-Delta model</a:t>
            </a:r>
            <a:endParaRPr lang="en-US" sz="1300" dirty="0"/>
          </a:p>
        </p:txBody>
      </p:sp>
      <p:sp>
        <p:nvSpPr>
          <p:cNvPr id="12" name="Text 10"/>
          <p:cNvSpPr/>
          <p:nvPr/>
        </p:nvSpPr>
        <p:spPr>
          <a:xfrm>
            <a:off x="960120" y="3776472"/>
            <a:ext cx="9829800" cy="658368"/>
          </a:xfrm>
          <a:prstGeom prst="rect">
            <a:avLst/>
          </a:prstGeom>
          <a:noFill/>
          <a:ln/>
        </p:spPr>
        <p:txBody>
          <a:bodyPr wrap="square" lIns="762" tIns="762" rIns="762" bIns="762" rtlCol="0" anchor="t">
            <a:normAutofit/>
          </a:bodyPr>
          <a:lstStyle/>
          <a:p>
            <a:pPr algn="l" indent="0" marL="0">
              <a:buNone/>
            </a:pPr>
            <a:r>
              <a:rPr lang="en-US" sz="1020" dirty="0">
                <a:solidFill>
                  <a:srgbClr val="17212B"/>
                </a:solidFill>
                <a:latin typeface="Aptos" pitchFamily="34" charset="0"/>
                <a:ea typeface="Aptos" pitchFamily="34" charset="-122"/>
                <a:cs typeface="Aptos" pitchFamily="34" charset="-120"/>
              </a:rPr>
              <a:t>Ahn, Busemeyer, &amp; Wagenmakers (2008). Comparison of decision learning models using the generalization criterion method. Cognitive Science.</a:t>
            </a:r>
            <a:endParaRPr lang="en-US" sz="1020" dirty="0"/>
          </a:p>
          <a:p>
            <a:pPr algn="l" indent="0" marL="0">
              <a:buNone/>
            </a:pPr>
            <a:r>
              <a:rPr lang="en-US" sz="1020" dirty="0">
                <a:solidFill>
                  <a:srgbClr val="17212B"/>
                </a:solidFill>
                <a:latin typeface="Aptos" pitchFamily="34" charset="0"/>
                <a:ea typeface="Aptos" pitchFamily="34" charset="-122"/>
                <a:cs typeface="Aptos" pitchFamily="34" charset="-120"/>
              </a:rPr>
              <a:t>hBayesDM documentation: https://ccs-lab.github.io/hBayesDM/reference/igt_pvl_delta.html</a:t>
            </a:r>
            <a:endParaRPr lang="en-US" sz="1020" dirty="0"/>
          </a:p>
        </p:txBody>
      </p:sp>
      <p:sp>
        <p:nvSpPr>
          <p:cNvPr id="13" name="Text 11"/>
          <p:cNvSpPr/>
          <p:nvPr/>
        </p:nvSpPr>
        <p:spPr>
          <a:xfrm>
            <a:off x="960120" y="4681728"/>
            <a:ext cx="2743200" cy="256032"/>
          </a:xfrm>
          <a:prstGeom prst="rect">
            <a:avLst/>
          </a:prstGeom>
          <a:noFill/>
          <a:ln/>
        </p:spPr>
        <p:txBody>
          <a:bodyPr wrap="square" lIns="0" tIns="0" rIns="0" bIns="0" rtlCol="0" anchor="t">
            <a:normAutofit/>
          </a:bodyPr>
          <a:lstStyle/>
          <a:p>
            <a:pPr algn="l" indent="0" marL="0">
              <a:buNone/>
            </a:pPr>
            <a:r>
              <a:rPr lang="en-US" sz="1300" b="1" dirty="0">
                <a:solidFill>
                  <a:srgbClr val="A86B13"/>
                </a:solidFill>
                <a:latin typeface="Aptos" pitchFamily="34" charset="0"/>
                <a:ea typeface="Aptos" pitchFamily="34" charset="-122"/>
                <a:cs typeface="Aptos" pitchFamily="34" charset="-120"/>
              </a:rPr>
              <a:t>Notes for later extensions</a:t>
            </a:r>
            <a:endParaRPr lang="en-US" sz="1300" dirty="0"/>
          </a:p>
        </p:txBody>
      </p:sp>
      <p:sp>
        <p:nvSpPr>
          <p:cNvPr id="14" name="Text 12"/>
          <p:cNvSpPr/>
          <p:nvPr/>
        </p:nvSpPr>
        <p:spPr>
          <a:xfrm>
            <a:off x="960120" y="4956048"/>
            <a:ext cx="9829800" cy="347472"/>
          </a:xfrm>
          <a:prstGeom prst="rect">
            <a:avLst/>
          </a:prstGeom>
          <a:noFill/>
          <a:ln/>
        </p:spPr>
        <p:txBody>
          <a:bodyPr wrap="square" lIns="762" tIns="762" rIns="762" bIns="762" rtlCol="0" anchor="t">
            <a:normAutofit/>
          </a:bodyPr>
          <a:lstStyle/>
          <a:p>
            <a:pPr algn="l" indent="0" marL="0">
              <a:buNone/>
            </a:pPr>
            <a:r>
              <a:rPr lang="en-US" sz="1020" dirty="0">
                <a:solidFill>
                  <a:srgbClr val="17212B"/>
                </a:solidFill>
                <a:latin typeface="Aptos" pitchFamily="34" charset="0"/>
                <a:ea typeface="Aptos" pitchFamily="34" charset="-122"/>
                <a:cs typeface="Aptos" pitchFamily="34" charset="-120"/>
              </a:rPr>
              <a:t>Potential future comparison: VSE / directed exploration models. This will be discussed with the instructor before adding complexity.</a:t>
            </a:r>
            <a:endParaRPr lang="en-US" sz="1020" dirty="0"/>
          </a:p>
        </p:txBody>
      </p:sp>
      <p:sp>
        <p:nvSpPr>
          <p:cNvPr id="15" name="Text 13"/>
          <p:cNvSpPr/>
          <p:nvPr/>
        </p:nvSpPr>
        <p:spPr>
          <a:xfrm>
            <a:off x="713232" y="6355080"/>
            <a:ext cx="10789920" cy="228600"/>
          </a:xfrm>
          <a:prstGeom prst="rect">
            <a:avLst/>
          </a:prstGeom>
          <a:noFill/>
          <a:ln/>
        </p:spPr>
        <p:txBody>
          <a:bodyPr wrap="square" lIns="762" tIns="762" rIns="762" bIns="762" rtlCol="0" anchor="t">
            <a:normAutofit/>
          </a:bodyPr>
          <a:lstStyle/>
          <a:p>
            <a:pPr algn="ctr" indent="0" marL="0">
              <a:buNone/>
            </a:pPr>
            <a:r>
              <a:rPr lang="en-US" sz="1400" b="1" dirty="0">
                <a:solidFill>
                  <a:srgbClr val="24476B"/>
                </a:solidFill>
                <a:latin typeface="Aptos" pitchFamily="34" charset="0"/>
                <a:ea typeface="Aptos" pitchFamily="34" charset="-122"/>
                <a:cs typeface="Aptos" pitchFamily="34" charset="-120"/>
              </a:rPr>
              <a:t>End</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Comparing Q-learning and PVL-Delta models of Iowa Gambling Task behavior</dc:title>
  <dc:subject>IGT model comparison final project proposal</dc:subject>
  <dc:creator>OpenAI</dc:creator>
  <cp:lastModifiedBy>OpenAI</cp:lastModifiedBy>
  <cp:revision>1</cp:revision>
  <dcterms:created xsi:type="dcterms:W3CDTF">2026-07-06T03:23:04Z</dcterms:created>
  <dcterms:modified xsi:type="dcterms:W3CDTF">2026-07-06T03:23:04Z</dcterms:modified>
</cp:coreProperties>
</file>