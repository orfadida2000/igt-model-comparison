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629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9822-F732-3D1E-CE1C-E0870088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DE3F1-A96B-758C-BC1D-2B60F4C07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8987B-D527-9C86-B756-FD1BEB853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present the project as a proposal comparing two cognitive accounts of trial-by-trial IGT choice.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F71AD-0DC4-A655-8512-7FAC8D187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9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present the project as a proposal comparing two cognitive accounts of trial-by-trial IGT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D737-667D-528A-DC91-B8796F26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90DDA-A5D0-EFA6-EC2A-1BD00A0C4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558BE-9F64-FFD9-C23E-A8D930A11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82B43-33B7-4DEF-B1D4-FCC08EA8E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4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1080B-D90E-8181-7DD7-1C6F1249B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C495002-AF1E-5081-BF43-17E4C38C3962}"/>
              </a:ext>
            </a:extLst>
          </p:cNvPr>
          <p:cNvSpPr/>
          <p:nvPr/>
        </p:nvSpPr>
        <p:spPr>
          <a:xfrm>
            <a:off x="11109960" y="603504"/>
            <a:ext cx="320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F5E19F-48C3-BA65-FCB6-001E0AF5BC67}"/>
              </a:ext>
            </a:extLst>
          </p:cNvPr>
          <p:cNvSpPr/>
          <p:nvPr/>
        </p:nvSpPr>
        <p:spPr>
          <a:xfrm>
            <a:off x="2316480" y="1764792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3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Models of Learning</a:t>
            </a:r>
            <a:endParaRPr lang="en-US" sz="34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321CC46A-FA07-F159-B470-DF62700D37A1}"/>
              </a:ext>
            </a:extLst>
          </p:cNvPr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225E5D64-4823-ADD8-CCD6-7D00610BB16C}"/>
              </a:ext>
            </a:extLst>
          </p:cNvPr>
          <p:cNvSpPr/>
          <p:nvPr/>
        </p:nvSpPr>
        <p:spPr>
          <a:xfrm>
            <a:off x="3455372" y="3132811"/>
            <a:ext cx="4766807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3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project proposal</a:t>
            </a:r>
            <a:endParaRPr lang="en-US" sz="34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412133F3-B783-7B1F-8DC4-E03865D43839}"/>
              </a:ext>
            </a:extLst>
          </p:cNvPr>
          <p:cNvSpPr/>
          <p:nvPr/>
        </p:nvSpPr>
        <p:spPr>
          <a:xfrm>
            <a:off x="3858768" y="2447276"/>
            <a:ext cx="39600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3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1071-8712</a:t>
            </a:r>
            <a:endParaRPr lang="en-US" sz="34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9CD8F3D5-6EEF-4216-DB83-0D40096B274A}"/>
              </a:ext>
            </a:extLst>
          </p:cNvPr>
          <p:cNvSpPr/>
          <p:nvPr/>
        </p:nvSpPr>
        <p:spPr>
          <a:xfrm>
            <a:off x="4813322" y="4318749"/>
            <a:ext cx="205090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3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5711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109960" y="603504"/>
            <a:ext cx="320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261872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21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Iowa Gambling Task behavior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24128" y="1956816"/>
            <a:ext cx="9966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an objective-reward Q-learning baseline with a subjective-utility PVL-Delta model</a:t>
            </a:r>
            <a:endParaRPr lang="en-US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B79EC7-1B73-24EC-A2DD-BAB029512E15}"/>
              </a:ext>
            </a:extLst>
          </p:cNvPr>
          <p:cNvGrpSpPr/>
          <p:nvPr/>
        </p:nvGrpSpPr>
        <p:grpSpPr>
          <a:xfrm>
            <a:off x="868680" y="2770632"/>
            <a:ext cx="2114385" cy="475488"/>
            <a:chOff x="1051560" y="2770632"/>
            <a:chExt cx="1920240" cy="292608"/>
          </a:xfrm>
        </p:grpSpPr>
        <p:sp>
          <p:nvSpPr>
            <p:cNvPr id="6" name="Shape 4"/>
            <p:cNvSpPr/>
            <p:nvPr/>
          </p:nvSpPr>
          <p:spPr>
            <a:xfrm>
              <a:off x="1051560" y="2770632"/>
              <a:ext cx="1920240" cy="292608"/>
            </a:xfrm>
            <a:prstGeom prst="roundRect">
              <a:avLst>
                <a:gd name="adj" fmla="val 25000"/>
              </a:avLst>
            </a:prstGeom>
            <a:solidFill>
              <a:srgbClr val="DDECFB"/>
            </a:solidFill>
            <a:ln w="12700">
              <a:solidFill>
                <a:srgbClr val="DDECF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1051560" y="278892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4E7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public behavioral data</a:t>
              </a:r>
              <a:endParaRPr lang="en-US" sz="1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FEB5B3-9CE3-BC67-29C8-FB15B7FBE60A}"/>
              </a:ext>
            </a:extLst>
          </p:cNvPr>
          <p:cNvGrpSpPr/>
          <p:nvPr/>
        </p:nvGrpSpPr>
        <p:grpSpPr>
          <a:xfrm>
            <a:off x="3530379" y="2785491"/>
            <a:ext cx="2114385" cy="475488"/>
            <a:chOff x="3154680" y="2770632"/>
            <a:chExt cx="1920240" cy="292608"/>
          </a:xfrm>
        </p:grpSpPr>
        <p:sp>
          <p:nvSpPr>
            <p:cNvPr id="8" name="Shape 6"/>
            <p:cNvSpPr/>
            <p:nvPr/>
          </p:nvSpPr>
          <p:spPr>
            <a:xfrm>
              <a:off x="3154680" y="2770632"/>
              <a:ext cx="1920240" cy="292608"/>
            </a:xfrm>
            <a:prstGeom prst="roundRect">
              <a:avLst>
                <a:gd name="adj" fmla="val 25000"/>
              </a:avLst>
            </a:prstGeom>
            <a:solidFill>
              <a:srgbClr val="FBEBC5"/>
            </a:solidFill>
            <a:ln w="12700">
              <a:solidFill>
                <a:srgbClr val="FBEBC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3154680" y="278892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B06A0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trial-by-trial choices</a:t>
              </a:r>
              <a:endParaRPr lang="en-US" sz="10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F86407-E788-DC00-581F-D3022BD1FB4D}"/>
              </a:ext>
            </a:extLst>
          </p:cNvPr>
          <p:cNvGrpSpPr/>
          <p:nvPr/>
        </p:nvGrpSpPr>
        <p:grpSpPr>
          <a:xfrm>
            <a:off x="6128468" y="2770632"/>
            <a:ext cx="2114385" cy="475488"/>
            <a:chOff x="5257800" y="2770632"/>
            <a:chExt cx="1920240" cy="292608"/>
          </a:xfrm>
        </p:grpSpPr>
        <p:sp>
          <p:nvSpPr>
            <p:cNvPr id="10" name="Shape 8"/>
            <p:cNvSpPr/>
            <p:nvPr/>
          </p:nvSpPr>
          <p:spPr>
            <a:xfrm>
              <a:off x="5257800" y="2770632"/>
              <a:ext cx="1920240" cy="292608"/>
            </a:xfrm>
            <a:prstGeom prst="roundRect">
              <a:avLst>
                <a:gd name="adj" fmla="val 25000"/>
              </a:avLst>
            </a:prstGeom>
            <a:solidFill>
              <a:srgbClr val="DFF1ED"/>
            </a:solidFill>
            <a:ln w="12700">
              <a:solidFill>
                <a:srgbClr val="DFF1E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5257800" y="278892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2E796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TD-like update rules</a:t>
              </a:r>
              <a:endParaRPr lang="en-US" sz="10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CCE9E4-FF9B-0FE7-8B77-B6C674028870}"/>
              </a:ext>
            </a:extLst>
          </p:cNvPr>
          <p:cNvGrpSpPr/>
          <p:nvPr/>
        </p:nvGrpSpPr>
        <p:grpSpPr>
          <a:xfrm>
            <a:off x="8821309" y="2800350"/>
            <a:ext cx="2114385" cy="475488"/>
            <a:chOff x="7360920" y="2770632"/>
            <a:chExt cx="1920240" cy="292608"/>
          </a:xfrm>
        </p:grpSpPr>
        <p:sp>
          <p:nvSpPr>
            <p:cNvPr id="12" name="Shape 10"/>
            <p:cNvSpPr>
              <a:spLocks/>
            </p:cNvSpPr>
            <p:nvPr/>
          </p:nvSpPr>
          <p:spPr>
            <a:xfrm>
              <a:off x="7360920" y="2770632"/>
              <a:ext cx="1920240" cy="292608"/>
            </a:xfrm>
            <a:prstGeom prst="roundRect">
              <a:avLst>
                <a:gd name="adj" fmla="val 25000"/>
              </a:avLst>
            </a:prstGeom>
            <a:solidFill>
              <a:srgbClr val="F6DAD2"/>
            </a:solidFill>
            <a:ln w="12700">
              <a:solidFill>
                <a:srgbClr val="F6DAD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>
              <a:spLocks/>
            </p:cNvSpPr>
            <p:nvPr/>
          </p:nvSpPr>
          <p:spPr>
            <a:xfrm>
              <a:off x="7360920" y="278892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A848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model comparison</a:t>
              </a:r>
              <a:endParaRPr lang="en-US" sz="10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1005840" y="3730752"/>
            <a:ext cx="10149840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3931920"/>
            <a:ext cx="1463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370832"/>
            <a:ext cx="9509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whether healthy participants’ choices are adequately explained by learning from objective net outcomes, or better accounted for by subjective weighting of gains and losses.</a:t>
            </a:r>
            <a:endParaRPr lang="en-US" sz="16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557E0B57-89E9-5E23-18FC-90E592C340C6}"/>
              </a:ext>
            </a:extLst>
          </p:cNvPr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cognitive question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Decision-making under uncertainty: what kind of learning process generates the choices?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6459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to explain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2212848"/>
            <a:ext cx="42976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repeatedly choose from four decks and receive gains and losses without knowing the payoff structure in advance. The data are sequences of choices and outcomes — not only final scores — so behavior can be modeled trial by trial.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4297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subjective valuation of gains and losses explain those choices better than learning from objective net reward alone?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87452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competing explanations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2267712"/>
            <a:ext cx="685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2221992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Q-learning: deck values change according to the scaled objective monetary outcome.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880360"/>
            <a:ext cx="685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2816352"/>
            <a:ext cx="3977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PVL-Delta: outcomes are first transformed into subjective utility, allowing nonlinear outcome sensitivity and loss aversion.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785616"/>
            <a:ext cx="4389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then learn deck values and use a probabilistic choice rule.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task: Iowa Gambling Task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repeated four-option decision task with hidden long-term payoff structure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6DAD2"/>
          </a:solidFill>
          <a:ln w="10160">
            <a:solidFill>
              <a:srgbClr val="F6DA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1560" y="185623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4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disadvantageous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losses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401568" y="169164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BEBC5"/>
          </a:solidFill>
          <a:ln w="10160">
            <a:solidFill>
              <a:srgbClr val="FBE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38728" y="185623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1948" y="2084832"/>
            <a:ext cx="18755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disadvantageous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infrequent losses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888736" y="169164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DFF1ED"/>
          </a:solidFill>
          <a:ln w="10160">
            <a:solidFill>
              <a:srgbClr val="DF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25896" y="185623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084832"/>
            <a:ext cx="18653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advantageous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losses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375904" y="169164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DDECFB"/>
          </a:solidFill>
          <a:ln w="10160">
            <a:solidFill>
              <a:srgbClr val="DD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13064" y="185623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61513" y="2084832"/>
            <a:ext cx="1880351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advantageous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infrequent losses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14400" y="320040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097280" y="3401568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task is cognitively interesting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749040"/>
            <a:ext cx="4160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immediate reward is not necessarily best long-term. Participants must learn from experience, tolerate uncertainty, and decide how strongly recent outcomes should change future choices.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320040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989320" y="340156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deck dimensions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3730752"/>
            <a:ext cx="4526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value       advantageous vs. disadvantageous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frequency        frequent vs. infrequent losses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dimensions can pull behavior in different directions.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Steingroever et al. (2015): public IGT data from healthy participants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DDECFB"/>
          </a:solidFill>
          <a:ln w="10160">
            <a:solidFill>
              <a:srgbClr val="DD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4984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4984" y="2112264"/>
            <a:ext cx="187399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participants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5384" y="16916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BEBC5"/>
          </a:solidFill>
          <a:ln w="10160">
            <a:solidFill>
              <a:srgbClr val="FBEBC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66744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66743" y="2112264"/>
            <a:ext cx="1919047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studies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72200" y="1709928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DFF1ED"/>
          </a:solidFill>
          <a:ln w="10160">
            <a:solidFill>
              <a:srgbClr val="DF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18504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95–150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18504" y="2112264"/>
            <a:ext cx="189784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trials per participant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23960" y="16916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6DAD2"/>
          </a:solidFill>
          <a:ln w="10160">
            <a:solidFill>
              <a:srgbClr val="F6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70264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4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RData → CSV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70264" y="2112264"/>
            <a:ext cx="18653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pipeline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" y="3127248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1143000" y="333756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one participant contributes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3675888"/>
            <a:ext cx="4297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trial we have: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chosen deck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win and loss amounts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trial number and study identifier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127248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635508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 model comparison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3685032"/>
            <a:ext cx="4160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model can process exactly the same observed trial history. Before every choice it produces probabilities for decks A–D, so the actual human choice can be assigned a likelihood.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data become a modeling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model turns previous choices and outcomes into probabilities for the next deck choice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00784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865376"/>
            <a:ext cx="228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810512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history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" y="2029967"/>
            <a:ext cx="1005840" cy="3024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choices + outcomes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41448" y="19019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81528" y="1700784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865376"/>
            <a:ext cx="228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93008" y="1810512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values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93008" y="2029968"/>
            <a:ext cx="868680" cy="30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A/B/C/D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54296" y="19019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94376" y="1700784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13248" y="1865376"/>
            <a:ext cx="228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05856" y="1810512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rule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05856" y="2029968"/>
            <a:ext cx="868680" cy="30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67144" y="19019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07224" y="1700784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26096" y="1865376"/>
            <a:ext cx="228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18704" y="1810512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18704" y="2029968"/>
            <a:ext cx="868680" cy="30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P(A)…P(D)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79992" y="1901952"/>
            <a:ext cx="320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20072" y="1700784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DFF1ED"/>
          </a:solidFill>
          <a:ln w="10160">
            <a:solidFill>
              <a:srgbClr val="DF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38944" y="1865376"/>
            <a:ext cx="228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31552" y="1810512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choice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1552" y="2029968"/>
            <a:ext cx="868680" cy="3024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60120" y="3703320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3000" y="3913632"/>
            <a:ext cx="1920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3000" y="4261104"/>
            <a:ext cx="3886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asking which model wins the most money. We ask which model assigns higher probability to the choices humans actually made.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897880" y="3703320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8076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Fitting the participant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80760" y="4261104"/>
            <a:ext cx="3886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participant, the model parameters are estimated by maximizing the likelihood of that participant’s entire observed choice sequence.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Connection to TD learning from class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models use prediction-error learning; they differ in what counts as the outcome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0120" y="1719072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delta-learning idea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1984248"/>
            <a:ext cx="5669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Vₜ₊₁ = Vₜ + learning rate × (outcome − Vₜ)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" y="365760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3858768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Q-learning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" y="4187952"/>
            <a:ext cx="4251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error uses the scaled objective net outcome.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+100 and −100 outcome are symmetric except for sign.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2D8"/>
          </a:solidFill>
          <a:ln w="1016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3858768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PVL-Delta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55080" y="4187952"/>
            <a:ext cx="4251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error uses subjective utility of the outcome.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magnitude and losses can receive asymmetric psychological weight.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1: Q-learning — parameters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Participant-level parameters are fitted; scaling and the β search limit are researcher choices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0209" y="1508760"/>
            <a:ext cx="10782631" cy="23317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024128" y="1664208"/>
            <a:ext cx="2834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Fitted separately for each participant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96596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range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5943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48840" y="2267712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2267712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≤ η ≤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2267712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strongly each new outcome changes the chosen deck value. The 0–1 range is the standard delta-rule learning-rate domain.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798064"/>
            <a:ext cx="365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β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48840" y="2798064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 temperature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2798064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≤ β ≤ βₘₐₓ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798064"/>
            <a:ext cx="6035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strongly choice follows learned value differences. β = 0 gives uniform 25% choice; larger β makes choice more deterministic.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24128" y="3246120"/>
            <a:ext cx="5943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are estimated from each participant’s observed choices by likelihood fitting.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" y="406908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DFF1ED"/>
          </a:solidFill>
          <a:ln w="10160">
            <a:solidFill>
              <a:srgbClr val="DFF1ED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1143000" y="4261104"/>
            <a:ext cx="1920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setting: payoff scale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94760" y="4270248"/>
            <a:ext cx="731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model unit = 100 payoff points. This follows established IGT/PVL scaling practice and keeps values numerically manageable.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06908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FFF2D8"/>
          </a:solidFill>
          <a:ln w="1016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6309360" y="4261104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choice: β upper bound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18320" y="4279392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4617720"/>
            <a:ext cx="4206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universal psychological maximum exists because β depends on value scale. Start with βₘₐₓ = 20; if estimates hit the cap, repeat with 50 and 100 and choose a non-constraining bound.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1: Q-learning — equations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PowerPoint text, in the same pipeline order used for PVL-Delta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563624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scaling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1792224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recorded net monetary outcome into model units.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rₜ = (winₜ + lossₜ) / 100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2304288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FFF2D8"/>
          </a:solidFill>
          <a:ln w="1016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2386584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Subjective transformation — none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615184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Q-learning has no utility transformation; the scaled objective outcome enters learning directly.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2487168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rₜ directly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3127248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051560" y="329184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3209544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update — chosen deck only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438144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chosen deck value toward the current outcome; unchosen values are unchanged.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3310128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Qₐ(t+1) = Qₐ(t) + η [rₜ − Qₐ(t)]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950208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1051560" y="411480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4032504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sensitivity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4261104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Q-learning uses the fitted inverse temperature directly.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4133088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sensitivity = β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4773168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1051560" y="493776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4855464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probability (softmax)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5084064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Higher-valued decks receive higher probability, but choice remains stochastic.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4956048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P(aₜ=d) = exp(βQd(t)) / Σⱼ exp(βQj(t))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2: PVL-Delta — parameters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participant-level parameters are fitted; payoff scaling is fixed and θ is derived from 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44752"/>
            <a:ext cx="10424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024128" y="1600200"/>
            <a:ext cx="2834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Fitted separately for each participant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1005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856232"/>
            <a:ext cx="1005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856232"/>
            <a:ext cx="1005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range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856232"/>
            <a:ext cx="5943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φ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48840" y="2084832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08483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&lt; φ &lt;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084832"/>
            <a:ext cx="6126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strongly the newest subjective outcome changes the chosen deck expectancy. Standard delta-rule range.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496312"/>
            <a:ext cx="365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48840" y="2496312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sensitivity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49631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&lt; α ≤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496312"/>
            <a:ext cx="6126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Curvature of subjective utility: α &lt; 1 compresses magnitude; α = 1 is linear; α &gt; 1 is superlinear.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48840" y="2907792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aversion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90779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&lt; λ ≤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907792"/>
            <a:ext cx="6126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weight of losses versus equal-magnitude gains. λ = 1 is symmetric; λ &gt; 1 weights losses more.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319272"/>
            <a:ext cx="365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148840" y="3319272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consistency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31927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≤ c ≤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319272"/>
            <a:ext cx="6126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consistently choices follow learned expectancies. c = 0 implies random choice; larger c is more deterministic.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3685032"/>
            <a:ext cx="9692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α, λ and c limits follow the expanded PVL-Delta parameterization used in later implementations; φ uses the standard learning-rate domain.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0120" y="4407408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DFF1ED"/>
          </a:solidFill>
          <a:ln w="10160">
            <a:solidFill>
              <a:srgbClr val="DFF1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0" name="Text 28"/>
          <p:cNvSpPr/>
          <p:nvPr/>
        </p:nvSpPr>
        <p:spPr>
          <a:xfrm>
            <a:off x="1143000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setting: payoff scale = 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4892040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scale as Q-learning; established IGT/PVL convention and useful numerical scaling.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51960" y="4407408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3" name="Text 31"/>
          <p:cNvSpPr/>
          <p:nvPr/>
        </p:nvSpPr>
        <p:spPr>
          <a:xfrm>
            <a:off x="4434840" y="4590288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quantity: θ = 3ᶜ − 1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34840" y="4892040"/>
            <a:ext cx="3337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θ is the softmax sensitivity derived from fitted c; it is not fitted independently.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58200" y="440740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2D8"/>
          </a:solidFill>
          <a:ln w="1016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6" name="Text 34"/>
          <p:cNvSpPr/>
          <p:nvPr/>
        </p:nvSpPr>
        <p:spPr>
          <a:xfrm>
            <a:off x="8641080" y="4590288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41080" y="4892040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transformation before learning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2: PVL-Delta — equations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pipeline order as Q-learning, with an added subjective-utility transformation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051560" y="1636776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scaling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1773936"/>
            <a:ext cx="42062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monetary outcomes on the same numerical scale used in Q-learning.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62472" y="1600200"/>
            <a:ext cx="4480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xₜ = (winₜ + lossₜ) / 100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2249424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2D8"/>
          </a:solidFill>
          <a:ln w="1016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1051560" y="2404872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2322576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Subjective utility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542032"/>
            <a:ext cx="42062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objective outcomes according to outcome sensitivity and loss aversion.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62472" y="2368296"/>
            <a:ext cx="4480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uₜ = xₜ^α,    xₜ ≥ 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uₜ = −λ(−xₜ)^α,   xₜ &lt; 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017520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051560" y="3172968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3090672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update — chosen deck only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310128"/>
            <a:ext cx="42062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chosen deck expectancy toward subjective utility; unchosen expectancies are unchanged.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62472" y="3136392"/>
            <a:ext cx="4480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Eₐ(t+1) = Eₐ(t) + φ [uₜ − Eₐ(t)]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785616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1051560" y="3941064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858768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sensitivity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4078224"/>
            <a:ext cx="42062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fitted response-consistency parameter c into softmax sensitivity.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62472" y="3904488"/>
            <a:ext cx="4480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θ = 3ᶜ − 1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4553712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1051560" y="4709160"/>
            <a:ext cx="2011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4626864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probability (softmax)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4846320"/>
            <a:ext cx="42062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softmax structure as Q-learning, but using learned expectancies E and sensitivity θ.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62472" y="4672584"/>
            <a:ext cx="4480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P(aₜ=d) = exp(θEd(t)) / Σⱼ exp(θEj(t))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5650992"/>
            <a:ext cx="9875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difference from Q-learning is step 2: objective outcomes are transformed into subjective utility before the delta update. The final choice rule is still softmax.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Q-learning vs PVL-Delta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learning architecture, different assumptions about how outcomes are represented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99616"/>
            <a:ext cx="10424160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7560" y="1719072"/>
            <a:ext cx="3017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1719072"/>
            <a:ext cx="4343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PVL-Delta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objective net outcome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057400"/>
            <a:ext cx="4343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objective net outcome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2432304"/>
            <a:ext cx="10195560" cy="320040"/>
          </a:xfrm>
          <a:prstGeom prst="rect">
            <a:avLst/>
          </a:prstGeom>
          <a:solidFill>
            <a:srgbClr val="F9F6EF"/>
          </a:solidFill>
          <a:ln w="12700">
            <a:solidFill>
              <a:srgbClr val="F9F6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051560" y="248716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transformation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487168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Identity: yₜ = rₜ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2487168"/>
            <a:ext cx="4343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Prospect-style utility u(xₜ)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916936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Losses vs gains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916936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except for 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916936"/>
            <a:ext cx="4343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 allows asymmetric loss weighting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3291840"/>
            <a:ext cx="10195560" cy="320040"/>
          </a:xfrm>
          <a:prstGeom prst="rect">
            <a:avLst/>
          </a:prstGeom>
          <a:solidFill>
            <a:srgbClr val="F9F6EF"/>
          </a:solidFill>
          <a:ln w="12700">
            <a:solidFill>
              <a:srgbClr val="F9F6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1051560" y="334670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Magnitude sensitivity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3346704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3346704"/>
            <a:ext cx="4343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 allows nonlinear sensitivity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776472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rule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377647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update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3776472"/>
            <a:ext cx="4343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update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" y="4151376"/>
            <a:ext cx="10195560" cy="320040"/>
          </a:xfrm>
          <a:prstGeom prst="rect">
            <a:avLst/>
          </a:prstGeom>
          <a:solidFill>
            <a:srgbClr val="F9F6EF"/>
          </a:solidFill>
          <a:ln w="12700">
            <a:solidFill>
              <a:srgbClr val="F9F6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1051560" y="4206240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rule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4206240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with 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4206240"/>
            <a:ext cx="4343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with θ = 3ᶜ − 1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4636008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Fitted parameters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37560" y="4636008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2: η, β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4636008"/>
            <a:ext cx="4343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4: φ, α, λ, c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0120" y="5779008"/>
            <a:ext cx="10241280" cy="438912"/>
          </a:xfrm>
          <a:prstGeom prst="roundRect">
            <a:avLst>
              <a:gd name="adj" fmla="val 16667"/>
            </a:avLst>
          </a:prstGeom>
          <a:solidFill>
            <a:srgbClr val="DFF1ED"/>
          </a:solidFill>
          <a:ln w="10160">
            <a:solidFill>
              <a:srgbClr val="DF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43000" y="5916168"/>
            <a:ext cx="9692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Model-comparison question: does PVL-Delta improve the likelihood enough to justify two additional fitted parameters after AIC/BIC complexity penalties?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softmax and negative log-likelihood?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is the behavioral choice assumption; NLL is the fitting criterion implied by those probabilities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4846320" cy="4389120"/>
          </a:xfrm>
          <a:prstGeom prst="roundRect">
            <a:avLst>
              <a:gd name="adj" fmla="val 1667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4846320" cy="4389120"/>
          </a:xfrm>
          <a:prstGeom prst="roundRect">
            <a:avLst>
              <a:gd name="adj" fmla="val 1667"/>
            </a:avLst>
          </a:prstGeom>
          <a:solidFill>
            <a:srgbClr val="FFF2D8"/>
          </a:solidFill>
          <a:ln w="1016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78308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 assumption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78992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softmax?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2542032"/>
            <a:ext cx="42519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learned value should influence choice without determining it perfectly. A higher-valued deck becomes more likely, not certain.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1417320" y="331927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7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90472" y="3364992"/>
            <a:ext cx="34198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Q_A &gt; Q_B  ⇒  P(A) &gt; P(B)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411480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Psychological interpretation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8992" y="4462272"/>
            <a:ext cx="4251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generally favor options they currently value more, while exploration, lapses, and other unmodeled influences still produce variability.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82512" y="178308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fitting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82512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NLL?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2512" y="2542032"/>
            <a:ext cx="4160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every trial the model assigns a probability to the deck that was actually chosen. A good model assigns high probability to the observed sequence.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675120" y="3319272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7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48272" y="3364992"/>
            <a:ext cx="35570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NLL = −Σₜ log P(actual choiceₜ)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4114800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log?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82512" y="4462272"/>
            <a:ext cx="4160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turns a product of many small probabilities into an additive, numerically stable objective. Lower NLL means the observed choices were less surprising.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models will be fitted and compared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Likelihood-based fitting first; complexity-penalized model comparison second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0120" y="160020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124712" y="1810512"/>
            <a:ext cx="256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72184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each participant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72184" y="2029968"/>
            <a:ext cx="2148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that participant’s parameters by minimizing NLL with bounded multistart optimization.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CBB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4462272" y="1810512"/>
            <a:ext cx="256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9744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fit quality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9744" y="2029968"/>
            <a:ext cx="2148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convergence, compare against uniform 25% choice, and inspect parameter-boundary solutions.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635240" y="160020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DFF1ED"/>
          </a:solidFill>
          <a:ln w="10160">
            <a:solidFill>
              <a:srgbClr val="DFF1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7799832" y="1810512"/>
            <a:ext cx="256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47304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models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47304" y="2029968"/>
            <a:ext cx="2148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AIC and BIC for each participant so extra PVL-Delta flexibility is penalized.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60120" y="34290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640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07792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AIC = 2k + 2NLL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041648"/>
            <a:ext cx="3977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Penalizes model flexibility through the number of fitted parameters k.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34290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2D8"/>
          </a:solidFill>
          <a:ln w="1016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640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0956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BIC = k ln(n) + 2NLL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041648"/>
            <a:ext cx="3977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penalizes complexity, with a penalty that grows with the number of trials 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5257800"/>
            <a:ext cx="8412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AIC/BIC is better. For each participant we will compare the two models on the same observed trial sequence.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0120" y="5559552"/>
            <a:ext cx="9509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detail stays secondary: multiple starts and bounded ranges are used to reduce dependence on one local solution.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Planned analysis and interpretation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completed analysis will be designed to establish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0120" y="164592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14300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validity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43000" y="2148840"/>
            <a:ext cx="4251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both models converge? Do they beat uniform 25% choice? Are estimates repeatedly at parameter bounds?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4251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mistaking an optimization problem for a psychological result.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2D8"/>
          </a:solidFill>
          <a:ln w="10160">
            <a:solidFill>
              <a:srgbClr val="FFF2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635508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checks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2148840"/>
            <a:ext cx="4251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Q-learning β estimates hit the provisional upper bound, repeat with larger β limits and check whether conclusions change.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606040"/>
            <a:ext cx="4251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the β cap is not artificially constraining the baseline.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374904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DFF1ED"/>
          </a:solidFill>
          <a:ln w="10160">
            <a:solidFill>
              <a:srgbClr val="DFF1ED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1143000" y="3950208"/>
            <a:ext cx="2286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Within-participant comparison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" y="4251960"/>
            <a:ext cx="4251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ΔAIC and ΔBIC for every participant and record the preferred model.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709160"/>
            <a:ext cx="4251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whether PVL-Delta gains enough fit to justify its two extra parameters.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EF6FE"/>
          </a:solidFill>
          <a:ln w="10160">
            <a:solidFill>
              <a:srgbClr val="EEF6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6355080" y="3950208"/>
            <a:ext cx="2286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Group-level interpretation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4251960"/>
            <a:ext cx="4251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paired differences across participants and source studies; use confidence intervals and nonparametric tests.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709160"/>
            <a:ext cx="4251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at the distribution and study consistency—not only the mean.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5897880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84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parameter estimates cautiously: they are model-based descriptions of behavior, not direct measurements of unique psychological traits.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86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sources for the task, dataset, model definitions, and parameterization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490472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Steingroever, Wetzels, Horstmann, Neumann, &amp; Wagenmakers (2015). Data from 617 healthy participants performing the Iowa Gambling Task. Journal of Open Psychology Data.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IGT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2057400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Bechara, Damasio, Damasio, &amp; Anderson (1994). Insensitivity to future consequences following damage to human prefrontal cortex. Cognition.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42616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PVL-Delta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2624328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Ahn, Busemeyer, Wagenmakers, &amp; Stout (2008). Comparison of decision learning models using the generalization criterion method. Cognitive Science.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209544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4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PVL ranges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3191256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Haines et al. (2018). The Outcome-Representation Learning model: a novel reinforcement learning model of the Iowa Gambling Task. Cognitive Science.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776472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/ TD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3758184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Sutton &amp; Barto (2018). Reinforcement Learning: An Introduction (2nd ed.). MIT Press.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343400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0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fitting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4325112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Daw (2011). Trial-by-trial data analysis using computational models. Decision Making, Affect, and Learning.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910328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comparison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4892040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62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Akaike (1974). A new look at statistical model identification. IEEE TAC. Schwarz (1978). Estimating the dimension of a model. Annals of Statistics.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37531-806B-C067-B865-A150B4CA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1F0082-C31E-265F-96C6-AC13A6E04920}"/>
              </a:ext>
            </a:extLst>
          </p:cNvPr>
          <p:cNvSpPr/>
          <p:nvPr/>
        </p:nvSpPr>
        <p:spPr>
          <a:xfrm>
            <a:off x="658368" y="301752"/>
            <a:ext cx="4572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 ·  COMPUTATIONAL MODELS OF LEARNING</a:t>
            </a:r>
            <a:endParaRPr lang="en-US" sz="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741941-F087-CB5A-1CF6-487DF4AE3D65}"/>
              </a:ext>
            </a:extLst>
          </p:cNvPr>
          <p:cNvSpPr/>
          <p:nvPr/>
        </p:nvSpPr>
        <p:spPr>
          <a:xfrm>
            <a:off x="11539728" y="420624"/>
            <a:ext cx="2560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9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EE1804A-8774-83C8-F2CF-E6C20A9754FD}"/>
              </a:ext>
            </a:extLst>
          </p:cNvPr>
          <p:cNvSpPr/>
          <p:nvPr/>
        </p:nvSpPr>
        <p:spPr>
          <a:xfrm>
            <a:off x="3047536" y="1741999"/>
            <a:ext cx="4990371" cy="168700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 algn="ctr">
              <a:buNone/>
            </a:pPr>
            <a:endParaRPr lang="en-US" sz="3200" b="1" dirty="0">
              <a:solidFill>
                <a:srgbClr val="2E796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3200" b="1" dirty="0">
              <a:solidFill>
                <a:srgbClr val="2E796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3200" b="1" dirty="0">
              <a:solidFill>
                <a:srgbClr val="2E796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3200" b="1" dirty="0">
              <a:solidFill>
                <a:srgbClr val="2E796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rgbClr val="2E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60C87D9-71D4-298D-AD3F-CF1D38141C2D}"/>
              </a:ext>
            </a:extLst>
          </p:cNvPr>
          <p:cNvSpPr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8B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Fadida · Computational Models of Learning</a:t>
            </a:r>
            <a:endParaRPr lang="en-US" sz="620" dirty="0"/>
          </a:p>
        </p:txBody>
      </p:sp>
    </p:spTree>
    <p:extLst>
      <p:ext uri="{BB962C8B-B14F-4D97-AF65-F5344CB8AC3E}">
        <p14:creationId xmlns:p14="http://schemas.microsoft.com/office/powerpoint/2010/main" val="19706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2E3440"/>
      </a:dk1>
      <a:lt1>
        <a:sysClr val="window" lastClr="D8DEE9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2E3440"/>
      </a:dk1>
      <a:lt1>
        <a:sysClr val="window" lastClr="D8DEE9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2445</Words>
  <Application>Microsoft Office PowerPoint</Application>
  <PresentationFormat>Widescreen</PresentationFormat>
  <Paragraphs>359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Iowa Gambling Task behavior</dc:title>
  <dc:subject>Computational Models of Learning final project proposal</dc:subject>
  <dc:creator>OpenAI</dc:creator>
  <cp:lastModifiedBy>Or Fadida</cp:lastModifiedBy>
  <cp:revision>5</cp:revision>
  <dcterms:created xsi:type="dcterms:W3CDTF">2026-09-04T14:24:16Z</dcterms:created>
  <dcterms:modified xsi:type="dcterms:W3CDTF">2026-09-04T15:09:49Z</dcterms:modified>
</cp:coreProperties>
</file>